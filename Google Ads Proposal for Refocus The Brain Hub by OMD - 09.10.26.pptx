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2000"/>
  <p:notesSz cx="6858000" cy="12192000"/>
  <p:embeddedFontLst>
    <p:embeddedFont>
      <p:font typeface="Poppi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iBtt274ha+BmflE7YLH4kStjNt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4FECF3-62DE-486B-8169-76E5466ED5D8}">
  <a:tblStyle styleId="{204FECF3-62DE-486B-8169-76E5466ED5D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20" Type="http://schemas.openxmlformats.org/officeDocument/2006/relationships/slide" Target="slides/slide15.xml"/><Relationship Id="rId42" Type="http://schemas.openxmlformats.org/officeDocument/2006/relationships/font" Target="fonts/Poppins-boldItalic.fntdata"/><Relationship Id="rId41" Type="http://schemas.openxmlformats.org/officeDocument/2006/relationships/font" Target="fonts/Poppins-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oppins-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Enquiries</c:v>
                </c:pt>
              </c:strCache>
            </c:strRef>
          </c:tx>
          <c:spPr>
            <a:solidFill>
              <a:srgbClr val="1A2620"/>
            </a:solidFill>
            <a:effectLst/>
          </c:spPr>
          <c:invertIfNegative val="0"/>
          <c:dLbls>
            <c:numFmt formatCode="#,##0" sourceLinked="0"/>
            <c:txPr>
              <a:bodyPr/>
              <a:lstStyle/>
              <a:p>
                <a:pPr>
                  <a:defRPr b="1" i="0" strike="noStrike" sz="800" u="none">
                    <a:solidFill>
                      <a:srgbClr val="2B2E2C"/>
                    </a:solidFill>
                    <a:latin typeface="+mj-lt"/>
                  </a:defRPr>
                </a:pPr>
              </a:p>
            </c:txPr>
            <c:showLegendKey val="0"/>
            <c:showVal val="1"/>
            <c:showCatName val="0"/>
            <c:showSerName val="0"/>
            <c:showPercent val="0"/>
            <c:showBubbleSize val="0"/>
            <c:showLeaderLines val="0"/>
          </c:dLbls>
          <c:cat>
            <c:multiLvlStrRef>
              <c:f>Sheet1!$A$2:$A$4</c:f>
              <c:multiLvlStrCache>
                <c:ptCount val="3"/>
                <c:lvl>
                  <c:pt idx="0">
                    <c:v>Mo 1</c:v>
                  </c:pt>
                  <c:pt idx="1">
                    <c:v>Mo 2</c:v>
                  </c:pt>
                  <c:pt idx="2">
                    <c:v>Mo 3</c:v>
                  </c:pt>
                </c:lvl>
              </c:multiLvlStrCache>
            </c:multiLvlStrRef>
          </c:cat>
          <c:val>
            <c:numRef>
              <c:f>Sheet1!$B$2:$B$4</c:f>
              <c:numCache>
                <c:formatCode>General</c:formatCode>
                <c:ptCount val="3"/>
                <c:pt idx="0">
                  <c:v>14</c:v>
                </c:pt>
                <c:pt idx="1">
                  <c:v>20</c:v>
                </c:pt>
                <c:pt idx="2">
                  <c:v>24</c:v>
                </c:pt>
              </c:numCache>
            </c:numRef>
          </c:val>
        </c:ser>
        <c:dLbls>
          <c:numFmt formatCode="#,##0" sourceLinked="0"/>
          <c:txPr>
            <a:bodyPr/>
            <a:lstStyle/>
            <a:p>
              <a:pPr>
                <a:defRPr b="1" i="0" strike="noStrike" sz="800" u="none">
                  <a:solidFill>
                    <a:srgbClr val="2B2E2C"/>
                  </a:solidFill>
                  <a:latin typeface="+mj-lt"/>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6E7873"/>
                </a:solidFill>
                <a:latin typeface="+mn-lt"/>
              </a:defRPr>
            </a:pPr>
            <a:endParaRPr lang="en-US"/>
          </a:p>
        </c:txPr>
        <c:crossAx val="2094734552"/>
        <c:crosses val="autoZero"/>
        <c:auto val="1"/>
        <c:lblAlgn val="ctr"/>
        <c:noMultiLvlLbl val="1"/>
      </c:catAx>
      <c:valAx>
        <c:axId val="2094734552"/>
        <c:scaling>
          <c:orientation val="minMax"/>
          <c:max val="32.4000000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Enquiries</c:v>
                </c:pt>
              </c:strCache>
            </c:strRef>
          </c:tx>
          <c:spPr>
            <a:solidFill>
              <a:srgbClr val="3BE29F"/>
            </a:solidFill>
            <a:effectLst/>
          </c:spPr>
          <c:invertIfNegative val="0"/>
          <c:dLbls>
            <c:numFmt formatCode="#,##0" sourceLinked="0"/>
            <c:txPr>
              <a:bodyPr/>
              <a:lstStyle/>
              <a:p>
                <a:pPr>
                  <a:defRPr b="1" i="0" strike="noStrike" sz="800" u="none">
                    <a:solidFill>
                      <a:srgbClr val="2B2E2C"/>
                    </a:solidFill>
                    <a:latin typeface="+mj-lt"/>
                  </a:defRPr>
                </a:pPr>
              </a:p>
            </c:txPr>
            <c:showLegendKey val="0"/>
            <c:showVal val="1"/>
            <c:showCatName val="0"/>
            <c:showSerName val="0"/>
            <c:showPercent val="0"/>
            <c:showBubbleSize val="0"/>
            <c:showLeaderLines val="0"/>
          </c:dLbls>
          <c:cat>
            <c:multiLvlStrRef>
              <c:f>Sheet1!$A$2:$A$4</c:f>
              <c:multiLvlStrCache>
                <c:ptCount val="3"/>
                <c:lvl>
                  <c:pt idx="0">
                    <c:v>Mo 1</c:v>
                  </c:pt>
                  <c:pt idx="1">
                    <c:v>Mo 2</c:v>
                  </c:pt>
                  <c:pt idx="2">
                    <c:v>Mo 3</c:v>
                  </c:pt>
                </c:lvl>
              </c:multiLvlStrCache>
            </c:multiLvlStrRef>
          </c:cat>
          <c:val>
            <c:numRef>
              <c:f>Sheet1!$B$2:$B$4</c:f>
              <c:numCache>
                <c:formatCode>General</c:formatCode>
                <c:ptCount val="3"/>
                <c:pt idx="0">
                  <c:v>5</c:v>
                </c:pt>
                <c:pt idx="1">
                  <c:v>7</c:v>
                </c:pt>
                <c:pt idx="2">
                  <c:v>9</c:v>
                </c:pt>
              </c:numCache>
            </c:numRef>
          </c:val>
        </c:ser>
        <c:dLbls>
          <c:numFmt formatCode="#,##0" sourceLinked="0"/>
          <c:txPr>
            <a:bodyPr/>
            <a:lstStyle/>
            <a:p>
              <a:pPr>
                <a:defRPr b="1" i="0" strike="noStrike" sz="800" u="none">
                  <a:solidFill>
                    <a:srgbClr val="2B2E2C"/>
                  </a:solidFill>
                  <a:latin typeface="+mj-lt"/>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6E7873"/>
                </a:solidFill>
                <a:latin typeface="+mn-lt"/>
              </a:defRPr>
            </a:pPr>
            <a:endParaRPr lang="en-US"/>
          </a:p>
        </c:txPr>
        <c:crossAx val="2094734552"/>
        <c:crosses val="autoZero"/>
        <c:auto val="1"/>
        <c:lblAlgn val="ctr"/>
        <c:noMultiLvlLbl val="1"/>
      </c:catAx>
      <c:valAx>
        <c:axId val="2094734552"/>
        <c:scaling>
          <c:orientation val="minMax"/>
          <c:max val="12.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7" name="Google Shape;87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7" name="Google Shape;91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1" name="Google Shape;95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 name="Google Shape;98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8" name="Google Shape;106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9" name="Google Shape;108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0" name="Google Shape;109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A2620"/>
        </a:solidFill>
      </p:bgPr>
    </p:bg>
    <p:spTree>
      <p:nvGrpSpPr>
        <p:cNvPr id="11" name="Shape 11"/>
        <p:cNvGrpSpPr/>
        <p:nvPr/>
      </p:nvGrpSpPr>
      <p:grpSpPr>
        <a:xfrm>
          <a:off x="0" y="0"/>
          <a:ext cx="0" cy="0"/>
          <a:chOff x="0" y="0"/>
          <a:chExt cx="0" cy="0"/>
        </a:xfrm>
      </p:grpSpPr>
      <p:pic>
        <p:nvPicPr>
          <p:cNvPr descr="/home/claude/refocus_deck/assets/logo_white.png" id="12" name="Google Shape;12;p35"/>
          <p:cNvPicPr preferRelativeResize="0"/>
          <p:nvPr/>
        </p:nvPicPr>
        <p:blipFill rotWithShape="1">
          <a:blip r:embed="rId2">
            <a:alphaModFix/>
          </a:blip>
          <a:srcRect b="0" l="0" r="0" t="0"/>
          <a:stretch/>
        </p:blipFill>
        <p:spPr>
          <a:xfrm>
            <a:off x="566928" y="603504"/>
            <a:ext cx="1755648" cy="50292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3" name="Shape 13"/>
        <p:cNvGrpSpPr/>
        <p:nvPr/>
      </p:nvGrpSpPr>
      <p:grpSpPr>
        <a:xfrm>
          <a:off x="0" y="0"/>
          <a:ext cx="0" cy="0"/>
          <a:chOff x="0" y="0"/>
          <a:chExt cx="0" cy="0"/>
        </a:xfrm>
      </p:grpSpPr>
      <p:pic>
        <p:nvPicPr>
          <p:cNvPr descr="/home/claude/refocus_deck/assets/logo_dark.png" id="14" name="Google Shape;14;p36"/>
          <p:cNvPicPr preferRelativeResize="0"/>
          <p:nvPr/>
        </p:nvPicPr>
        <p:blipFill rotWithShape="1">
          <a:blip r:embed="rId2">
            <a:alphaModFix/>
          </a:blip>
          <a:srcRect b="0" l="0" r="0" t="0"/>
          <a:stretch/>
        </p:blipFill>
        <p:spPr>
          <a:xfrm>
            <a:off x="502920" y="384048"/>
            <a:ext cx="1335024" cy="384048"/>
          </a:xfrm>
          <a:prstGeom prst="rect">
            <a:avLst/>
          </a:prstGeom>
          <a:noFill/>
          <a:ln>
            <a:noFill/>
          </a:ln>
        </p:spPr>
      </p:pic>
      <p:sp>
        <p:nvSpPr>
          <p:cNvPr id="15" name="Google Shape;15;p36"/>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Refocus The Brain Hub    ·    Google Ads Proposal</a:t>
            </a:r>
            <a:endParaRPr b="0" i="0" sz="900" u="none" cap="none" strike="noStrike">
              <a:solidFill>
                <a:schemeClr val="dk1"/>
              </a:solidFill>
              <a:latin typeface="Calibri"/>
              <a:ea typeface="Calibri"/>
              <a:cs typeface="Calibri"/>
              <a:sym typeface="Calibri"/>
            </a:endParaRPr>
          </a:p>
        </p:txBody>
      </p:sp>
      <p:sp>
        <p:nvSpPr>
          <p:cNvPr id="16" name="Google Shape;16;p36"/>
          <p:cNvSpPr txBox="1"/>
          <p:nvPr>
            <p:ph idx="12"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1" i="0" sz="1100" u="none" cap="none" strike="noStrike">
                <a:solidFill>
                  <a:srgbClr val="16A879"/>
                </a:solidFill>
                <a:latin typeface="Poppins"/>
                <a:ea typeface="Poppins"/>
                <a:cs typeface="Poppins"/>
                <a:sym typeface="Poppins"/>
              </a:defRPr>
            </a:lvl1pPr>
            <a:lvl2pPr indent="0" lvl="1" marL="0" marR="0" algn="r">
              <a:spcBef>
                <a:spcPts val="0"/>
              </a:spcBef>
              <a:buNone/>
              <a:defRPr b="1" i="0" sz="1100" u="none" cap="none" strike="noStrike">
                <a:solidFill>
                  <a:srgbClr val="16A879"/>
                </a:solidFill>
                <a:latin typeface="Poppins"/>
                <a:ea typeface="Poppins"/>
                <a:cs typeface="Poppins"/>
                <a:sym typeface="Poppins"/>
              </a:defRPr>
            </a:lvl2pPr>
            <a:lvl3pPr indent="0" lvl="2" marL="0" marR="0" algn="r">
              <a:spcBef>
                <a:spcPts val="0"/>
              </a:spcBef>
              <a:buNone/>
              <a:defRPr b="1" i="0" sz="1100" u="none" cap="none" strike="noStrike">
                <a:solidFill>
                  <a:srgbClr val="16A879"/>
                </a:solidFill>
                <a:latin typeface="Poppins"/>
                <a:ea typeface="Poppins"/>
                <a:cs typeface="Poppins"/>
                <a:sym typeface="Poppins"/>
              </a:defRPr>
            </a:lvl3pPr>
            <a:lvl4pPr indent="0" lvl="3" marL="0" marR="0" algn="r">
              <a:spcBef>
                <a:spcPts val="0"/>
              </a:spcBef>
              <a:buNone/>
              <a:defRPr b="1" i="0" sz="1100" u="none" cap="none" strike="noStrike">
                <a:solidFill>
                  <a:srgbClr val="16A879"/>
                </a:solidFill>
                <a:latin typeface="Poppins"/>
                <a:ea typeface="Poppins"/>
                <a:cs typeface="Poppins"/>
                <a:sym typeface="Poppins"/>
              </a:defRPr>
            </a:lvl4pPr>
            <a:lvl5pPr indent="0" lvl="4" marL="0" marR="0" algn="r">
              <a:spcBef>
                <a:spcPts val="0"/>
              </a:spcBef>
              <a:buNone/>
              <a:defRPr b="1" i="0" sz="1100" u="none" cap="none" strike="noStrike">
                <a:solidFill>
                  <a:srgbClr val="16A879"/>
                </a:solidFill>
                <a:latin typeface="Poppins"/>
                <a:ea typeface="Poppins"/>
                <a:cs typeface="Poppins"/>
                <a:sym typeface="Poppins"/>
              </a:defRPr>
            </a:lvl5pPr>
            <a:lvl6pPr indent="0" lvl="5" marL="0" marR="0" algn="r">
              <a:spcBef>
                <a:spcPts val="0"/>
              </a:spcBef>
              <a:buNone/>
              <a:defRPr b="1" i="0" sz="1100" u="none" cap="none" strike="noStrike">
                <a:solidFill>
                  <a:srgbClr val="16A879"/>
                </a:solidFill>
                <a:latin typeface="Poppins"/>
                <a:ea typeface="Poppins"/>
                <a:cs typeface="Poppins"/>
                <a:sym typeface="Poppins"/>
              </a:defRPr>
            </a:lvl6pPr>
            <a:lvl7pPr indent="0" lvl="6" marL="0" marR="0" algn="r">
              <a:spcBef>
                <a:spcPts val="0"/>
              </a:spcBef>
              <a:buNone/>
              <a:defRPr b="1" i="0" sz="1100" u="none" cap="none" strike="noStrike">
                <a:solidFill>
                  <a:srgbClr val="16A879"/>
                </a:solidFill>
                <a:latin typeface="Poppins"/>
                <a:ea typeface="Poppins"/>
                <a:cs typeface="Poppins"/>
                <a:sym typeface="Poppins"/>
              </a:defRPr>
            </a:lvl7pPr>
            <a:lvl8pPr indent="0" lvl="7" marL="0" marR="0" algn="r">
              <a:spcBef>
                <a:spcPts val="0"/>
              </a:spcBef>
              <a:buNone/>
              <a:defRPr b="1" i="0" sz="1100" u="none" cap="none" strike="noStrike">
                <a:solidFill>
                  <a:srgbClr val="16A879"/>
                </a:solidFill>
                <a:latin typeface="Poppins"/>
                <a:ea typeface="Poppins"/>
                <a:cs typeface="Poppins"/>
                <a:sym typeface="Poppins"/>
              </a:defRPr>
            </a:lvl8pPr>
            <a:lvl9pPr indent="0" lvl="8" marL="0" marR="0" algn="r">
              <a:spcBef>
                <a:spcPts val="0"/>
              </a:spcBef>
              <a:buNone/>
              <a:defRPr b="1" i="0" sz="1100" u="none" cap="none" strike="noStrike">
                <a:solidFill>
                  <a:srgbClr val="16A879"/>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US"/>
              <a:t>‹#›</a:t>
            </a:fld>
            <a:endParaRPr b="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34"/>
          <p:cNvSpPr txBox="1"/>
          <p:nvPr>
            <p:ph idx="12"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100" u="none" cap="none" strike="noStrike">
                <a:solidFill>
                  <a:srgbClr val="16A879"/>
                </a:solidFill>
                <a:latin typeface="Poppins"/>
                <a:ea typeface="Poppins"/>
                <a:cs typeface="Poppins"/>
                <a:sym typeface="Poppins"/>
              </a:defRPr>
            </a:lvl1pPr>
            <a:lvl2pPr indent="0" lvl="1" marL="0" marR="0" rtl="0" algn="r">
              <a:spcBef>
                <a:spcPts val="0"/>
              </a:spcBef>
              <a:buNone/>
              <a:defRPr b="1" i="0" sz="1100" u="none" cap="none" strike="noStrike">
                <a:solidFill>
                  <a:srgbClr val="16A879"/>
                </a:solidFill>
                <a:latin typeface="Poppins"/>
                <a:ea typeface="Poppins"/>
                <a:cs typeface="Poppins"/>
                <a:sym typeface="Poppins"/>
              </a:defRPr>
            </a:lvl2pPr>
            <a:lvl3pPr indent="0" lvl="2" marL="0" marR="0" rtl="0" algn="r">
              <a:spcBef>
                <a:spcPts val="0"/>
              </a:spcBef>
              <a:buNone/>
              <a:defRPr b="1" i="0" sz="1100" u="none" cap="none" strike="noStrike">
                <a:solidFill>
                  <a:srgbClr val="16A879"/>
                </a:solidFill>
                <a:latin typeface="Poppins"/>
                <a:ea typeface="Poppins"/>
                <a:cs typeface="Poppins"/>
                <a:sym typeface="Poppins"/>
              </a:defRPr>
            </a:lvl3pPr>
            <a:lvl4pPr indent="0" lvl="3" marL="0" marR="0" rtl="0" algn="r">
              <a:spcBef>
                <a:spcPts val="0"/>
              </a:spcBef>
              <a:buNone/>
              <a:defRPr b="1" i="0" sz="1100" u="none" cap="none" strike="noStrike">
                <a:solidFill>
                  <a:srgbClr val="16A879"/>
                </a:solidFill>
                <a:latin typeface="Poppins"/>
                <a:ea typeface="Poppins"/>
                <a:cs typeface="Poppins"/>
                <a:sym typeface="Poppins"/>
              </a:defRPr>
            </a:lvl4pPr>
            <a:lvl5pPr indent="0" lvl="4" marL="0" marR="0" rtl="0" algn="r">
              <a:spcBef>
                <a:spcPts val="0"/>
              </a:spcBef>
              <a:buNone/>
              <a:defRPr b="1" i="0" sz="1100" u="none" cap="none" strike="noStrike">
                <a:solidFill>
                  <a:srgbClr val="16A879"/>
                </a:solidFill>
                <a:latin typeface="Poppins"/>
                <a:ea typeface="Poppins"/>
                <a:cs typeface="Poppins"/>
                <a:sym typeface="Poppins"/>
              </a:defRPr>
            </a:lvl5pPr>
            <a:lvl6pPr indent="0" lvl="5" marL="0" marR="0" rtl="0" algn="r">
              <a:spcBef>
                <a:spcPts val="0"/>
              </a:spcBef>
              <a:buNone/>
              <a:defRPr b="1" i="0" sz="1100" u="none" cap="none" strike="noStrike">
                <a:solidFill>
                  <a:srgbClr val="16A879"/>
                </a:solidFill>
                <a:latin typeface="Poppins"/>
                <a:ea typeface="Poppins"/>
                <a:cs typeface="Poppins"/>
                <a:sym typeface="Poppins"/>
              </a:defRPr>
            </a:lvl6pPr>
            <a:lvl7pPr indent="0" lvl="6" marL="0" marR="0" rtl="0" algn="r">
              <a:spcBef>
                <a:spcPts val="0"/>
              </a:spcBef>
              <a:buNone/>
              <a:defRPr b="1" i="0" sz="1100" u="none" cap="none" strike="noStrike">
                <a:solidFill>
                  <a:srgbClr val="16A879"/>
                </a:solidFill>
                <a:latin typeface="Poppins"/>
                <a:ea typeface="Poppins"/>
                <a:cs typeface="Poppins"/>
                <a:sym typeface="Poppins"/>
              </a:defRPr>
            </a:lvl7pPr>
            <a:lvl8pPr indent="0" lvl="7" marL="0" marR="0" rtl="0" algn="r">
              <a:spcBef>
                <a:spcPts val="0"/>
              </a:spcBef>
              <a:buNone/>
              <a:defRPr b="1" i="0" sz="1100" u="none" cap="none" strike="noStrike">
                <a:solidFill>
                  <a:srgbClr val="16A879"/>
                </a:solidFill>
                <a:latin typeface="Poppins"/>
                <a:ea typeface="Poppins"/>
                <a:cs typeface="Poppins"/>
                <a:sym typeface="Poppins"/>
              </a:defRPr>
            </a:lvl8pPr>
            <a:lvl9pPr indent="0" lvl="8" marL="0" marR="0" rtl="0" algn="r">
              <a:spcBef>
                <a:spcPts val="0"/>
              </a:spcBef>
              <a:buNone/>
              <a:defRPr b="1" i="0" sz="1100" u="none" cap="none" strike="noStrike">
                <a:solidFill>
                  <a:srgbClr val="16A879"/>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US"/>
              <a:t>‹#›</a:t>
            </a:fld>
            <a:endParaRPr b="0"/>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6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6.png"/><Relationship Id="rId4" Type="http://schemas.openxmlformats.org/officeDocument/2006/relationships/image" Target="../media/image11.png"/><Relationship Id="rId10" Type="http://schemas.openxmlformats.org/officeDocument/2006/relationships/image" Target="../media/image48.png"/><Relationship Id="rId9" Type="http://schemas.openxmlformats.org/officeDocument/2006/relationships/image" Target="../media/image37.png"/><Relationship Id="rId5" Type="http://schemas.openxmlformats.org/officeDocument/2006/relationships/image" Target="../media/image6.png"/><Relationship Id="rId6" Type="http://schemas.openxmlformats.org/officeDocument/2006/relationships/image" Target="../media/image49.png"/><Relationship Id="rId7" Type="http://schemas.openxmlformats.org/officeDocument/2006/relationships/image" Target="../media/image17.png"/><Relationship Id="rId8"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3.jpg"/><Relationship Id="rId4" Type="http://schemas.openxmlformats.org/officeDocument/2006/relationships/image" Target="../media/image51.jpg"/><Relationship Id="rId5" Type="http://schemas.openxmlformats.org/officeDocument/2006/relationships/image" Target="../media/image54.jpg"/><Relationship Id="rId6" Type="http://schemas.openxmlformats.org/officeDocument/2006/relationships/image" Target="../media/image36.png"/><Relationship Id="rId7"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5.jpg"/><Relationship Id="rId4" Type="http://schemas.openxmlformats.org/officeDocument/2006/relationships/image" Target="../media/image81.jpg"/><Relationship Id="rId5" Type="http://schemas.openxmlformats.org/officeDocument/2006/relationships/image" Target="../media/image44.jpg"/><Relationship Id="rId6" Type="http://schemas.openxmlformats.org/officeDocument/2006/relationships/image" Target="../media/image36.png"/><Relationship Id="rId7"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image" Target="../media/image67.jpg"/><Relationship Id="rId6" Type="http://schemas.openxmlformats.org/officeDocument/2006/relationships/image" Target="../media/image36.png"/><Relationship Id="rId7"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4.jpg"/><Relationship Id="rId4" Type="http://schemas.openxmlformats.org/officeDocument/2006/relationships/image" Target="../media/image57.jpg"/><Relationship Id="rId5" Type="http://schemas.openxmlformats.org/officeDocument/2006/relationships/image" Target="../media/image77.jpg"/><Relationship Id="rId6" Type="http://schemas.openxmlformats.org/officeDocument/2006/relationships/image" Target="../media/image36.png"/><Relationship Id="rId7"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55.png"/><Relationship Id="rId5" Type="http://schemas.openxmlformats.org/officeDocument/2006/relationships/image" Target="../media/image78.png"/><Relationship Id="rId6"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2.png"/><Relationship Id="rId4" Type="http://schemas.openxmlformats.org/officeDocument/2006/relationships/image" Target="../media/image56.png"/><Relationship Id="rId5" Type="http://schemas.openxmlformats.org/officeDocument/2006/relationships/image" Target="../media/image79.png"/><Relationship Id="rId6"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2.png"/><Relationship Id="rId4" Type="http://schemas.openxmlformats.org/officeDocument/2006/relationships/image" Target="../media/image62.png"/><Relationship Id="rId5" Type="http://schemas.openxmlformats.org/officeDocument/2006/relationships/image" Target="../media/image69.png"/><Relationship Id="rId6" Type="http://schemas.openxmlformats.org/officeDocument/2006/relationships/image" Target="../media/image2.png"/><Relationship Id="rId7" Type="http://schemas.openxmlformats.org/officeDocument/2006/relationships/image" Target="../media/image68.png"/><Relationship Id="rId8" Type="http://schemas.openxmlformats.org/officeDocument/2006/relationships/image" Target="../media/image7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63.png"/><Relationship Id="rId6" Type="http://schemas.openxmlformats.org/officeDocument/2006/relationships/image" Target="../media/image76.png"/><Relationship Id="rId7" Type="http://schemas.openxmlformats.org/officeDocument/2006/relationships/image" Target="../media/image78.png"/><Relationship Id="rId8"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chart" Target="../charts/chart1.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3.png"/><Relationship Id="rId4" Type="http://schemas.openxmlformats.org/officeDocument/2006/relationships/image" Target="../media/image85.png"/><Relationship Id="rId5"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p:nvPr/>
        </p:nvSpPr>
        <p:spPr>
          <a:xfrm>
            <a:off x="8869680" y="-1463040"/>
            <a:ext cx="5669280" cy="5669280"/>
          </a:xfrm>
          <a:prstGeom prst="ellipse">
            <a:avLst/>
          </a:prstGeom>
          <a:solidFill>
            <a:srgbClr val="16A879">
              <a:alpha val="21961"/>
            </a:srgbClr>
          </a:solidFill>
          <a:ln cap="flat" cmpd="sng" w="12700">
            <a:solidFill>
              <a:srgbClr val="16A8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10058400" y="1554480"/>
            <a:ext cx="4572000" cy="4572000"/>
          </a:xfrm>
          <a:prstGeom prst="ellipse">
            <a:avLst/>
          </a:prstGeom>
          <a:solidFill>
            <a:srgbClr val="16A879">
              <a:alpha val="21961"/>
            </a:srgbClr>
          </a:solidFill>
          <a:ln cap="flat" cmpd="sng" w="12700">
            <a:solidFill>
              <a:srgbClr val="16A8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9509760" y="3566160"/>
            <a:ext cx="4206240" cy="4206240"/>
          </a:xfrm>
          <a:prstGeom prst="ellipse">
            <a:avLst/>
          </a:prstGeom>
          <a:solidFill>
            <a:srgbClr val="3BE29F">
              <a:alpha val="20000"/>
            </a:srgbClr>
          </a:solidFill>
          <a:ln cap="flat" cmpd="sng" w="12700">
            <a:solidFill>
              <a:srgbClr val="3BE29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txBox="1"/>
          <p:nvPr/>
        </p:nvSpPr>
        <p:spPr>
          <a:xfrm>
            <a:off x="566928" y="182880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E29F"/>
              </a:buClr>
              <a:buSzPts val="1450"/>
              <a:buFont typeface="Poppins"/>
              <a:buNone/>
            </a:pPr>
            <a:r>
              <a:rPr b="1" i="0" lang="en-US" sz="1450" u="none" cap="none" strike="noStrike">
                <a:solidFill>
                  <a:srgbClr val="3BE29F"/>
                </a:solidFill>
                <a:latin typeface="Poppins"/>
                <a:ea typeface="Poppins"/>
                <a:cs typeface="Poppins"/>
                <a:sym typeface="Poppins"/>
              </a:rPr>
              <a:t>ADULT ADHD  ·  CHILD &amp; TEEN ADHD</a:t>
            </a:r>
            <a:endParaRPr b="0" i="0" sz="1450" u="none" cap="none" strike="noStrike">
              <a:solidFill>
                <a:schemeClr val="dk1"/>
              </a:solidFill>
              <a:latin typeface="Calibri"/>
              <a:ea typeface="Calibri"/>
              <a:cs typeface="Calibri"/>
              <a:sym typeface="Calibri"/>
            </a:endParaRPr>
          </a:p>
        </p:txBody>
      </p:sp>
      <p:sp>
        <p:nvSpPr>
          <p:cNvPr id="27" name="Google Shape;27;p1"/>
          <p:cNvSpPr txBox="1"/>
          <p:nvPr/>
        </p:nvSpPr>
        <p:spPr>
          <a:xfrm>
            <a:off x="548640" y="2240280"/>
            <a:ext cx="8778240" cy="173736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FFFFFF"/>
              </a:buClr>
              <a:buSzPts val="5500"/>
              <a:buFont typeface="Poppins"/>
              <a:buNone/>
            </a:pPr>
            <a:r>
              <a:rPr b="1" i="0" lang="en-US" sz="5500" u="none" cap="none" strike="noStrike">
                <a:solidFill>
                  <a:srgbClr val="FFFFFF"/>
                </a:solidFill>
                <a:latin typeface="Poppins"/>
                <a:ea typeface="Poppins"/>
                <a:cs typeface="Poppins"/>
                <a:sym typeface="Poppins"/>
              </a:rPr>
              <a:t>Google Ads Setup</a:t>
            </a:r>
            <a:endParaRPr b="0" i="0" sz="55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FFFFFF"/>
              </a:buClr>
              <a:buSzPts val="5500"/>
              <a:buFont typeface="Poppins"/>
              <a:buNone/>
            </a:pPr>
            <a:r>
              <a:rPr b="1" i="0" lang="en-US" sz="5500" u="none" cap="none" strike="noStrike">
                <a:solidFill>
                  <a:srgbClr val="FFFFFF"/>
                </a:solidFill>
                <a:latin typeface="Poppins"/>
                <a:ea typeface="Poppins"/>
                <a:cs typeface="Poppins"/>
                <a:sym typeface="Poppins"/>
              </a:rPr>
              <a:t>Proposal</a:t>
            </a:r>
            <a:endParaRPr b="0" i="0" sz="5500" u="none" cap="none" strike="noStrike">
              <a:solidFill>
                <a:schemeClr val="dk1"/>
              </a:solidFill>
              <a:latin typeface="Calibri"/>
              <a:ea typeface="Calibri"/>
              <a:cs typeface="Calibri"/>
              <a:sym typeface="Calibri"/>
            </a:endParaRPr>
          </a:p>
        </p:txBody>
      </p:sp>
      <p:sp>
        <p:nvSpPr>
          <p:cNvPr id="28" name="Google Shape;28;p1"/>
          <p:cNvSpPr txBox="1"/>
          <p:nvPr/>
        </p:nvSpPr>
        <p:spPr>
          <a:xfrm>
            <a:off x="566928" y="4370832"/>
            <a:ext cx="36576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E29F"/>
              </a:buClr>
              <a:buSzPts val="1200"/>
              <a:buFont typeface="Poppins"/>
              <a:buNone/>
            </a:pPr>
            <a:r>
              <a:rPr b="1" i="0" lang="en-US" sz="1200" u="none" cap="none" strike="noStrike">
                <a:solidFill>
                  <a:srgbClr val="3BE29F"/>
                </a:solidFill>
                <a:latin typeface="Poppins"/>
                <a:ea typeface="Poppins"/>
                <a:cs typeface="Poppins"/>
                <a:sym typeface="Poppins"/>
              </a:rPr>
              <a:t>PREPARED FOR</a:t>
            </a:r>
            <a:endParaRPr b="0" i="0" sz="1200" u="none" cap="none" strike="noStrike">
              <a:solidFill>
                <a:schemeClr val="dk1"/>
              </a:solidFill>
              <a:latin typeface="Calibri"/>
              <a:ea typeface="Calibri"/>
              <a:cs typeface="Calibri"/>
              <a:sym typeface="Calibri"/>
            </a:endParaRPr>
          </a:p>
        </p:txBody>
      </p:sp>
      <p:sp>
        <p:nvSpPr>
          <p:cNvPr id="29" name="Google Shape;29;p1"/>
          <p:cNvSpPr txBox="1"/>
          <p:nvPr/>
        </p:nvSpPr>
        <p:spPr>
          <a:xfrm>
            <a:off x="566928" y="4626864"/>
            <a:ext cx="53035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Poppins"/>
              <a:buNone/>
            </a:pPr>
            <a:r>
              <a:rPr b="1" i="0" lang="en-US" sz="1800" u="none" cap="none" strike="noStrike">
                <a:solidFill>
                  <a:srgbClr val="FFFFFF"/>
                </a:solidFill>
                <a:latin typeface="Poppins"/>
                <a:ea typeface="Poppins"/>
                <a:cs typeface="Poppins"/>
                <a:sym typeface="Poppins"/>
              </a:rPr>
              <a:t>Dr Miriana Vrajitoiu · Refocus The Brain Hub</a:t>
            </a:r>
            <a:endParaRPr b="0" i="0" sz="1800" u="none" cap="none" strike="noStrike">
              <a:solidFill>
                <a:schemeClr val="dk1"/>
              </a:solidFill>
              <a:latin typeface="Calibri"/>
              <a:ea typeface="Calibri"/>
              <a:cs typeface="Calibri"/>
              <a:sym typeface="Calibri"/>
            </a:endParaRPr>
          </a:p>
        </p:txBody>
      </p:sp>
      <p:sp>
        <p:nvSpPr>
          <p:cNvPr id="30" name="Google Shape;30;p1"/>
          <p:cNvSpPr txBox="1"/>
          <p:nvPr/>
        </p:nvSpPr>
        <p:spPr>
          <a:xfrm>
            <a:off x="5943600" y="4370832"/>
            <a:ext cx="36576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E29F"/>
              </a:buClr>
              <a:buSzPts val="1200"/>
              <a:buFont typeface="Poppins"/>
              <a:buNone/>
            </a:pPr>
            <a:r>
              <a:rPr b="1" i="0" lang="en-US" sz="1200" u="none" cap="none" strike="noStrike">
                <a:solidFill>
                  <a:srgbClr val="3BE29F"/>
                </a:solidFill>
                <a:latin typeface="Poppins"/>
                <a:ea typeface="Poppins"/>
                <a:cs typeface="Poppins"/>
                <a:sym typeface="Poppins"/>
              </a:rPr>
              <a:t>PREPARED BY</a:t>
            </a:r>
            <a:endParaRPr b="0" i="0" sz="1200" u="none" cap="none" strike="noStrike">
              <a:solidFill>
                <a:schemeClr val="dk1"/>
              </a:solidFill>
              <a:latin typeface="Calibri"/>
              <a:ea typeface="Calibri"/>
              <a:cs typeface="Calibri"/>
              <a:sym typeface="Calibri"/>
            </a:endParaRPr>
          </a:p>
        </p:txBody>
      </p:sp>
      <p:sp>
        <p:nvSpPr>
          <p:cNvPr id="31" name="Google Shape;31;p1"/>
          <p:cNvSpPr txBox="1"/>
          <p:nvPr/>
        </p:nvSpPr>
        <p:spPr>
          <a:xfrm>
            <a:off x="5943600" y="4626864"/>
            <a:ext cx="5486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Poppins"/>
              <a:buNone/>
            </a:pPr>
            <a:r>
              <a:rPr b="1" i="0" lang="en-US" sz="1800" u="none" cap="none" strike="noStrike">
                <a:solidFill>
                  <a:srgbClr val="FFFFFF"/>
                </a:solidFill>
                <a:latin typeface="Poppins"/>
                <a:ea typeface="Poppins"/>
                <a:cs typeface="Poppins"/>
                <a:sym typeface="Poppins"/>
              </a:rPr>
              <a:t>Online Marketing for Doctors</a:t>
            </a:r>
            <a:endParaRPr b="0" i="0" sz="1800" u="none" cap="none" strike="noStrike">
              <a:solidFill>
                <a:schemeClr val="dk1"/>
              </a:solidFill>
              <a:latin typeface="Calibri"/>
              <a:ea typeface="Calibri"/>
              <a:cs typeface="Calibri"/>
              <a:sym typeface="Calibri"/>
            </a:endParaRPr>
          </a:p>
        </p:txBody>
      </p:sp>
      <p:cxnSp>
        <p:nvCxnSpPr>
          <p:cNvPr id="32" name="Google Shape;32;p1"/>
          <p:cNvCxnSpPr/>
          <p:nvPr/>
        </p:nvCxnSpPr>
        <p:spPr>
          <a:xfrm>
            <a:off x="566928" y="5349240"/>
            <a:ext cx="8503920" cy="0"/>
          </a:xfrm>
          <a:prstGeom prst="straightConnector1">
            <a:avLst/>
          </a:prstGeom>
          <a:noFill/>
          <a:ln cap="flat" cmpd="sng" w="15875">
            <a:solidFill>
              <a:srgbClr val="16A879"/>
            </a:solidFill>
            <a:prstDash val="solid"/>
            <a:round/>
            <a:headEnd len="sm" w="sm" type="none"/>
            <a:tailEnd len="sm" w="sm" type="none"/>
          </a:ln>
        </p:spPr>
      </p:cxnSp>
      <p:sp>
        <p:nvSpPr>
          <p:cNvPr id="33" name="Google Shape;33;p1"/>
          <p:cNvSpPr txBox="1"/>
          <p:nvPr/>
        </p:nvSpPr>
        <p:spPr>
          <a:xfrm>
            <a:off x="566928" y="5596128"/>
            <a:ext cx="9144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2CE"/>
              </a:buClr>
              <a:buSzPts val="1400"/>
              <a:buFont typeface="Calibri"/>
              <a:buNone/>
            </a:pPr>
            <a:r>
              <a:rPr b="0" i="0" lang="en-US" sz="1400" u="none" cap="none" strike="noStrike">
                <a:solidFill>
                  <a:srgbClr val="C9D2CE"/>
                </a:solidFill>
                <a:latin typeface="Calibri"/>
                <a:ea typeface="Calibri"/>
                <a:cs typeface="Calibri"/>
                <a:sym typeface="Calibri"/>
              </a:rPr>
              <a:t>Search Advertising  ·  North West England · Manchester clinic + online  ·  October 2026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Overview</a:t>
            </a:r>
            <a:endParaRPr b="0" i="0" sz="1500" u="none" cap="none" strike="noStrike">
              <a:solidFill>
                <a:schemeClr val="dk1"/>
              </a:solidFill>
              <a:latin typeface="Calibri"/>
              <a:ea typeface="Calibri"/>
              <a:cs typeface="Calibri"/>
              <a:sym typeface="Calibri"/>
            </a:endParaRPr>
          </a:p>
        </p:txBody>
      </p:sp>
      <p:sp>
        <p:nvSpPr>
          <p:cNvPr id="40" name="Google Shape;40;p2"/>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CAMPAIGN OVERVIEW</a:t>
            </a:r>
            <a:endParaRPr b="0" i="0" sz="1250" u="none" cap="none" strike="noStrike">
              <a:solidFill>
                <a:schemeClr val="dk1"/>
              </a:solidFill>
              <a:latin typeface="Calibri"/>
              <a:ea typeface="Calibri"/>
              <a:cs typeface="Calibri"/>
              <a:sym typeface="Calibri"/>
            </a:endParaRPr>
          </a:p>
        </p:txBody>
      </p:sp>
      <p:sp>
        <p:nvSpPr>
          <p:cNvPr id="41" name="Google Shape;41;p2"/>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Two Campaigns, Two Audiences</a:t>
            </a:r>
            <a:endParaRPr b="0" i="0" sz="3300" u="none" cap="none" strike="noStrike">
              <a:solidFill>
                <a:schemeClr val="dk1"/>
              </a:solidFill>
              <a:latin typeface="Calibri"/>
              <a:ea typeface="Calibri"/>
              <a:cs typeface="Calibri"/>
              <a:sym typeface="Calibri"/>
            </a:endParaRPr>
          </a:p>
        </p:txBody>
      </p:sp>
      <p:sp>
        <p:nvSpPr>
          <p:cNvPr id="42" name="Google Shape;42;p2"/>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Adult ADHD and Child &amp; Teen ADHD each run as their own focused campaign — separate keywords, copy, landing pages and budget. Adult demand is roughly ten times child &amp; teen demand, so a single campaign would starve the parents' ad groups.</a:t>
            </a:r>
            <a:endParaRPr b="0" i="0" sz="1350" u="none" cap="none" strike="noStrike">
              <a:solidFill>
                <a:schemeClr val="dk1"/>
              </a:solidFill>
              <a:latin typeface="Calibri"/>
              <a:ea typeface="Calibri"/>
              <a:cs typeface="Calibri"/>
              <a:sym typeface="Calibri"/>
            </a:endParaRPr>
          </a:p>
        </p:txBody>
      </p:sp>
      <p:sp>
        <p:nvSpPr>
          <p:cNvPr id="43" name="Google Shape;43;p2"/>
          <p:cNvSpPr/>
          <p:nvPr/>
        </p:nvSpPr>
        <p:spPr>
          <a:xfrm>
            <a:off x="502920" y="2560320"/>
            <a:ext cx="5440680" cy="2743200"/>
          </a:xfrm>
          <a:prstGeom prst="roundRect">
            <a:avLst>
              <a:gd fmla="val 333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795528" y="2871216"/>
            <a:ext cx="658368" cy="65836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
          <p:cNvPicPr preferRelativeResize="0"/>
          <p:nvPr/>
        </p:nvPicPr>
        <p:blipFill rotWithShape="1">
          <a:blip r:embed="rId3">
            <a:alphaModFix/>
          </a:blip>
          <a:srcRect b="0" l="0" r="0" t="0"/>
          <a:stretch/>
        </p:blipFill>
        <p:spPr>
          <a:xfrm>
            <a:off x="960120" y="3035808"/>
            <a:ext cx="329184" cy="329184"/>
          </a:xfrm>
          <a:prstGeom prst="rect">
            <a:avLst/>
          </a:prstGeom>
          <a:noFill/>
          <a:ln>
            <a:noFill/>
          </a:ln>
        </p:spPr>
      </p:pic>
      <p:sp>
        <p:nvSpPr>
          <p:cNvPr id="46" name="Google Shape;46;p2"/>
          <p:cNvSpPr txBox="1"/>
          <p:nvPr/>
        </p:nvSpPr>
        <p:spPr>
          <a:xfrm>
            <a:off x="1600200" y="2871216"/>
            <a:ext cx="4160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2100"/>
              <a:buFont typeface="Poppins"/>
              <a:buNone/>
            </a:pPr>
            <a:r>
              <a:rPr b="1" i="0" lang="en-US" sz="2100" u="none" cap="none" strike="noStrike">
                <a:solidFill>
                  <a:srgbClr val="2B2E2C"/>
                </a:solidFill>
                <a:latin typeface="Poppins"/>
                <a:ea typeface="Poppins"/>
                <a:cs typeface="Poppins"/>
                <a:sym typeface="Poppins"/>
              </a:rPr>
              <a:t>Adult ADHD</a:t>
            </a:r>
            <a:endParaRPr b="0" i="0" sz="2100" u="none" cap="none" strike="noStrike">
              <a:solidFill>
                <a:schemeClr val="dk1"/>
              </a:solidFill>
              <a:latin typeface="Calibri"/>
              <a:ea typeface="Calibri"/>
              <a:cs typeface="Calibri"/>
              <a:sym typeface="Calibri"/>
            </a:endParaRPr>
          </a:p>
        </p:txBody>
      </p:sp>
      <p:sp>
        <p:nvSpPr>
          <p:cNvPr id="47" name="Google Shape;47;p2"/>
          <p:cNvSpPr txBox="1"/>
          <p:nvPr/>
        </p:nvSpPr>
        <p:spPr>
          <a:xfrm>
            <a:off x="1600200" y="3255264"/>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873"/>
              </a:buClr>
              <a:buSzPts val="1100"/>
              <a:buFont typeface="Calibri"/>
              <a:buNone/>
            </a:pPr>
            <a:r>
              <a:rPr b="0" i="1" lang="en-US" sz="1100" u="none" cap="none" strike="noStrike">
                <a:solidFill>
                  <a:srgbClr val="6E7873"/>
                </a:solidFill>
                <a:latin typeface="Calibri"/>
                <a:ea typeface="Calibri"/>
                <a:cs typeface="Calibri"/>
                <a:sym typeface="Calibri"/>
              </a:rPr>
              <a:t>Self-referred adults · women-skewed · £850 online / £1,050 clinic</a:t>
            </a:r>
            <a:endParaRPr b="0" i="0" sz="1100" u="none" cap="none" strike="noStrike">
              <a:solidFill>
                <a:schemeClr val="dk1"/>
              </a:solidFill>
              <a:latin typeface="Calibri"/>
              <a:ea typeface="Calibri"/>
              <a:cs typeface="Calibri"/>
              <a:sym typeface="Calibri"/>
            </a:endParaRPr>
          </a:p>
        </p:txBody>
      </p:sp>
      <p:sp>
        <p:nvSpPr>
          <p:cNvPr id="48" name="Google Shape;48;p2"/>
          <p:cNvSpPr txBox="1"/>
          <p:nvPr/>
        </p:nvSpPr>
        <p:spPr>
          <a:xfrm>
            <a:off x="813816" y="3785616"/>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Geo target</a:t>
            </a:r>
            <a:endParaRPr b="0" i="0" sz="1150" u="none" cap="none" strike="noStrike">
              <a:solidFill>
                <a:schemeClr val="dk1"/>
              </a:solidFill>
              <a:latin typeface="Calibri"/>
              <a:ea typeface="Calibri"/>
              <a:cs typeface="Calibri"/>
              <a:sym typeface="Calibri"/>
            </a:endParaRPr>
          </a:p>
        </p:txBody>
      </p:sp>
      <p:sp>
        <p:nvSpPr>
          <p:cNvPr id="49" name="Google Shape;49;p2"/>
          <p:cNvSpPr txBox="1"/>
          <p:nvPr/>
        </p:nvSpPr>
        <p:spPr>
          <a:xfrm>
            <a:off x="2514600" y="3785616"/>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North West England · Greater Manchester +20%</a:t>
            </a:r>
            <a:endParaRPr b="0" i="0" sz="1150" u="none" cap="none" strike="noStrike">
              <a:solidFill>
                <a:schemeClr val="dk1"/>
              </a:solidFill>
              <a:latin typeface="Calibri"/>
              <a:ea typeface="Calibri"/>
              <a:cs typeface="Calibri"/>
              <a:sym typeface="Calibri"/>
            </a:endParaRPr>
          </a:p>
        </p:txBody>
      </p:sp>
      <p:cxnSp>
        <p:nvCxnSpPr>
          <p:cNvPr id="50" name="Google Shape;50;p2"/>
          <p:cNvCxnSpPr/>
          <p:nvPr/>
        </p:nvCxnSpPr>
        <p:spPr>
          <a:xfrm>
            <a:off x="813816" y="4151376"/>
            <a:ext cx="4846320" cy="0"/>
          </a:xfrm>
          <a:prstGeom prst="straightConnector1">
            <a:avLst/>
          </a:prstGeom>
          <a:noFill/>
          <a:ln cap="flat" cmpd="sng" w="9525">
            <a:solidFill>
              <a:srgbClr val="EBEEED"/>
            </a:solidFill>
            <a:prstDash val="solid"/>
            <a:round/>
            <a:headEnd len="sm" w="sm" type="none"/>
            <a:tailEnd len="sm" w="sm" type="none"/>
          </a:ln>
        </p:spPr>
      </p:cxnSp>
      <p:sp>
        <p:nvSpPr>
          <p:cNvPr id="51" name="Google Shape;51;p2"/>
          <p:cNvSpPr txBox="1"/>
          <p:nvPr/>
        </p:nvSpPr>
        <p:spPr>
          <a:xfrm>
            <a:off x="813816" y="4169664"/>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Demographic</a:t>
            </a:r>
            <a:endParaRPr b="0" i="0" sz="1150" u="none" cap="none" strike="noStrike">
              <a:solidFill>
                <a:schemeClr val="dk1"/>
              </a:solidFill>
              <a:latin typeface="Calibri"/>
              <a:ea typeface="Calibri"/>
              <a:cs typeface="Calibri"/>
              <a:sym typeface="Calibri"/>
            </a:endParaRPr>
          </a:p>
        </p:txBody>
      </p:sp>
      <p:sp>
        <p:nvSpPr>
          <p:cNvPr id="52" name="Google Shape;52;p2"/>
          <p:cNvSpPr txBox="1"/>
          <p:nvPr/>
        </p:nvSpPr>
        <p:spPr>
          <a:xfrm>
            <a:off x="2514600" y="4169664"/>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25–54 · women 73% of legacy conversions</a:t>
            </a:r>
            <a:endParaRPr b="0" i="0" sz="1150" u="none" cap="none" strike="noStrike">
              <a:solidFill>
                <a:schemeClr val="dk1"/>
              </a:solidFill>
              <a:latin typeface="Calibri"/>
              <a:ea typeface="Calibri"/>
              <a:cs typeface="Calibri"/>
              <a:sym typeface="Calibri"/>
            </a:endParaRPr>
          </a:p>
        </p:txBody>
      </p:sp>
      <p:cxnSp>
        <p:nvCxnSpPr>
          <p:cNvPr id="53" name="Google Shape;53;p2"/>
          <p:cNvCxnSpPr/>
          <p:nvPr/>
        </p:nvCxnSpPr>
        <p:spPr>
          <a:xfrm>
            <a:off x="813816" y="4535424"/>
            <a:ext cx="4846320" cy="0"/>
          </a:xfrm>
          <a:prstGeom prst="straightConnector1">
            <a:avLst/>
          </a:prstGeom>
          <a:noFill/>
          <a:ln cap="flat" cmpd="sng" w="9525">
            <a:solidFill>
              <a:srgbClr val="EBEEED"/>
            </a:solidFill>
            <a:prstDash val="solid"/>
            <a:round/>
            <a:headEnd len="sm" w="sm" type="none"/>
            <a:tailEnd len="sm" w="sm" type="none"/>
          </a:ln>
        </p:spPr>
      </p:cxnSp>
      <p:sp>
        <p:nvSpPr>
          <p:cNvPr id="54" name="Google Shape;54;p2"/>
          <p:cNvSpPr txBox="1"/>
          <p:nvPr/>
        </p:nvSpPr>
        <p:spPr>
          <a:xfrm>
            <a:off x="813816" y="4553712"/>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Daily budget</a:t>
            </a:r>
            <a:endParaRPr b="0" i="0" sz="1150" u="none" cap="none" strike="noStrike">
              <a:solidFill>
                <a:schemeClr val="dk1"/>
              </a:solidFill>
              <a:latin typeface="Calibri"/>
              <a:ea typeface="Calibri"/>
              <a:cs typeface="Calibri"/>
              <a:sym typeface="Calibri"/>
            </a:endParaRPr>
          </a:p>
        </p:txBody>
      </p:sp>
      <p:sp>
        <p:nvSpPr>
          <p:cNvPr id="55" name="Google Shape;55;p2"/>
          <p:cNvSpPr txBox="1"/>
          <p:nvPr/>
        </p:nvSpPr>
        <p:spPr>
          <a:xfrm>
            <a:off x="2514600" y="4553712"/>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£50 / day  ·  ≈ £1,520 / mo</a:t>
            </a:r>
            <a:endParaRPr b="0" i="0" sz="1150" u="none" cap="none" strike="noStrike">
              <a:solidFill>
                <a:schemeClr val="dk1"/>
              </a:solidFill>
              <a:latin typeface="Calibri"/>
              <a:ea typeface="Calibri"/>
              <a:cs typeface="Calibri"/>
              <a:sym typeface="Calibri"/>
            </a:endParaRPr>
          </a:p>
        </p:txBody>
      </p:sp>
      <p:cxnSp>
        <p:nvCxnSpPr>
          <p:cNvPr id="56" name="Google Shape;56;p2"/>
          <p:cNvCxnSpPr/>
          <p:nvPr/>
        </p:nvCxnSpPr>
        <p:spPr>
          <a:xfrm>
            <a:off x="813816" y="4919472"/>
            <a:ext cx="4846320" cy="0"/>
          </a:xfrm>
          <a:prstGeom prst="straightConnector1">
            <a:avLst/>
          </a:prstGeom>
          <a:noFill/>
          <a:ln cap="flat" cmpd="sng" w="9525">
            <a:solidFill>
              <a:srgbClr val="EBEEED"/>
            </a:solidFill>
            <a:prstDash val="solid"/>
            <a:round/>
            <a:headEnd len="sm" w="sm" type="none"/>
            <a:tailEnd len="sm" w="sm" type="none"/>
          </a:ln>
        </p:spPr>
      </p:cxnSp>
      <p:sp>
        <p:nvSpPr>
          <p:cNvPr id="57" name="Google Shape;57;p2"/>
          <p:cNvSpPr txBox="1"/>
          <p:nvPr/>
        </p:nvSpPr>
        <p:spPr>
          <a:xfrm>
            <a:off x="813816" y="4937760"/>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Ad groups</a:t>
            </a:r>
            <a:endParaRPr b="0" i="0" sz="1150" u="none" cap="none" strike="noStrike">
              <a:solidFill>
                <a:schemeClr val="dk1"/>
              </a:solidFill>
              <a:latin typeface="Calibri"/>
              <a:ea typeface="Calibri"/>
              <a:cs typeface="Calibri"/>
              <a:sym typeface="Calibri"/>
            </a:endParaRPr>
          </a:p>
        </p:txBody>
      </p:sp>
      <p:sp>
        <p:nvSpPr>
          <p:cNvPr id="58" name="Google Shape;58;p2"/>
          <p:cNvSpPr txBox="1"/>
          <p:nvPr/>
        </p:nvSpPr>
        <p:spPr>
          <a:xfrm>
            <a:off x="2514600" y="4937760"/>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10 intent-based groups</a:t>
            </a:r>
            <a:endParaRPr b="0" i="0" sz="1150" u="none" cap="none" strike="noStrike">
              <a:solidFill>
                <a:schemeClr val="dk1"/>
              </a:solidFill>
              <a:latin typeface="Calibri"/>
              <a:ea typeface="Calibri"/>
              <a:cs typeface="Calibri"/>
              <a:sym typeface="Calibri"/>
            </a:endParaRPr>
          </a:p>
        </p:txBody>
      </p:sp>
      <p:sp>
        <p:nvSpPr>
          <p:cNvPr id="59" name="Google Shape;59;p2"/>
          <p:cNvSpPr/>
          <p:nvPr/>
        </p:nvSpPr>
        <p:spPr>
          <a:xfrm>
            <a:off x="6245352" y="2560320"/>
            <a:ext cx="5440680" cy="2743200"/>
          </a:xfrm>
          <a:prstGeom prst="roundRect">
            <a:avLst>
              <a:gd fmla="val 333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537960" y="2871216"/>
            <a:ext cx="658368" cy="658368"/>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 name="Google Shape;61;p2"/>
          <p:cNvPicPr preferRelativeResize="0"/>
          <p:nvPr/>
        </p:nvPicPr>
        <p:blipFill rotWithShape="1">
          <a:blip r:embed="rId4">
            <a:alphaModFix/>
          </a:blip>
          <a:srcRect b="0" l="0" r="0" t="0"/>
          <a:stretch/>
        </p:blipFill>
        <p:spPr>
          <a:xfrm>
            <a:off x="6702552" y="3035808"/>
            <a:ext cx="329184" cy="329184"/>
          </a:xfrm>
          <a:prstGeom prst="rect">
            <a:avLst/>
          </a:prstGeom>
          <a:noFill/>
          <a:ln>
            <a:noFill/>
          </a:ln>
        </p:spPr>
      </p:pic>
      <p:sp>
        <p:nvSpPr>
          <p:cNvPr id="62" name="Google Shape;62;p2"/>
          <p:cNvSpPr txBox="1"/>
          <p:nvPr/>
        </p:nvSpPr>
        <p:spPr>
          <a:xfrm>
            <a:off x="7342632" y="2871216"/>
            <a:ext cx="4160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2100"/>
              <a:buFont typeface="Poppins"/>
              <a:buNone/>
            </a:pPr>
            <a:r>
              <a:rPr b="1" i="0" lang="en-US" sz="2100" u="none" cap="none" strike="noStrike">
                <a:solidFill>
                  <a:srgbClr val="2B2E2C"/>
                </a:solidFill>
                <a:latin typeface="Poppins"/>
                <a:ea typeface="Poppins"/>
                <a:cs typeface="Poppins"/>
                <a:sym typeface="Poppins"/>
              </a:rPr>
              <a:t>Child &amp; Teen ADHD</a:t>
            </a:r>
            <a:endParaRPr b="0" i="0" sz="2100" u="none" cap="none" strike="noStrike">
              <a:solidFill>
                <a:schemeClr val="dk1"/>
              </a:solidFill>
              <a:latin typeface="Calibri"/>
              <a:ea typeface="Calibri"/>
              <a:cs typeface="Calibri"/>
              <a:sym typeface="Calibri"/>
            </a:endParaRPr>
          </a:p>
        </p:txBody>
      </p:sp>
      <p:sp>
        <p:nvSpPr>
          <p:cNvPr id="63" name="Google Shape;63;p2"/>
          <p:cNvSpPr txBox="1"/>
          <p:nvPr/>
        </p:nvSpPr>
        <p:spPr>
          <a:xfrm>
            <a:off x="7342632" y="3255264"/>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873"/>
              </a:buClr>
              <a:buSzPts val="1100"/>
              <a:buFont typeface="Calibri"/>
              <a:buNone/>
            </a:pPr>
            <a:r>
              <a:rPr b="0" i="1" lang="en-US" sz="1100" u="none" cap="none" strike="noStrike">
                <a:solidFill>
                  <a:srgbClr val="6E7873"/>
                </a:solidFill>
                <a:latin typeface="Calibri"/>
                <a:ea typeface="Calibri"/>
                <a:cs typeface="Calibri"/>
                <a:sym typeface="Calibri"/>
              </a:rPr>
              <a:t>Parents booking for 6–18s · £890 online / £1,150 clinic</a:t>
            </a:r>
            <a:endParaRPr b="0" i="0" sz="1100" u="none" cap="none" strike="noStrike">
              <a:solidFill>
                <a:schemeClr val="dk1"/>
              </a:solidFill>
              <a:latin typeface="Calibri"/>
              <a:ea typeface="Calibri"/>
              <a:cs typeface="Calibri"/>
              <a:sym typeface="Calibri"/>
            </a:endParaRPr>
          </a:p>
        </p:txBody>
      </p:sp>
      <p:sp>
        <p:nvSpPr>
          <p:cNvPr id="64" name="Google Shape;64;p2"/>
          <p:cNvSpPr txBox="1"/>
          <p:nvPr/>
        </p:nvSpPr>
        <p:spPr>
          <a:xfrm>
            <a:off x="6556248" y="3785616"/>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Geo target</a:t>
            </a:r>
            <a:endParaRPr b="0" i="0" sz="1150" u="none" cap="none" strike="noStrike">
              <a:solidFill>
                <a:schemeClr val="dk1"/>
              </a:solidFill>
              <a:latin typeface="Calibri"/>
              <a:ea typeface="Calibri"/>
              <a:cs typeface="Calibri"/>
              <a:sym typeface="Calibri"/>
            </a:endParaRPr>
          </a:p>
        </p:txBody>
      </p:sp>
      <p:sp>
        <p:nvSpPr>
          <p:cNvPr id="65" name="Google Shape;65;p2"/>
          <p:cNvSpPr txBox="1"/>
          <p:nvPr/>
        </p:nvSpPr>
        <p:spPr>
          <a:xfrm>
            <a:off x="8257032" y="3785616"/>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North West England · Greater Manchester +20%</a:t>
            </a:r>
            <a:endParaRPr b="0" i="0" sz="1150" u="none" cap="none" strike="noStrike">
              <a:solidFill>
                <a:schemeClr val="dk1"/>
              </a:solidFill>
              <a:latin typeface="Calibri"/>
              <a:ea typeface="Calibri"/>
              <a:cs typeface="Calibri"/>
              <a:sym typeface="Calibri"/>
            </a:endParaRPr>
          </a:p>
        </p:txBody>
      </p:sp>
      <p:cxnSp>
        <p:nvCxnSpPr>
          <p:cNvPr id="66" name="Google Shape;66;p2"/>
          <p:cNvCxnSpPr/>
          <p:nvPr/>
        </p:nvCxnSpPr>
        <p:spPr>
          <a:xfrm>
            <a:off x="6556248" y="4151376"/>
            <a:ext cx="4846320" cy="0"/>
          </a:xfrm>
          <a:prstGeom prst="straightConnector1">
            <a:avLst/>
          </a:prstGeom>
          <a:noFill/>
          <a:ln cap="flat" cmpd="sng" w="9525">
            <a:solidFill>
              <a:srgbClr val="EBEEED"/>
            </a:solidFill>
            <a:prstDash val="solid"/>
            <a:round/>
            <a:headEnd len="sm" w="sm" type="none"/>
            <a:tailEnd len="sm" w="sm" type="none"/>
          </a:ln>
        </p:spPr>
      </p:cxnSp>
      <p:sp>
        <p:nvSpPr>
          <p:cNvPr id="67" name="Google Shape;67;p2"/>
          <p:cNvSpPr txBox="1"/>
          <p:nvPr/>
        </p:nvSpPr>
        <p:spPr>
          <a:xfrm>
            <a:off x="6556248" y="4169664"/>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Demographic</a:t>
            </a:r>
            <a:endParaRPr b="0" i="0" sz="1150" u="none" cap="none" strike="noStrike">
              <a:solidFill>
                <a:schemeClr val="dk1"/>
              </a:solidFill>
              <a:latin typeface="Calibri"/>
              <a:ea typeface="Calibri"/>
              <a:cs typeface="Calibri"/>
              <a:sym typeface="Calibri"/>
            </a:endParaRPr>
          </a:p>
        </p:txBody>
      </p:sp>
      <p:sp>
        <p:nvSpPr>
          <p:cNvPr id="68" name="Google Shape;68;p2"/>
          <p:cNvSpPr txBox="1"/>
          <p:nvPr/>
        </p:nvSpPr>
        <p:spPr>
          <a:xfrm>
            <a:off x="8257032" y="4169664"/>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Parents 30–55 · mostly mothers</a:t>
            </a:r>
            <a:endParaRPr b="0" i="0" sz="1150" u="none" cap="none" strike="noStrike">
              <a:solidFill>
                <a:schemeClr val="dk1"/>
              </a:solidFill>
              <a:latin typeface="Calibri"/>
              <a:ea typeface="Calibri"/>
              <a:cs typeface="Calibri"/>
              <a:sym typeface="Calibri"/>
            </a:endParaRPr>
          </a:p>
        </p:txBody>
      </p:sp>
      <p:cxnSp>
        <p:nvCxnSpPr>
          <p:cNvPr id="69" name="Google Shape;69;p2"/>
          <p:cNvCxnSpPr/>
          <p:nvPr/>
        </p:nvCxnSpPr>
        <p:spPr>
          <a:xfrm>
            <a:off x="6556248" y="4535424"/>
            <a:ext cx="4846320" cy="0"/>
          </a:xfrm>
          <a:prstGeom prst="straightConnector1">
            <a:avLst/>
          </a:prstGeom>
          <a:noFill/>
          <a:ln cap="flat" cmpd="sng" w="9525">
            <a:solidFill>
              <a:srgbClr val="EBEEED"/>
            </a:solidFill>
            <a:prstDash val="solid"/>
            <a:round/>
            <a:headEnd len="sm" w="sm" type="none"/>
            <a:tailEnd len="sm" w="sm" type="none"/>
          </a:ln>
        </p:spPr>
      </p:cxnSp>
      <p:sp>
        <p:nvSpPr>
          <p:cNvPr id="70" name="Google Shape;70;p2"/>
          <p:cNvSpPr txBox="1"/>
          <p:nvPr/>
        </p:nvSpPr>
        <p:spPr>
          <a:xfrm>
            <a:off x="6556248" y="4553712"/>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Daily budget</a:t>
            </a:r>
            <a:endParaRPr b="0" i="0" sz="1150" u="none" cap="none" strike="noStrike">
              <a:solidFill>
                <a:schemeClr val="dk1"/>
              </a:solidFill>
              <a:latin typeface="Calibri"/>
              <a:ea typeface="Calibri"/>
              <a:cs typeface="Calibri"/>
              <a:sym typeface="Calibri"/>
            </a:endParaRPr>
          </a:p>
        </p:txBody>
      </p:sp>
      <p:sp>
        <p:nvSpPr>
          <p:cNvPr id="71" name="Google Shape;71;p2"/>
          <p:cNvSpPr txBox="1"/>
          <p:nvPr/>
        </p:nvSpPr>
        <p:spPr>
          <a:xfrm>
            <a:off x="8257032" y="4553712"/>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£15 / day  ·  ≈ £455 / mo</a:t>
            </a:r>
            <a:endParaRPr b="0" i="0" sz="1150" u="none" cap="none" strike="noStrike">
              <a:solidFill>
                <a:schemeClr val="dk1"/>
              </a:solidFill>
              <a:latin typeface="Calibri"/>
              <a:ea typeface="Calibri"/>
              <a:cs typeface="Calibri"/>
              <a:sym typeface="Calibri"/>
            </a:endParaRPr>
          </a:p>
        </p:txBody>
      </p:sp>
      <p:cxnSp>
        <p:nvCxnSpPr>
          <p:cNvPr id="72" name="Google Shape;72;p2"/>
          <p:cNvCxnSpPr/>
          <p:nvPr/>
        </p:nvCxnSpPr>
        <p:spPr>
          <a:xfrm>
            <a:off x="6556248" y="4919472"/>
            <a:ext cx="4846320" cy="0"/>
          </a:xfrm>
          <a:prstGeom prst="straightConnector1">
            <a:avLst/>
          </a:prstGeom>
          <a:noFill/>
          <a:ln cap="flat" cmpd="sng" w="9525">
            <a:solidFill>
              <a:srgbClr val="EBEEED"/>
            </a:solidFill>
            <a:prstDash val="solid"/>
            <a:round/>
            <a:headEnd len="sm" w="sm" type="none"/>
            <a:tailEnd len="sm" w="sm" type="none"/>
          </a:ln>
        </p:spPr>
      </p:cxnSp>
      <p:sp>
        <p:nvSpPr>
          <p:cNvPr id="73" name="Google Shape;73;p2"/>
          <p:cNvSpPr txBox="1"/>
          <p:nvPr/>
        </p:nvSpPr>
        <p:spPr>
          <a:xfrm>
            <a:off x="6556248" y="4937760"/>
            <a:ext cx="1691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Ad groups</a:t>
            </a:r>
            <a:endParaRPr b="0" i="0" sz="1150" u="none" cap="none" strike="noStrike">
              <a:solidFill>
                <a:schemeClr val="dk1"/>
              </a:solidFill>
              <a:latin typeface="Calibri"/>
              <a:ea typeface="Calibri"/>
              <a:cs typeface="Calibri"/>
              <a:sym typeface="Calibri"/>
            </a:endParaRPr>
          </a:p>
        </p:txBody>
      </p:sp>
      <p:sp>
        <p:nvSpPr>
          <p:cNvPr id="74" name="Google Shape;74;p2"/>
          <p:cNvSpPr txBox="1"/>
          <p:nvPr/>
        </p:nvSpPr>
        <p:spPr>
          <a:xfrm>
            <a:off x="8257032" y="4937760"/>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50"/>
              <a:buFont typeface="Calibri"/>
              <a:buNone/>
            </a:pPr>
            <a:r>
              <a:rPr b="0" i="0" lang="en-US" sz="1150" u="none" cap="none" strike="noStrike">
                <a:solidFill>
                  <a:srgbClr val="2B2E2C"/>
                </a:solidFill>
                <a:latin typeface="Calibri"/>
                <a:ea typeface="Calibri"/>
                <a:cs typeface="Calibri"/>
                <a:sym typeface="Calibri"/>
              </a:rPr>
              <a:t>4 intent-based groups (teen inside child)</a:t>
            </a:r>
            <a:endParaRPr b="0" i="0" sz="1150" u="none" cap="none" strike="noStrike">
              <a:solidFill>
                <a:schemeClr val="dk1"/>
              </a:solidFill>
              <a:latin typeface="Calibri"/>
              <a:ea typeface="Calibri"/>
              <a:cs typeface="Calibri"/>
              <a:sym typeface="Calibri"/>
            </a:endParaRPr>
          </a:p>
        </p:txBody>
      </p:sp>
      <p:sp>
        <p:nvSpPr>
          <p:cNvPr id="75" name="Google Shape;75;p2"/>
          <p:cNvSpPr/>
          <p:nvPr/>
        </p:nvSpPr>
        <p:spPr>
          <a:xfrm>
            <a:off x="502920" y="5486400"/>
            <a:ext cx="11183112" cy="713232"/>
          </a:xfrm>
          <a:prstGeom prst="roundRect">
            <a:avLst>
              <a:gd fmla="val 12821"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777240" y="5632704"/>
            <a:ext cx="420624" cy="420624"/>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pound_dark.png" id="77" name="Google Shape;77;p2"/>
          <p:cNvPicPr preferRelativeResize="0"/>
          <p:nvPr/>
        </p:nvPicPr>
        <p:blipFill rotWithShape="1">
          <a:blip r:embed="rId5">
            <a:alphaModFix/>
          </a:blip>
          <a:srcRect b="0" l="0" r="0" t="0"/>
          <a:stretch/>
        </p:blipFill>
        <p:spPr>
          <a:xfrm>
            <a:off x="877824" y="5733288"/>
            <a:ext cx="219456" cy="219456"/>
          </a:xfrm>
          <a:prstGeom prst="rect">
            <a:avLst/>
          </a:prstGeom>
          <a:noFill/>
          <a:ln>
            <a:noFill/>
          </a:ln>
        </p:spPr>
      </p:pic>
      <p:sp>
        <p:nvSpPr>
          <p:cNvPr id="78" name="Google Shape;78;p2"/>
          <p:cNvSpPr txBox="1"/>
          <p:nvPr/>
        </p:nvSpPr>
        <p:spPr>
          <a:xfrm>
            <a:off x="1371600" y="5486400"/>
            <a:ext cx="101498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E29F"/>
              </a:buClr>
              <a:buSzPts val="1350"/>
              <a:buFont typeface="Poppins"/>
              <a:buNone/>
            </a:pPr>
            <a:r>
              <a:rPr b="1" i="0" lang="en-US" sz="1350" u="none" cap="none" strike="noStrike">
                <a:solidFill>
                  <a:srgbClr val="3BE29F"/>
                </a:solidFill>
                <a:latin typeface="Poppins"/>
                <a:ea typeface="Poppins"/>
                <a:cs typeface="Poppins"/>
                <a:sym typeface="Poppins"/>
              </a:rPr>
              <a:t>Combined media budget:  </a:t>
            </a:r>
            <a:r>
              <a:rPr b="1" i="0" lang="en-US" sz="1350" u="none" cap="none" strike="noStrike">
                <a:solidFill>
                  <a:srgbClr val="FFFFFF"/>
                </a:solidFill>
                <a:latin typeface="Poppins"/>
                <a:ea typeface="Poppins"/>
                <a:cs typeface="Poppins"/>
                <a:sym typeface="Poppins"/>
              </a:rPr>
              <a:t>£65 / day  ≈  £2,000 / month</a:t>
            </a:r>
            <a:r>
              <a:rPr b="0" i="0" lang="en-US" sz="1350" u="none" cap="none" strike="noStrike">
                <a:solidFill>
                  <a:srgbClr val="FFFFFF"/>
                </a:solidFill>
                <a:latin typeface="Poppins"/>
                <a:ea typeface="Poppins"/>
                <a:cs typeface="Poppins"/>
                <a:sym typeface="Poppins"/>
              </a:rPr>
              <a:t>   —   £50 adult · £15 child &amp; teen on Search; Performance Max added from month 4.</a:t>
            </a:r>
            <a:endParaRPr b="0" i="0" sz="1350" u="none" cap="none" strike="noStrike">
              <a:solidFill>
                <a:schemeClr val="dk1"/>
              </a:solidFill>
              <a:latin typeface="Calibri"/>
              <a:ea typeface="Calibri"/>
              <a:cs typeface="Calibri"/>
              <a:sym typeface="Calibri"/>
            </a:endParaRPr>
          </a:p>
        </p:txBody>
      </p:sp>
      <p:sp>
        <p:nvSpPr>
          <p:cNvPr id="79" name="Google Shape;79;p2"/>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Audience</a:t>
            </a:r>
            <a:endParaRPr b="0" i="0" sz="1500" u="none" cap="none" strike="noStrike">
              <a:solidFill>
                <a:schemeClr val="dk1"/>
              </a:solidFill>
              <a:latin typeface="Calibri"/>
              <a:ea typeface="Calibri"/>
              <a:cs typeface="Calibri"/>
              <a:sym typeface="Calibri"/>
            </a:endParaRPr>
          </a:p>
        </p:txBody>
      </p:sp>
      <p:sp>
        <p:nvSpPr>
          <p:cNvPr id="86" name="Google Shape;86;p3"/>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TARGET AUDIENCE</a:t>
            </a:r>
            <a:endParaRPr b="0" i="0" sz="1250" u="none" cap="none" strike="noStrike">
              <a:solidFill>
                <a:schemeClr val="dk1"/>
              </a:solidFill>
              <a:latin typeface="Calibri"/>
              <a:ea typeface="Calibri"/>
              <a:cs typeface="Calibri"/>
              <a:sym typeface="Calibri"/>
            </a:endParaRPr>
          </a:p>
        </p:txBody>
      </p:sp>
      <p:sp>
        <p:nvSpPr>
          <p:cNvPr id="87" name="Google Shape;87;p3"/>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Who We're Speaking To</a:t>
            </a:r>
            <a:endParaRPr b="0" i="0" sz="3300" u="none" cap="none" strike="noStrike">
              <a:solidFill>
                <a:schemeClr val="dk1"/>
              </a:solidFill>
              <a:latin typeface="Calibri"/>
              <a:ea typeface="Calibri"/>
              <a:cs typeface="Calibri"/>
              <a:sym typeface="Calibri"/>
            </a:endParaRPr>
          </a:p>
        </p:txBody>
      </p:sp>
      <p:sp>
        <p:nvSpPr>
          <p:cNvPr id="88" name="Google Shape;88;p3"/>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Two adult audiences drive this campaign — both self-referred, both tired of waiting, both looking for a consultant-led diagnosis they can trust. Women drove 73% of conversions in the previous account, so Persona 02 gets her own ad group and landing page section.</a:t>
            </a:r>
            <a:endParaRPr b="0" i="0" sz="1350" u="none" cap="none" strike="noStrike">
              <a:solidFill>
                <a:schemeClr val="dk1"/>
              </a:solidFill>
              <a:latin typeface="Calibri"/>
              <a:ea typeface="Calibri"/>
              <a:cs typeface="Calibri"/>
              <a:sym typeface="Calibri"/>
            </a:endParaRPr>
          </a:p>
        </p:txBody>
      </p:sp>
      <p:sp>
        <p:nvSpPr>
          <p:cNvPr id="89" name="Google Shape;89;p3"/>
          <p:cNvSpPr/>
          <p:nvPr/>
        </p:nvSpPr>
        <p:spPr>
          <a:xfrm>
            <a:off x="502920" y="2560320"/>
            <a:ext cx="5440680" cy="3246120"/>
          </a:xfrm>
          <a:prstGeom prst="roundRect">
            <a:avLst>
              <a:gd fmla="val 281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795528" y="2834640"/>
            <a:ext cx="658368" cy="65836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_white.png" id="91" name="Google Shape;91;p3"/>
          <p:cNvPicPr preferRelativeResize="0"/>
          <p:nvPr/>
        </p:nvPicPr>
        <p:blipFill rotWithShape="1">
          <a:blip r:embed="rId3">
            <a:alphaModFix/>
          </a:blip>
          <a:srcRect b="0" l="0" r="0" t="0"/>
          <a:stretch/>
        </p:blipFill>
        <p:spPr>
          <a:xfrm>
            <a:off x="932688" y="2971800"/>
            <a:ext cx="384048" cy="384048"/>
          </a:xfrm>
          <a:prstGeom prst="rect">
            <a:avLst/>
          </a:prstGeom>
          <a:noFill/>
          <a:ln>
            <a:noFill/>
          </a:ln>
        </p:spPr>
      </p:pic>
      <p:sp>
        <p:nvSpPr>
          <p:cNvPr id="92" name="Google Shape;92;p3"/>
          <p:cNvSpPr txBox="1"/>
          <p:nvPr/>
        </p:nvSpPr>
        <p:spPr>
          <a:xfrm>
            <a:off x="1600200" y="2816352"/>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PERSONA 01</a:t>
            </a:r>
            <a:endParaRPr b="0" i="0" sz="1000" u="none" cap="none" strike="noStrike">
              <a:solidFill>
                <a:schemeClr val="dk1"/>
              </a:solidFill>
              <a:latin typeface="Calibri"/>
              <a:ea typeface="Calibri"/>
              <a:cs typeface="Calibri"/>
              <a:sym typeface="Calibri"/>
            </a:endParaRPr>
          </a:p>
        </p:txBody>
      </p:sp>
      <p:sp>
        <p:nvSpPr>
          <p:cNvPr id="93" name="Google Shape;93;p3"/>
          <p:cNvSpPr txBox="1"/>
          <p:nvPr/>
        </p:nvSpPr>
        <p:spPr>
          <a:xfrm>
            <a:off x="1600200" y="301752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900"/>
              <a:buFont typeface="Poppins"/>
              <a:buNone/>
            </a:pPr>
            <a:r>
              <a:rPr b="1" i="0" lang="en-US" sz="1900" u="none" cap="none" strike="noStrike">
                <a:solidFill>
                  <a:srgbClr val="2B2E2C"/>
                </a:solidFill>
                <a:latin typeface="Poppins"/>
                <a:ea typeface="Poppins"/>
                <a:cs typeface="Poppins"/>
                <a:sym typeface="Poppins"/>
              </a:rPr>
              <a:t>The Stuck Professional</a:t>
            </a:r>
            <a:endParaRPr b="0" i="0" sz="1900" u="none" cap="none" strike="noStrike">
              <a:solidFill>
                <a:schemeClr val="dk1"/>
              </a:solidFill>
              <a:latin typeface="Calibri"/>
              <a:ea typeface="Calibri"/>
              <a:cs typeface="Calibri"/>
              <a:sym typeface="Calibri"/>
            </a:endParaRPr>
          </a:p>
        </p:txBody>
      </p:sp>
      <p:sp>
        <p:nvSpPr>
          <p:cNvPr id="94" name="Google Shape;94;p3"/>
          <p:cNvSpPr txBox="1"/>
          <p:nvPr/>
        </p:nvSpPr>
        <p:spPr>
          <a:xfrm>
            <a:off x="1600200" y="3401568"/>
            <a:ext cx="4206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050"/>
              <a:buFont typeface="Calibri"/>
              <a:buNone/>
            </a:pPr>
            <a:r>
              <a:rPr b="0" i="1" lang="en-US" sz="1050" u="none" cap="none" strike="noStrike">
                <a:solidFill>
                  <a:srgbClr val="6E7873"/>
                </a:solidFill>
                <a:latin typeface="Calibri"/>
                <a:ea typeface="Calibri"/>
                <a:cs typeface="Calibri"/>
                <a:sym typeface="Calibri"/>
              </a:rPr>
              <a:t>Self-referred · 25–45 · working or studying · suspects ADHD</a:t>
            </a:r>
            <a:endParaRPr b="0" i="0" sz="1050" u="none" cap="none" strike="noStrike">
              <a:solidFill>
                <a:schemeClr val="dk1"/>
              </a:solidFill>
              <a:latin typeface="Calibri"/>
              <a:ea typeface="Calibri"/>
              <a:cs typeface="Calibri"/>
              <a:sym typeface="Calibri"/>
            </a:endParaRPr>
          </a:p>
        </p:txBody>
      </p:sp>
      <p:sp>
        <p:nvSpPr>
          <p:cNvPr id="95" name="Google Shape;95;p3"/>
          <p:cNvSpPr txBox="1"/>
          <p:nvPr/>
        </p:nvSpPr>
        <p:spPr>
          <a:xfrm>
            <a:off x="822960" y="3794760"/>
            <a:ext cx="4846320" cy="12344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Has suspected ADHD for years; done the online quizzes</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Facing a 2+ year NHS wait or Right to Choose confusion</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Wants a consultant-led diagnosis their GP will accept</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Searches on mobile, late at night, comparing clinics</a:t>
            </a:r>
            <a:endParaRPr b="0" i="0" sz="1150" u="none" cap="none" strike="noStrike">
              <a:solidFill>
                <a:schemeClr val="dk1"/>
              </a:solidFill>
              <a:latin typeface="Calibri"/>
              <a:ea typeface="Calibri"/>
              <a:cs typeface="Calibri"/>
              <a:sym typeface="Calibri"/>
            </a:endParaRPr>
          </a:p>
        </p:txBody>
      </p:sp>
      <p:sp>
        <p:nvSpPr>
          <p:cNvPr id="96" name="Google Shape;96;p3"/>
          <p:cNvSpPr/>
          <p:nvPr/>
        </p:nvSpPr>
        <p:spPr>
          <a:xfrm>
            <a:off x="795528" y="5166360"/>
            <a:ext cx="4846320" cy="457200"/>
          </a:xfrm>
          <a:prstGeom prst="roundRect">
            <a:avLst>
              <a:gd fmla="val 16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txBox="1"/>
          <p:nvPr/>
        </p:nvSpPr>
        <p:spPr>
          <a:xfrm>
            <a:off x="960120" y="516636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B4F"/>
              </a:buClr>
              <a:buSzPts val="1200"/>
              <a:buFont typeface="Poppins"/>
              <a:buNone/>
            </a:pPr>
            <a:r>
              <a:rPr b="1" i="1" lang="en-US" sz="1200" u="none" cap="none" strike="noStrike">
                <a:solidFill>
                  <a:srgbClr val="0F6B4F"/>
                </a:solidFill>
                <a:latin typeface="Poppins"/>
                <a:ea typeface="Poppins"/>
                <a:cs typeface="Poppins"/>
                <a:sym typeface="Poppins"/>
              </a:rPr>
              <a:t>“I need answers — not a two-year wait.”</a:t>
            </a:r>
            <a:endParaRPr b="0" i="0" sz="1200" u="none" cap="none" strike="noStrike">
              <a:solidFill>
                <a:schemeClr val="dk1"/>
              </a:solidFill>
              <a:latin typeface="Calibri"/>
              <a:ea typeface="Calibri"/>
              <a:cs typeface="Calibri"/>
              <a:sym typeface="Calibri"/>
            </a:endParaRPr>
          </a:p>
        </p:txBody>
      </p:sp>
      <p:sp>
        <p:nvSpPr>
          <p:cNvPr id="98" name="Google Shape;98;p3"/>
          <p:cNvSpPr/>
          <p:nvPr/>
        </p:nvSpPr>
        <p:spPr>
          <a:xfrm>
            <a:off x="6245352" y="2560320"/>
            <a:ext cx="5440680" cy="3246120"/>
          </a:xfrm>
          <a:prstGeom prst="roundRect">
            <a:avLst>
              <a:gd fmla="val 281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6537960" y="2834640"/>
            <a:ext cx="658368" cy="658368"/>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award_white.png" id="100" name="Google Shape;100;p3"/>
          <p:cNvPicPr preferRelativeResize="0"/>
          <p:nvPr/>
        </p:nvPicPr>
        <p:blipFill rotWithShape="1">
          <a:blip r:embed="rId4">
            <a:alphaModFix/>
          </a:blip>
          <a:srcRect b="0" l="0" r="0" t="0"/>
          <a:stretch/>
        </p:blipFill>
        <p:spPr>
          <a:xfrm>
            <a:off x="6675120" y="2971800"/>
            <a:ext cx="384048" cy="384048"/>
          </a:xfrm>
          <a:prstGeom prst="rect">
            <a:avLst/>
          </a:prstGeom>
          <a:noFill/>
          <a:ln>
            <a:noFill/>
          </a:ln>
        </p:spPr>
      </p:pic>
      <p:sp>
        <p:nvSpPr>
          <p:cNvPr id="101" name="Google Shape;101;p3"/>
          <p:cNvSpPr txBox="1"/>
          <p:nvPr/>
        </p:nvSpPr>
        <p:spPr>
          <a:xfrm>
            <a:off x="7342632" y="2816352"/>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PERSONA 02</a:t>
            </a:r>
            <a:endParaRPr b="0" i="0" sz="1000" u="none" cap="none" strike="noStrike">
              <a:solidFill>
                <a:schemeClr val="dk1"/>
              </a:solidFill>
              <a:latin typeface="Calibri"/>
              <a:ea typeface="Calibri"/>
              <a:cs typeface="Calibri"/>
              <a:sym typeface="Calibri"/>
            </a:endParaRPr>
          </a:p>
        </p:txBody>
      </p:sp>
      <p:sp>
        <p:nvSpPr>
          <p:cNvPr id="102" name="Google Shape;102;p3"/>
          <p:cNvSpPr txBox="1"/>
          <p:nvPr/>
        </p:nvSpPr>
        <p:spPr>
          <a:xfrm>
            <a:off x="7342632" y="301752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900"/>
              <a:buFont typeface="Poppins"/>
              <a:buNone/>
            </a:pPr>
            <a:r>
              <a:rPr b="1" i="0" lang="en-US" sz="1900" u="none" cap="none" strike="noStrike">
                <a:solidFill>
                  <a:srgbClr val="2B2E2C"/>
                </a:solidFill>
                <a:latin typeface="Poppins"/>
                <a:ea typeface="Poppins"/>
                <a:cs typeface="Poppins"/>
                <a:sym typeface="Poppins"/>
              </a:rPr>
              <a:t>The Woman Joining the Dots</a:t>
            </a:r>
            <a:endParaRPr b="0" i="0" sz="1900" u="none" cap="none" strike="noStrike">
              <a:solidFill>
                <a:schemeClr val="dk1"/>
              </a:solidFill>
              <a:latin typeface="Calibri"/>
              <a:ea typeface="Calibri"/>
              <a:cs typeface="Calibri"/>
              <a:sym typeface="Calibri"/>
            </a:endParaRPr>
          </a:p>
        </p:txBody>
      </p:sp>
      <p:sp>
        <p:nvSpPr>
          <p:cNvPr id="103" name="Google Shape;103;p3"/>
          <p:cNvSpPr txBox="1"/>
          <p:nvPr/>
        </p:nvSpPr>
        <p:spPr>
          <a:xfrm>
            <a:off x="7342632" y="3401568"/>
            <a:ext cx="4206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050"/>
              <a:buFont typeface="Calibri"/>
              <a:buNone/>
            </a:pPr>
            <a:r>
              <a:rPr b="0" i="1" lang="en-US" sz="1050" u="none" cap="none" strike="noStrike">
                <a:solidFill>
                  <a:srgbClr val="6E7873"/>
                </a:solidFill>
                <a:latin typeface="Calibri"/>
                <a:ea typeface="Calibri"/>
                <a:cs typeface="Calibri"/>
                <a:sym typeface="Calibri"/>
              </a:rPr>
              <a:t>Late diagnosis · 35–54 · mostly mothers · perimenopause-aware</a:t>
            </a:r>
            <a:endParaRPr b="0" i="0" sz="1050" u="none" cap="none" strike="noStrike">
              <a:solidFill>
                <a:schemeClr val="dk1"/>
              </a:solidFill>
              <a:latin typeface="Calibri"/>
              <a:ea typeface="Calibri"/>
              <a:cs typeface="Calibri"/>
              <a:sym typeface="Calibri"/>
            </a:endParaRPr>
          </a:p>
        </p:txBody>
      </p:sp>
      <p:sp>
        <p:nvSpPr>
          <p:cNvPr id="104" name="Google Shape;104;p3"/>
          <p:cNvSpPr txBox="1"/>
          <p:nvPr/>
        </p:nvSpPr>
        <p:spPr>
          <a:xfrm>
            <a:off x="6565392" y="3794760"/>
            <a:ext cx="4846320" cy="12344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A child's diagnosis prompted her own questions</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Masked for decades; burnout, anxiety, “scattiness”</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Symptoms worsening in perimenopause</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Wants a clinician who understands ADHD in women</a:t>
            </a:r>
            <a:endParaRPr b="0" i="0" sz="1150" u="none" cap="none" strike="noStrike">
              <a:solidFill>
                <a:schemeClr val="dk1"/>
              </a:solidFill>
              <a:latin typeface="Calibri"/>
              <a:ea typeface="Calibri"/>
              <a:cs typeface="Calibri"/>
              <a:sym typeface="Calibri"/>
            </a:endParaRPr>
          </a:p>
        </p:txBody>
      </p:sp>
      <p:sp>
        <p:nvSpPr>
          <p:cNvPr id="105" name="Google Shape;105;p3"/>
          <p:cNvSpPr/>
          <p:nvPr/>
        </p:nvSpPr>
        <p:spPr>
          <a:xfrm>
            <a:off x="6537960" y="5166360"/>
            <a:ext cx="4846320" cy="457200"/>
          </a:xfrm>
          <a:prstGeom prst="roundRect">
            <a:avLst>
              <a:gd fmla="val 16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txBox="1"/>
          <p:nvPr/>
        </p:nvSpPr>
        <p:spPr>
          <a:xfrm>
            <a:off x="6702552" y="516636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B4F"/>
              </a:buClr>
              <a:buSzPts val="1200"/>
              <a:buFont typeface="Poppins"/>
              <a:buNone/>
            </a:pPr>
            <a:r>
              <a:rPr b="1" i="1" lang="en-US" sz="1200" u="none" cap="none" strike="noStrike">
                <a:solidFill>
                  <a:srgbClr val="0F6B4F"/>
                </a:solidFill>
                <a:latin typeface="Poppins"/>
                <a:ea typeface="Poppins"/>
                <a:cs typeface="Poppins"/>
                <a:sym typeface="Poppins"/>
              </a:rPr>
              <a:t>“It all makes sense now — I want it confirmed.”</a:t>
            </a:r>
            <a:endParaRPr b="0" i="0" sz="1200" u="none" cap="none" strike="noStrike">
              <a:solidFill>
                <a:schemeClr val="dk1"/>
              </a:solidFill>
              <a:latin typeface="Calibri"/>
              <a:ea typeface="Calibri"/>
              <a:cs typeface="Calibri"/>
              <a:sym typeface="Calibri"/>
            </a:endParaRPr>
          </a:p>
        </p:txBody>
      </p:sp>
      <p:sp>
        <p:nvSpPr>
          <p:cNvPr id="107" name="Google Shape;107;p3"/>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114" name="Google Shape;114;p4"/>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01 · SELF-REFERRED ADULT</a:t>
            </a:r>
            <a:endParaRPr b="0" i="0" sz="1250" u="none" cap="none" strike="noStrike">
              <a:solidFill>
                <a:schemeClr val="dk1"/>
              </a:solidFill>
              <a:latin typeface="Calibri"/>
              <a:ea typeface="Calibri"/>
              <a:cs typeface="Calibri"/>
              <a:sym typeface="Calibri"/>
            </a:endParaRPr>
          </a:p>
        </p:txBody>
      </p:sp>
      <p:sp>
        <p:nvSpPr>
          <p:cNvPr id="115" name="Google Shape;115;p4"/>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Stuck Professional</a:t>
            </a:r>
            <a:endParaRPr b="0" i="0" sz="3300" u="none" cap="none" strike="noStrike">
              <a:solidFill>
                <a:schemeClr val="dk1"/>
              </a:solidFill>
              <a:latin typeface="Calibri"/>
              <a:ea typeface="Calibri"/>
              <a:cs typeface="Calibri"/>
              <a:sym typeface="Calibri"/>
            </a:endParaRPr>
          </a:p>
        </p:txBody>
      </p:sp>
      <p:sp>
        <p:nvSpPr>
          <p:cNvPr id="116" name="Google Shape;116;p4"/>
          <p:cNvSpPr/>
          <p:nvPr/>
        </p:nvSpPr>
        <p:spPr>
          <a:xfrm>
            <a:off x="502920" y="2011680"/>
            <a:ext cx="11183112" cy="658368"/>
          </a:xfrm>
          <a:prstGeom prst="roundRect">
            <a:avLst>
              <a:gd fmla="val 13889"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713232" y="2130552"/>
            <a:ext cx="420624" cy="420624"/>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_dark.png" id="118" name="Google Shape;118;p4"/>
          <p:cNvPicPr preferRelativeResize="0"/>
          <p:nvPr/>
        </p:nvPicPr>
        <p:blipFill rotWithShape="1">
          <a:blip r:embed="rId3">
            <a:alphaModFix/>
          </a:blip>
          <a:srcRect b="0" l="0" r="0" t="0"/>
          <a:stretch/>
        </p:blipFill>
        <p:spPr>
          <a:xfrm>
            <a:off x="813816" y="2231136"/>
            <a:ext cx="219456" cy="219456"/>
          </a:xfrm>
          <a:prstGeom prst="rect">
            <a:avLst/>
          </a:prstGeom>
          <a:noFill/>
          <a:ln>
            <a:noFill/>
          </a:ln>
        </p:spPr>
      </p:pic>
      <p:sp>
        <p:nvSpPr>
          <p:cNvPr id="119" name="Google Shape;119;p4"/>
          <p:cNvSpPr txBox="1"/>
          <p:nvPr/>
        </p:nvSpPr>
        <p:spPr>
          <a:xfrm>
            <a:off x="1325880" y="2011680"/>
            <a:ext cx="78638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1" lang="en-US" sz="1600" u="none" cap="none" strike="noStrike">
                <a:solidFill>
                  <a:srgbClr val="FFFFFF"/>
                </a:solidFill>
                <a:latin typeface="Poppins"/>
                <a:ea typeface="Poppins"/>
                <a:cs typeface="Poppins"/>
                <a:sym typeface="Poppins"/>
              </a:rPr>
              <a:t>“I need answers — not a two-year wait.”</a:t>
            </a:r>
            <a:endParaRPr b="0" i="0" sz="1600" u="none" cap="none" strike="noStrike">
              <a:solidFill>
                <a:schemeClr val="dk1"/>
              </a:solidFill>
              <a:latin typeface="Calibri"/>
              <a:ea typeface="Calibri"/>
              <a:cs typeface="Calibri"/>
              <a:sym typeface="Calibri"/>
            </a:endParaRPr>
          </a:p>
        </p:txBody>
      </p:sp>
      <p:sp>
        <p:nvSpPr>
          <p:cNvPr id="120" name="Google Shape;120;p4"/>
          <p:cNvSpPr txBox="1"/>
          <p:nvPr/>
        </p:nvSpPr>
        <p:spPr>
          <a:xfrm>
            <a:off x="9052560" y="2011680"/>
            <a:ext cx="2423160"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Age 25–45</a:t>
            </a:r>
            <a:endParaRPr b="0" i="0" sz="12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Working adults</a:t>
            </a:r>
            <a:endParaRPr b="0" i="0" sz="1200" u="none" cap="none" strike="noStrike">
              <a:solidFill>
                <a:schemeClr val="dk1"/>
              </a:solidFill>
              <a:latin typeface="Calibri"/>
              <a:ea typeface="Calibri"/>
              <a:cs typeface="Calibri"/>
              <a:sym typeface="Calibri"/>
            </a:endParaRPr>
          </a:p>
        </p:txBody>
      </p:sp>
      <p:sp>
        <p:nvSpPr>
          <p:cNvPr id="121" name="Google Shape;121;p4"/>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777240" y="3127248"/>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list_white.png" id="123" name="Google Shape;123;p4"/>
          <p:cNvPicPr preferRelativeResize="0"/>
          <p:nvPr/>
        </p:nvPicPr>
        <p:blipFill rotWithShape="1">
          <a:blip r:embed="rId4">
            <a:alphaModFix/>
          </a:blip>
          <a:srcRect b="0" l="0" r="0" t="0"/>
          <a:stretch/>
        </p:blipFill>
        <p:spPr>
          <a:xfrm>
            <a:off x="914400" y="3264408"/>
            <a:ext cx="274320" cy="274320"/>
          </a:xfrm>
          <a:prstGeom prst="rect">
            <a:avLst/>
          </a:prstGeom>
          <a:noFill/>
          <a:ln>
            <a:noFill/>
          </a:ln>
        </p:spPr>
      </p:pic>
      <p:sp>
        <p:nvSpPr>
          <p:cNvPr id="124" name="Google Shape;124;p4"/>
          <p:cNvSpPr txBox="1"/>
          <p:nvPr/>
        </p:nvSpPr>
        <p:spPr>
          <a:xfrm>
            <a:off x="1453896"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125" name="Google Shape;125;p4"/>
          <p:cNvSpPr txBox="1"/>
          <p:nvPr/>
        </p:nvSpPr>
        <p:spPr>
          <a:xfrm>
            <a:off x="813816"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Working or studying; juggling deadlines and admin</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Suspected ADHD for years; has done online quizzes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partner, friend or therapist suggested an assessment</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Researches on mobile late at night, comparing clinics</a:t>
            </a:r>
            <a:endParaRPr b="0" i="0" sz="1100" u="none" cap="none" strike="noStrike">
              <a:solidFill>
                <a:schemeClr val="dk1"/>
              </a:solidFill>
              <a:latin typeface="Calibri"/>
              <a:ea typeface="Calibri"/>
              <a:cs typeface="Calibri"/>
              <a:sym typeface="Calibri"/>
            </a:endParaRPr>
          </a:p>
        </p:txBody>
      </p:sp>
      <p:sp>
        <p:nvSpPr>
          <p:cNvPr id="126" name="Google Shape;126;p4"/>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6519672" y="3127248"/>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white.png" id="128" name="Google Shape;128;p4"/>
          <p:cNvPicPr preferRelativeResize="0"/>
          <p:nvPr/>
        </p:nvPicPr>
        <p:blipFill rotWithShape="1">
          <a:blip r:embed="rId5">
            <a:alphaModFix/>
          </a:blip>
          <a:srcRect b="0" l="0" r="0" t="0"/>
          <a:stretch/>
        </p:blipFill>
        <p:spPr>
          <a:xfrm>
            <a:off x="6656832" y="3264408"/>
            <a:ext cx="274320" cy="274320"/>
          </a:xfrm>
          <a:prstGeom prst="rect">
            <a:avLst/>
          </a:prstGeom>
          <a:noFill/>
          <a:ln>
            <a:noFill/>
          </a:ln>
        </p:spPr>
      </p:pic>
      <p:sp>
        <p:nvSpPr>
          <p:cNvPr id="129" name="Google Shape;129;p4"/>
          <p:cNvSpPr txBox="1"/>
          <p:nvPr/>
        </p:nvSpPr>
        <p:spPr>
          <a:xfrm>
            <a:off x="7196328"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130" name="Google Shape;130;p4"/>
          <p:cNvSpPr txBox="1"/>
          <p:nvPr/>
        </p:nvSpPr>
        <p:spPr>
          <a:xfrm>
            <a:off x="6556248"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credible diagnosis from a consultant psychiatrist</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report their GP and employer will accept</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route to treatment and titration if diagnosed</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To understand themselves and stop white-knuckling life</a:t>
            </a:r>
            <a:endParaRPr b="0" i="0" sz="1100" u="none" cap="none" strike="noStrike">
              <a:solidFill>
                <a:schemeClr val="dk1"/>
              </a:solidFill>
              <a:latin typeface="Calibri"/>
              <a:ea typeface="Calibri"/>
              <a:cs typeface="Calibri"/>
              <a:sym typeface="Calibri"/>
            </a:endParaRPr>
          </a:p>
        </p:txBody>
      </p:sp>
      <p:sp>
        <p:nvSpPr>
          <p:cNvPr id="131" name="Google Shape;131;p4"/>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777240" y="4974336"/>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warning_white.png" id="133" name="Google Shape;133;p4"/>
          <p:cNvPicPr preferRelativeResize="0"/>
          <p:nvPr/>
        </p:nvPicPr>
        <p:blipFill rotWithShape="1">
          <a:blip r:embed="rId6">
            <a:alphaModFix/>
          </a:blip>
          <a:srcRect b="0" l="0" r="0" t="0"/>
          <a:stretch/>
        </p:blipFill>
        <p:spPr>
          <a:xfrm>
            <a:off x="914400" y="5111496"/>
            <a:ext cx="274320" cy="274320"/>
          </a:xfrm>
          <a:prstGeom prst="rect">
            <a:avLst/>
          </a:prstGeom>
          <a:noFill/>
          <a:ln>
            <a:noFill/>
          </a:ln>
        </p:spPr>
      </p:pic>
      <p:sp>
        <p:nvSpPr>
          <p:cNvPr id="134" name="Google Shape;134;p4"/>
          <p:cNvSpPr txBox="1"/>
          <p:nvPr/>
        </p:nvSpPr>
        <p:spPr>
          <a:xfrm>
            <a:off x="1453896"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135" name="Google Shape;135;p4"/>
          <p:cNvSpPr txBox="1"/>
          <p:nvPr/>
        </p:nvSpPr>
        <p:spPr>
          <a:xfrm>
            <a:off x="813816"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NHS waiting lists of 2+ years; Right to Choose confusion</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Fear of being dismissed — “everyone's a bit ADHD”</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Worry about cost and whether private “counts”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Overwhelmed by online tests and conflicting advice</a:t>
            </a:r>
            <a:endParaRPr b="0" i="0" sz="1100" u="none" cap="none" strike="noStrike">
              <a:solidFill>
                <a:schemeClr val="dk1"/>
              </a:solidFill>
              <a:latin typeface="Calibri"/>
              <a:ea typeface="Calibri"/>
              <a:cs typeface="Calibri"/>
              <a:sym typeface="Calibri"/>
            </a:endParaRPr>
          </a:p>
        </p:txBody>
      </p:sp>
      <p:sp>
        <p:nvSpPr>
          <p:cNvPr id="136" name="Google Shape;136;p4"/>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6519672" y="4974336"/>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olt_white.png" id="138" name="Google Shape;138;p4"/>
          <p:cNvPicPr preferRelativeResize="0"/>
          <p:nvPr/>
        </p:nvPicPr>
        <p:blipFill rotWithShape="1">
          <a:blip r:embed="rId7">
            <a:alphaModFix/>
          </a:blip>
          <a:srcRect b="0" l="0" r="0" t="0"/>
          <a:stretch/>
        </p:blipFill>
        <p:spPr>
          <a:xfrm>
            <a:off x="6656832" y="5111496"/>
            <a:ext cx="274320" cy="274320"/>
          </a:xfrm>
          <a:prstGeom prst="rect">
            <a:avLst/>
          </a:prstGeom>
          <a:noFill/>
          <a:ln>
            <a:noFill/>
          </a:ln>
        </p:spPr>
      </p:pic>
      <p:sp>
        <p:nvSpPr>
          <p:cNvPr id="139" name="Google Shape;139;p4"/>
          <p:cNvSpPr txBox="1"/>
          <p:nvPr/>
        </p:nvSpPr>
        <p:spPr>
          <a:xfrm>
            <a:off x="7196328"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140" name="Google Shape;140;p4"/>
          <p:cNvSpPr txBox="1"/>
          <p:nvPr/>
        </p:nvSpPr>
        <p:spPr>
          <a:xfrm>
            <a:off x="6556248"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Consultant-led, NICE-compliant assessment (DIVA-5)</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Online or Manchester clinic within weeks, not years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Transparent price (£850) and a free 15-min consultation</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Report written for GP shared care</a:t>
            </a:r>
            <a:endParaRPr b="0" i="0" sz="1100" u="none" cap="none" strike="noStrike">
              <a:solidFill>
                <a:schemeClr val="dk1"/>
              </a:solidFill>
              <a:latin typeface="Calibri"/>
              <a:ea typeface="Calibri"/>
              <a:cs typeface="Calibri"/>
              <a:sym typeface="Calibri"/>
            </a:endParaRPr>
          </a:p>
        </p:txBody>
      </p:sp>
      <p:sp>
        <p:nvSpPr>
          <p:cNvPr id="141" name="Google Shape;141;p4"/>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148" name="Google Shape;148;p5"/>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02 · LATE-DIAGNOSED WOMAN</a:t>
            </a:r>
            <a:endParaRPr b="0" i="0" sz="1250" u="none" cap="none" strike="noStrike">
              <a:solidFill>
                <a:schemeClr val="dk1"/>
              </a:solidFill>
              <a:latin typeface="Calibri"/>
              <a:ea typeface="Calibri"/>
              <a:cs typeface="Calibri"/>
              <a:sym typeface="Calibri"/>
            </a:endParaRPr>
          </a:p>
        </p:txBody>
      </p:sp>
      <p:sp>
        <p:nvSpPr>
          <p:cNvPr id="149" name="Google Shape;149;p5"/>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Woman Joining the Dots</a:t>
            </a:r>
            <a:endParaRPr b="0" i="0" sz="3300" u="none" cap="none" strike="noStrike">
              <a:solidFill>
                <a:schemeClr val="dk1"/>
              </a:solidFill>
              <a:latin typeface="Calibri"/>
              <a:ea typeface="Calibri"/>
              <a:cs typeface="Calibri"/>
              <a:sym typeface="Calibri"/>
            </a:endParaRPr>
          </a:p>
        </p:txBody>
      </p:sp>
      <p:sp>
        <p:nvSpPr>
          <p:cNvPr id="150" name="Google Shape;150;p5"/>
          <p:cNvSpPr/>
          <p:nvPr/>
        </p:nvSpPr>
        <p:spPr>
          <a:xfrm>
            <a:off x="502920" y="2011680"/>
            <a:ext cx="11183112" cy="658368"/>
          </a:xfrm>
          <a:prstGeom prst="roundRect">
            <a:avLst>
              <a:gd fmla="val 13889"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713232" y="2130552"/>
            <a:ext cx="420624" cy="420624"/>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_dark.png" id="152" name="Google Shape;152;p5"/>
          <p:cNvPicPr preferRelativeResize="0"/>
          <p:nvPr/>
        </p:nvPicPr>
        <p:blipFill rotWithShape="1">
          <a:blip r:embed="rId3">
            <a:alphaModFix/>
          </a:blip>
          <a:srcRect b="0" l="0" r="0" t="0"/>
          <a:stretch/>
        </p:blipFill>
        <p:spPr>
          <a:xfrm>
            <a:off x="813816" y="2231136"/>
            <a:ext cx="219456" cy="219456"/>
          </a:xfrm>
          <a:prstGeom prst="rect">
            <a:avLst/>
          </a:prstGeom>
          <a:noFill/>
          <a:ln>
            <a:noFill/>
          </a:ln>
        </p:spPr>
      </p:pic>
      <p:sp>
        <p:nvSpPr>
          <p:cNvPr id="153" name="Google Shape;153;p5"/>
          <p:cNvSpPr txBox="1"/>
          <p:nvPr/>
        </p:nvSpPr>
        <p:spPr>
          <a:xfrm>
            <a:off x="1325880" y="2011680"/>
            <a:ext cx="78638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1" lang="en-US" sz="1600" u="none" cap="none" strike="noStrike">
                <a:solidFill>
                  <a:srgbClr val="FFFFFF"/>
                </a:solidFill>
                <a:latin typeface="Poppins"/>
                <a:ea typeface="Poppins"/>
                <a:cs typeface="Poppins"/>
                <a:sym typeface="Poppins"/>
              </a:rPr>
              <a:t>“It all makes sense now — I want it confirmed.”</a:t>
            </a:r>
            <a:endParaRPr b="0" i="0" sz="1600" u="none" cap="none" strike="noStrike">
              <a:solidFill>
                <a:schemeClr val="dk1"/>
              </a:solidFill>
              <a:latin typeface="Calibri"/>
              <a:ea typeface="Calibri"/>
              <a:cs typeface="Calibri"/>
              <a:sym typeface="Calibri"/>
            </a:endParaRPr>
          </a:p>
        </p:txBody>
      </p:sp>
      <p:sp>
        <p:nvSpPr>
          <p:cNvPr id="154" name="Google Shape;154;p5"/>
          <p:cNvSpPr txBox="1"/>
          <p:nvPr/>
        </p:nvSpPr>
        <p:spPr>
          <a:xfrm>
            <a:off x="9052560" y="2011680"/>
            <a:ext cx="2423160"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Age 35–54</a:t>
            </a:r>
            <a:endParaRPr b="0" i="0" sz="12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Mostly female</a:t>
            </a:r>
            <a:endParaRPr b="0" i="0" sz="1200" u="none" cap="none" strike="noStrike">
              <a:solidFill>
                <a:schemeClr val="dk1"/>
              </a:solidFill>
              <a:latin typeface="Calibri"/>
              <a:ea typeface="Calibri"/>
              <a:cs typeface="Calibri"/>
              <a:sym typeface="Calibri"/>
            </a:endParaRPr>
          </a:p>
        </p:txBody>
      </p:sp>
      <p:sp>
        <p:nvSpPr>
          <p:cNvPr id="155" name="Google Shape;155;p5"/>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777240" y="3127248"/>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list_white.png" id="157" name="Google Shape;157;p5"/>
          <p:cNvPicPr preferRelativeResize="0"/>
          <p:nvPr/>
        </p:nvPicPr>
        <p:blipFill rotWithShape="1">
          <a:blip r:embed="rId4">
            <a:alphaModFix/>
          </a:blip>
          <a:srcRect b="0" l="0" r="0" t="0"/>
          <a:stretch/>
        </p:blipFill>
        <p:spPr>
          <a:xfrm>
            <a:off x="914400" y="3264408"/>
            <a:ext cx="274320" cy="274320"/>
          </a:xfrm>
          <a:prstGeom prst="rect">
            <a:avLst/>
          </a:prstGeom>
          <a:noFill/>
          <a:ln>
            <a:noFill/>
          </a:ln>
        </p:spPr>
      </p:pic>
      <p:sp>
        <p:nvSpPr>
          <p:cNvPr id="158" name="Google Shape;158;p5"/>
          <p:cNvSpPr txBox="1"/>
          <p:nvPr/>
        </p:nvSpPr>
        <p:spPr>
          <a:xfrm>
            <a:off x="1453896"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159" name="Google Shape;159;p5"/>
          <p:cNvSpPr txBox="1"/>
          <p:nvPr/>
        </p:nvSpPr>
        <p:spPr>
          <a:xfrm>
            <a:off x="813816"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Often a mother — a child's diagnosis raised her own questions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Has masked symptoms for decades; burnout and anxiety</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Noticing symptoms worsen in perimenopause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Reads widely: ADHD in women, late diagnosis, hormones</a:t>
            </a:r>
            <a:endParaRPr b="0" i="0" sz="1100" u="none" cap="none" strike="noStrike">
              <a:solidFill>
                <a:schemeClr val="dk1"/>
              </a:solidFill>
              <a:latin typeface="Calibri"/>
              <a:ea typeface="Calibri"/>
              <a:cs typeface="Calibri"/>
              <a:sym typeface="Calibri"/>
            </a:endParaRPr>
          </a:p>
        </p:txBody>
      </p:sp>
      <p:sp>
        <p:nvSpPr>
          <p:cNvPr id="160" name="Google Shape;160;p5"/>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6519672" y="3127248"/>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white.png" id="162" name="Google Shape;162;p5"/>
          <p:cNvPicPr preferRelativeResize="0"/>
          <p:nvPr/>
        </p:nvPicPr>
        <p:blipFill rotWithShape="1">
          <a:blip r:embed="rId5">
            <a:alphaModFix/>
          </a:blip>
          <a:srcRect b="0" l="0" r="0" t="0"/>
          <a:stretch/>
        </p:blipFill>
        <p:spPr>
          <a:xfrm>
            <a:off x="6656832" y="3264408"/>
            <a:ext cx="274320" cy="274320"/>
          </a:xfrm>
          <a:prstGeom prst="rect">
            <a:avLst/>
          </a:prstGeom>
          <a:noFill/>
          <a:ln>
            <a:noFill/>
          </a:ln>
        </p:spPr>
      </p:pic>
      <p:sp>
        <p:nvSpPr>
          <p:cNvPr id="163" name="Google Shape;163;p5"/>
          <p:cNvSpPr txBox="1"/>
          <p:nvPr/>
        </p:nvSpPr>
        <p:spPr>
          <a:xfrm>
            <a:off x="7196328"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164" name="Google Shape;164;p5"/>
          <p:cNvSpPr txBox="1"/>
          <p:nvPr/>
        </p:nvSpPr>
        <p:spPr>
          <a:xfrm>
            <a:off x="6556248"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Recognition that her struggles were ADHD, not failure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clinician who understands ADHD in women</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plan that covers medication and hormones together</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Confidence to tell family, GP and employer</a:t>
            </a:r>
            <a:endParaRPr b="0" i="0" sz="1100" u="none" cap="none" strike="noStrike">
              <a:solidFill>
                <a:schemeClr val="dk1"/>
              </a:solidFill>
              <a:latin typeface="Calibri"/>
              <a:ea typeface="Calibri"/>
              <a:cs typeface="Calibri"/>
              <a:sym typeface="Calibri"/>
            </a:endParaRPr>
          </a:p>
        </p:txBody>
      </p:sp>
      <p:sp>
        <p:nvSpPr>
          <p:cNvPr id="165" name="Google Shape;165;p5"/>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777240" y="4974336"/>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warning_white.png" id="167" name="Google Shape;167;p5"/>
          <p:cNvPicPr preferRelativeResize="0"/>
          <p:nvPr/>
        </p:nvPicPr>
        <p:blipFill rotWithShape="1">
          <a:blip r:embed="rId6">
            <a:alphaModFix/>
          </a:blip>
          <a:srcRect b="0" l="0" r="0" t="0"/>
          <a:stretch/>
        </p:blipFill>
        <p:spPr>
          <a:xfrm>
            <a:off x="914400" y="5111496"/>
            <a:ext cx="274320" cy="274320"/>
          </a:xfrm>
          <a:prstGeom prst="rect">
            <a:avLst/>
          </a:prstGeom>
          <a:noFill/>
          <a:ln>
            <a:noFill/>
          </a:ln>
        </p:spPr>
      </p:pic>
      <p:sp>
        <p:nvSpPr>
          <p:cNvPr id="168" name="Google Shape;168;p5"/>
          <p:cNvSpPr txBox="1"/>
          <p:nvPr/>
        </p:nvSpPr>
        <p:spPr>
          <a:xfrm>
            <a:off x="1453896"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169" name="Google Shape;169;p5"/>
          <p:cNvSpPr txBox="1"/>
          <p:nvPr/>
        </p:nvSpPr>
        <p:spPr>
          <a:xfrm>
            <a:off x="813816"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Missed as a girl; feels dismissed by GPs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Work, children and home — no capacity left</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Fear of being judged for “self-diagnosing” online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NHS lists mean years more of the same</a:t>
            </a:r>
            <a:endParaRPr b="0" i="0" sz="1100" u="none" cap="none" strike="noStrike">
              <a:solidFill>
                <a:schemeClr val="dk1"/>
              </a:solidFill>
              <a:latin typeface="Calibri"/>
              <a:ea typeface="Calibri"/>
              <a:cs typeface="Calibri"/>
              <a:sym typeface="Calibri"/>
            </a:endParaRPr>
          </a:p>
        </p:txBody>
      </p:sp>
      <p:sp>
        <p:nvSpPr>
          <p:cNvPr id="170" name="Google Shape;170;p5"/>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6519672" y="4974336"/>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olt_white.png" id="172" name="Google Shape;172;p5"/>
          <p:cNvPicPr preferRelativeResize="0"/>
          <p:nvPr/>
        </p:nvPicPr>
        <p:blipFill rotWithShape="1">
          <a:blip r:embed="rId7">
            <a:alphaModFix/>
          </a:blip>
          <a:srcRect b="0" l="0" r="0" t="0"/>
          <a:stretch/>
        </p:blipFill>
        <p:spPr>
          <a:xfrm>
            <a:off x="6656832" y="5111496"/>
            <a:ext cx="274320" cy="274320"/>
          </a:xfrm>
          <a:prstGeom prst="rect">
            <a:avLst/>
          </a:prstGeom>
          <a:noFill/>
          <a:ln>
            <a:noFill/>
          </a:ln>
        </p:spPr>
      </p:pic>
      <p:sp>
        <p:nvSpPr>
          <p:cNvPr id="173" name="Google Shape;173;p5"/>
          <p:cNvSpPr txBox="1"/>
          <p:nvPr/>
        </p:nvSpPr>
        <p:spPr>
          <a:xfrm>
            <a:off x="7196328"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174" name="Google Shape;174;p5"/>
          <p:cNvSpPr txBox="1"/>
          <p:nvPr/>
        </p:nvSpPr>
        <p:spPr>
          <a:xfrm>
            <a:off x="6556248"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women-focused ADHD and perimenopause pathway</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Female consultant psychiatrist-delivered assessment</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Private, fast, online — fits around family life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Clear written report and next-step support</a:t>
            </a:r>
            <a:endParaRPr b="0" i="0" sz="1100" u="none" cap="none" strike="noStrike">
              <a:solidFill>
                <a:schemeClr val="dk1"/>
              </a:solidFill>
              <a:latin typeface="Calibri"/>
              <a:ea typeface="Calibri"/>
              <a:cs typeface="Calibri"/>
              <a:sym typeface="Calibri"/>
            </a:endParaRPr>
          </a:p>
        </p:txBody>
      </p:sp>
      <p:sp>
        <p:nvSpPr>
          <p:cNvPr id="175" name="Google Shape;175;p5"/>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182" name="Google Shape;182;p6"/>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KEYWORDS &amp; AD GROUPS</a:t>
            </a:r>
            <a:endParaRPr b="0" i="0" sz="1250" u="none" cap="none" strike="noStrike">
              <a:solidFill>
                <a:schemeClr val="dk1"/>
              </a:solidFill>
              <a:latin typeface="Calibri"/>
              <a:ea typeface="Calibri"/>
              <a:cs typeface="Calibri"/>
              <a:sym typeface="Calibri"/>
            </a:endParaRPr>
          </a:p>
        </p:txBody>
      </p:sp>
      <p:sp>
        <p:nvSpPr>
          <p:cNvPr id="183" name="Google Shape;183;p6"/>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Ten Intent-Based Ad Groups</a:t>
            </a:r>
            <a:endParaRPr b="0" i="0" sz="3300" u="none" cap="none" strike="noStrike">
              <a:solidFill>
                <a:schemeClr val="dk1"/>
              </a:solidFill>
              <a:latin typeface="Calibri"/>
              <a:ea typeface="Calibri"/>
              <a:cs typeface="Calibri"/>
              <a:sym typeface="Calibri"/>
            </a:endParaRPr>
          </a:p>
        </p:txBody>
      </p:sp>
      <p:sp>
        <p:nvSpPr>
          <p:cNvPr id="184" name="Google Shape;184;p6"/>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Keywords are grouped by search intent for tighter relevance, higher Quality Scores and lower CPCs. Location terms sit in their own groups for Manchester-specific copy; broad “adhd test” and quiz-style searches are excluded so spend stays on people looking for a diagnosis.</a:t>
            </a:r>
            <a:endParaRPr b="0" i="0" sz="1350" u="none" cap="none" strike="noStrike">
              <a:solidFill>
                <a:schemeClr val="dk1"/>
              </a:solidFill>
              <a:latin typeface="Calibri"/>
              <a:ea typeface="Calibri"/>
              <a:cs typeface="Calibri"/>
              <a:sym typeface="Calibri"/>
            </a:endParaRPr>
          </a:p>
        </p:txBody>
      </p:sp>
      <p:graphicFrame>
        <p:nvGraphicFramePr>
          <p:cNvPr id="185" name="Google Shape;185;p6"/>
          <p:cNvGraphicFramePr/>
          <p:nvPr/>
        </p:nvGraphicFramePr>
        <p:xfrm>
          <a:off x="502920" y="2542032"/>
          <a:ext cx="3000000" cy="3000000"/>
        </p:xfrm>
        <a:graphic>
          <a:graphicData uri="http://schemas.openxmlformats.org/drawingml/2006/table">
            <a:tbl>
              <a:tblPr>
                <a:noFill/>
                <a:tableStyleId>{204FECF3-62DE-486B-8169-76E5466ED5D8}</a:tableStyleId>
              </a:tblPr>
              <a:tblGrid>
                <a:gridCol w="502925"/>
                <a:gridCol w="3566150"/>
                <a:gridCol w="3383275"/>
                <a:gridCol w="914400"/>
                <a:gridCol w="1280150"/>
                <a:gridCol w="1536200"/>
              </a:tblGrid>
              <a:tr h="251450">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Ad Group</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Search Intent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KWs</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Est. Vol.*</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Bid Range</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Private ADHD Assessment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Private-pay intent</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37</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2,210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£2.69–£6.33</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2</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ADHD Assessment &amp; Diagnosis</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Core assessment / diagnosis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53</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3,270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£1.98–£5.60</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3</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Adult ADHD Assessment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Adult-specific terms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34</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1,520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£1.81–£4.50</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4</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How to Get Diagnosed</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“How / where do I get tested”</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204</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3,750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£1.34–£3.06</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5</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Cost &amp; Pricing</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Price / “how much”</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73</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1,000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£1.03–£3.07</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6</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Near Me</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Local intent</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40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450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£2.47–£6.89</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7</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Manchester</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City intent</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12</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660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£3.05–£7.59</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8</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Liverpool · Cheshire · NW Towns</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Regional towns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8</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270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£2.40–£5.87</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9</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ADHD Clinic &amp; Psychiatrist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Provider intent · exact match only</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20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440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£2.12–£7.34</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10</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ADHD in Women</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Women / late diagnosis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61</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780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£1.08–£3.15</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bl>
          </a:graphicData>
        </a:graphic>
      </p:graphicFrame>
      <p:sp>
        <p:nvSpPr>
          <p:cNvPr id="186" name="Google Shape;186;p6"/>
          <p:cNvSpPr txBox="1"/>
          <p:nvPr/>
        </p:nvSpPr>
        <p:spPr>
          <a:xfrm>
            <a:off x="502920" y="5417820"/>
            <a:ext cx="109728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 North West England monthly searches, Google Keyword Planner (Sep 2025 – Aug 2026).</a:t>
            </a:r>
            <a:endParaRPr b="0" i="0" sz="950" u="none" cap="none" strike="noStrike">
              <a:solidFill>
                <a:schemeClr val="dk1"/>
              </a:solidFill>
              <a:latin typeface="Calibri"/>
              <a:ea typeface="Calibri"/>
              <a:cs typeface="Calibri"/>
              <a:sym typeface="Calibri"/>
            </a:endParaRPr>
          </a:p>
        </p:txBody>
      </p:sp>
      <p:sp>
        <p:nvSpPr>
          <p:cNvPr id="187" name="Google Shape;187;p6"/>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7"/>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194" name="Google Shape;194;p7"/>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KEYWORDS &amp; AD GROUPS</a:t>
            </a:r>
            <a:endParaRPr b="0" i="0" sz="1250" u="none" cap="none" strike="noStrike">
              <a:solidFill>
                <a:schemeClr val="dk1"/>
              </a:solidFill>
              <a:latin typeface="Calibri"/>
              <a:ea typeface="Calibri"/>
              <a:cs typeface="Calibri"/>
              <a:sym typeface="Calibri"/>
            </a:endParaRPr>
          </a:p>
        </p:txBody>
      </p:sp>
      <p:sp>
        <p:nvSpPr>
          <p:cNvPr id="195" name="Google Shape;195;p7"/>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Full Keyword List &amp; Bids  (1 of 2)</a:t>
            </a:r>
            <a:endParaRPr b="0" i="0" sz="3300" u="none" cap="none" strike="noStrike">
              <a:solidFill>
                <a:schemeClr val="dk1"/>
              </a:solidFill>
              <a:latin typeface="Calibri"/>
              <a:ea typeface="Calibri"/>
              <a:cs typeface="Calibri"/>
              <a:sym typeface="Calibri"/>
            </a:endParaRPr>
          </a:p>
        </p:txBody>
      </p:sp>
      <p:graphicFrame>
        <p:nvGraphicFramePr>
          <p:cNvPr id="196" name="Google Shape;196;p7"/>
          <p:cNvGraphicFramePr/>
          <p:nvPr/>
        </p:nvGraphicFramePr>
        <p:xfrm>
          <a:off x="502920"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1  Private ADHD Assessment</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£2.62–£6.87</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assessment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590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£2.41–£5.60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390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£2.56–£7.30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private test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£2.32–£5.14</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diagnosis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£2.69–£8.87</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private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40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£3.03–£7.25</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 private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£2.31–£5.94</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197" name="Google Shape;197;p7"/>
          <p:cNvGraphicFramePr/>
          <p:nvPr/>
        </p:nvGraphicFramePr>
        <p:xfrm>
          <a:off x="4288536"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2  ADHD Assessment &amp; Diagnosis</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1,000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£1.96–£6.74</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1,000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£1.53–£4.20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£1.47–£4.76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260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£2.37–£6.84</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get a adhd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140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£1.46–£4.15</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who can diagnose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40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L</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£1.10–£5.81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get adhd diagnosis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£2.01–£6.51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198" name="Google Shape;198;p7"/>
          <p:cNvGraphicFramePr/>
          <p:nvPr/>
        </p:nvGraphicFramePr>
        <p:xfrm>
          <a:off x="8074152"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3  Adult ADHD Assessment</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adult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880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£2.18–£6.85</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adult adhd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£1.37–£3.51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adult adhd diagnosis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£1.59–£4.06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adult adhd assessment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£2.39–£5.71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getting diagnosed with adhd as an adult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£1.71–£3.59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adults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£2.33–£17.91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uk adults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£1.74–£5.13</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199" name="Google Shape;199;p7"/>
          <p:cNvGraphicFramePr/>
          <p:nvPr/>
        </p:nvGraphicFramePr>
        <p:xfrm>
          <a:off x="502920" y="425196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4  How to Get Diagnosed</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do i get an adhd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£1.10–£2.80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get tested for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480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£1.17–£3.03</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do i get diagnosed with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170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£0.83–£2.23</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get adult adhd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90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£1.26–£3.06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diagnose adhd in adults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£0.60–£1.70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get tested for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£1.73–£4.20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get an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£1.36–£3.29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200" name="Google Shape;200;p7"/>
          <p:cNvGraphicFramePr/>
          <p:nvPr/>
        </p:nvGraphicFramePr>
        <p:xfrm>
          <a:off x="4288536" y="425196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5  Cost &amp; Pricing</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diagnosis uk cost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90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£1.72–£3.88</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private diagnosis cost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£1.47–£4.69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much is a private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£1.03–£3.06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cost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£1.21–£3.09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assessment cost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£0.97–£3.08</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cost of private adhd assessment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£1.03–£3.08</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much does a private adhd assessment cost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£0.72–£3.06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201" name="Google Shape;201;p7"/>
          <p:cNvGraphicFramePr/>
          <p:nvPr/>
        </p:nvGraphicFramePr>
        <p:xfrm>
          <a:off x="8074152" y="425196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6  Near Me</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assessment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£2.53–£6.89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for adults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£2.71–£6.98</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adult assessment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adult diagnosis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adult testing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 adults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 for adults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202" name="Google Shape;202;p7"/>
          <p:cNvSpPr txBox="1"/>
          <p:nvPr/>
        </p:nvSpPr>
        <p:spPr>
          <a:xfrm>
            <a:off x="502920" y="6199632"/>
            <a:ext cx="1115568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850"/>
              <a:buFont typeface="Calibri"/>
              <a:buNone/>
            </a:pPr>
            <a:r>
              <a:rPr b="0" i="0" lang="en-US" sz="850" u="none" cap="none" strike="noStrike">
                <a:solidFill>
                  <a:srgbClr val="6E7873"/>
                </a:solidFill>
                <a:latin typeface="Calibri"/>
                <a:ea typeface="Calibri"/>
                <a:cs typeface="Calibri"/>
                <a:sym typeface="Calibri"/>
              </a:rPr>
              <a:t>Vol. = North West England average monthly searches (Keyword Planner, Sep 2025 – Aug 2026) · H/M/L = competition · bid = Planner top-of-page low–high. Top terms per ad group shown.</a:t>
            </a:r>
            <a:endParaRPr b="0" i="0" sz="850" u="none" cap="none" strike="noStrike">
              <a:solidFill>
                <a:schemeClr val="dk1"/>
              </a:solidFill>
              <a:latin typeface="Calibri"/>
              <a:ea typeface="Calibri"/>
              <a:cs typeface="Calibri"/>
              <a:sym typeface="Calibri"/>
            </a:endParaRPr>
          </a:p>
        </p:txBody>
      </p:sp>
      <p:sp>
        <p:nvSpPr>
          <p:cNvPr id="203" name="Google Shape;203;p7"/>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8"/>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210" name="Google Shape;210;p8"/>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KEYWORDS &amp; AD GROUPS</a:t>
            </a:r>
            <a:endParaRPr b="0" i="0" sz="1250" u="none" cap="none" strike="noStrike">
              <a:solidFill>
                <a:schemeClr val="dk1"/>
              </a:solidFill>
              <a:latin typeface="Calibri"/>
              <a:ea typeface="Calibri"/>
              <a:cs typeface="Calibri"/>
              <a:sym typeface="Calibri"/>
            </a:endParaRPr>
          </a:p>
        </p:txBody>
      </p:sp>
      <p:sp>
        <p:nvSpPr>
          <p:cNvPr id="211" name="Google Shape;211;p8"/>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Full Keyword List &amp; Bids  (2 of 2)</a:t>
            </a:r>
            <a:endParaRPr b="0" i="0" sz="3300" u="none" cap="none" strike="noStrike">
              <a:solidFill>
                <a:schemeClr val="dk1"/>
              </a:solidFill>
              <a:latin typeface="Calibri"/>
              <a:ea typeface="Calibri"/>
              <a:cs typeface="Calibri"/>
              <a:sym typeface="Calibri"/>
            </a:endParaRPr>
          </a:p>
        </p:txBody>
      </p:sp>
      <p:graphicFrame>
        <p:nvGraphicFramePr>
          <p:cNvPr id="212" name="Google Shape;212;p8"/>
          <p:cNvGraphicFramePr/>
          <p:nvPr/>
        </p:nvGraphicFramePr>
        <p:xfrm>
          <a:off x="502920"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7  Manchester</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140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£3.07–£11.63</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140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£2.99–£7.26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clinic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£3.06–£8.51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assessment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£3.08–£10.34</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£2.39–£6.03</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testing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40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£2.12–£7.59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manchester adhd clinic</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£3.05–£5.27</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213" name="Google Shape;213;p8"/>
          <p:cNvGraphicFramePr/>
          <p:nvPr/>
        </p:nvGraphicFramePr>
        <p:xfrm>
          <a:off x="4288536"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8  Liverpool · Cheshire · NW Towns</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liverpool</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£2.31–£7.54</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adhd assessment liverpool</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£2.91–£6.37</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testing liverpool</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£2.48–£5.29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cheshire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£4.45–£14.75</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stockport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£1.55–£5.17</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liverpool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£1.48–£5.37</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lancashire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£1.54–£2.31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214" name="Google Shape;214;p8"/>
          <p:cNvGraphicFramePr/>
          <p:nvPr/>
        </p:nvGraphicFramePr>
        <p:xfrm>
          <a:off x="8074152"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9  ADHD Clinic &amp; Psychiatrist</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clinic</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£2.05–£8.69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psychiatrist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50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£2.07–£13.69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adult clinic</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clinic</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£1.59–£7.36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clinic for adults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clinic uk</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£2.18–£7.32</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clinical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£2.24–£5.01</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215" name="Google Shape;215;p8"/>
          <p:cNvGraphicFramePr/>
          <p:nvPr/>
        </p:nvGraphicFramePr>
        <p:xfrm>
          <a:off x="502920" y="425196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10  ADHD in Women</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female adhd test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£0.62–£2.04</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test for women</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£0.78–£2.15</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get diagnosed with adhd as a woman</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£0.96–£3.00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add test for adult women</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adult female test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adult women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adult women test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216" name="Google Shape;216;p8"/>
          <p:cNvSpPr txBox="1"/>
          <p:nvPr/>
        </p:nvSpPr>
        <p:spPr>
          <a:xfrm>
            <a:off x="502920" y="6199632"/>
            <a:ext cx="1115568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850"/>
              <a:buFont typeface="Calibri"/>
              <a:buNone/>
            </a:pPr>
            <a:r>
              <a:rPr b="0" i="0" lang="en-US" sz="850" u="none" cap="none" strike="noStrike">
                <a:solidFill>
                  <a:srgbClr val="6E7873"/>
                </a:solidFill>
                <a:latin typeface="Calibri"/>
                <a:ea typeface="Calibri"/>
                <a:cs typeface="Calibri"/>
                <a:sym typeface="Calibri"/>
              </a:rPr>
              <a:t>Vol. = North West England average monthly searches (Keyword Planner, Sep 2025 – Aug 2026) · H/M/L = competition · bid = Planner top-of-page low–high. Top terms per ad group shown.</a:t>
            </a:r>
            <a:endParaRPr b="0" i="0" sz="850" u="none" cap="none" strike="noStrike">
              <a:solidFill>
                <a:schemeClr val="dk1"/>
              </a:solidFill>
              <a:latin typeface="Calibri"/>
              <a:ea typeface="Calibri"/>
              <a:cs typeface="Calibri"/>
              <a:sym typeface="Calibri"/>
            </a:endParaRPr>
          </a:p>
        </p:txBody>
      </p:sp>
      <p:sp>
        <p:nvSpPr>
          <p:cNvPr id="217" name="Google Shape;217;p8"/>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9"/>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224" name="Google Shape;224;p9"/>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AD COPY · SET 1 OF 5</a:t>
            </a:r>
            <a:endParaRPr b="0" i="0" sz="1250" u="none" cap="none" strike="noStrike">
              <a:solidFill>
                <a:schemeClr val="dk1"/>
              </a:solidFill>
              <a:latin typeface="Calibri"/>
              <a:ea typeface="Calibri"/>
              <a:cs typeface="Calibri"/>
              <a:sym typeface="Calibri"/>
            </a:endParaRPr>
          </a:p>
        </p:txBody>
      </p:sp>
      <p:sp>
        <p:nvSpPr>
          <p:cNvPr id="225" name="Google Shape;225;p9"/>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226" name="Google Shape;226;p9"/>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612648"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txBox="1"/>
          <p:nvPr/>
        </p:nvSpPr>
        <p:spPr>
          <a:xfrm>
            <a:off x="612648"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1</a:t>
            </a:r>
            <a:endParaRPr b="0" i="0" sz="1000" u="none" cap="none" strike="noStrike">
              <a:solidFill>
                <a:schemeClr val="dk1"/>
              </a:solidFill>
              <a:latin typeface="Calibri"/>
              <a:ea typeface="Calibri"/>
              <a:cs typeface="Calibri"/>
              <a:sym typeface="Calibri"/>
            </a:endParaRPr>
          </a:p>
        </p:txBody>
      </p:sp>
      <p:sp>
        <p:nvSpPr>
          <p:cNvPr id="229" name="Google Shape;229;p9"/>
          <p:cNvSpPr txBox="1"/>
          <p:nvPr/>
        </p:nvSpPr>
        <p:spPr>
          <a:xfrm>
            <a:off x="1005840"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1 · Private ADHD Assessment</a:t>
            </a:r>
            <a:endParaRPr b="0" i="0" sz="1200" u="none" cap="none" strike="noStrike">
              <a:solidFill>
                <a:schemeClr val="dk1"/>
              </a:solidFill>
              <a:latin typeface="Calibri"/>
              <a:ea typeface="Calibri"/>
              <a:cs typeface="Calibri"/>
              <a:sym typeface="Calibri"/>
            </a:endParaRPr>
          </a:p>
        </p:txBody>
      </p:sp>
      <p:sp>
        <p:nvSpPr>
          <p:cNvPr id="230" name="Google Shape;230;p9"/>
          <p:cNvSpPr txBox="1"/>
          <p:nvPr/>
        </p:nvSpPr>
        <p:spPr>
          <a:xfrm>
            <a:off x="612648"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231" name="Google Shape;231;p9"/>
          <p:cNvSpPr txBox="1"/>
          <p:nvPr/>
        </p:nvSpPr>
        <p:spPr>
          <a:xfrm>
            <a:off x="612648"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Private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Private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Consultant Psychiatrist-Led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Manchester Clinic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Adult Assessments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GMC Registered Psychiatrist</a:t>
            </a:r>
            <a:endParaRPr b="0" i="0" sz="1000" u="none" cap="none" strike="noStrike">
              <a:solidFill>
                <a:schemeClr val="dk1"/>
              </a:solidFill>
              <a:latin typeface="Calibri"/>
              <a:ea typeface="Calibri"/>
              <a:cs typeface="Calibri"/>
              <a:sym typeface="Calibri"/>
            </a:endParaRPr>
          </a:p>
        </p:txBody>
      </p:sp>
      <p:sp>
        <p:nvSpPr>
          <p:cNvPr id="232" name="Google Shape;232;p9"/>
          <p:cNvSpPr txBox="1"/>
          <p:nvPr/>
        </p:nvSpPr>
        <p:spPr>
          <a:xfrm>
            <a:off x="329184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Report for Your GP</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Book Your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Private ADHD Clinic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Same-Week Appointments</a:t>
            </a:r>
            <a:endParaRPr b="0" i="0" sz="1000" u="none" cap="none" strike="noStrike">
              <a:solidFill>
                <a:schemeClr val="dk1"/>
              </a:solidFill>
              <a:latin typeface="Calibri"/>
              <a:ea typeface="Calibri"/>
              <a:cs typeface="Calibri"/>
              <a:sym typeface="Calibri"/>
            </a:endParaRPr>
          </a:p>
        </p:txBody>
      </p:sp>
      <p:sp>
        <p:nvSpPr>
          <p:cNvPr id="233" name="Google Shape;233;p9"/>
          <p:cNvSpPr txBox="1"/>
          <p:nvPr/>
        </p:nvSpPr>
        <p:spPr>
          <a:xfrm>
            <a:off x="612648"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234" name="Google Shape;234;p9"/>
          <p:cNvSpPr txBox="1"/>
          <p:nvPr/>
        </p:nvSpPr>
        <p:spPr>
          <a:xfrm>
            <a:off x="612648"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Consultant psychiatrist-led private ADHD assessments, Manchester or online. Free consult.</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diagnosis with a written report for your GP. No referral needed. From £850.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Stop waiting years for the NHS. Private ADHD assessment within weeks. Free 15-min consult.</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DIVA-5 structured assessment, clear next steps and shared-care support. Book a free call.</a:t>
            </a:r>
            <a:endParaRPr b="0" i="0" sz="1000" u="none" cap="none" strike="noStrike">
              <a:solidFill>
                <a:schemeClr val="dk1"/>
              </a:solidFill>
              <a:latin typeface="Calibri"/>
              <a:ea typeface="Calibri"/>
              <a:cs typeface="Calibri"/>
              <a:sym typeface="Calibri"/>
            </a:endParaRPr>
          </a:p>
        </p:txBody>
      </p:sp>
      <p:sp>
        <p:nvSpPr>
          <p:cNvPr id="235" name="Google Shape;235;p9"/>
          <p:cNvSpPr/>
          <p:nvPr/>
        </p:nvSpPr>
        <p:spPr>
          <a:xfrm>
            <a:off x="6245352"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6355080"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txBox="1"/>
          <p:nvPr/>
        </p:nvSpPr>
        <p:spPr>
          <a:xfrm>
            <a:off x="6355080"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2</a:t>
            </a:r>
            <a:endParaRPr b="0" i="0" sz="1000" u="none" cap="none" strike="noStrike">
              <a:solidFill>
                <a:schemeClr val="dk1"/>
              </a:solidFill>
              <a:latin typeface="Calibri"/>
              <a:ea typeface="Calibri"/>
              <a:cs typeface="Calibri"/>
              <a:sym typeface="Calibri"/>
            </a:endParaRPr>
          </a:p>
        </p:txBody>
      </p:sp>
      <p:sp>
        <p:nvSpPr>
          <p:cNvPr id="238" name="Google Shape;238;p9"/>
          <p:cNvSpPr txBox="1"/>
          <p:nvPr/>
        </p:nvSpPr>
        <p:spPr>
          <a:xfrm>
            <a:off x="6748272"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2 · ADHD Assessment &amp; Diagnosis</a:t>
            </a:r>
            <a:endParaRPr b="0" i="0" sz="1200" u="none" cap="none" strike="noStrike">
              <a:solidFill>
                <a:schemeClr val="dk1"/>
              </a:solidFill>
              <a:latin typeface="Calibri"/>
              <a:ea typeface="Calibri"/>
              <a:cs typeface="Calibri"/>
              <a:sym typeface="Calibri"/>
            </a:endParaRPr>
          </a:p>
        </p:txBody>
      </p:sp>
      <p:sp>
        <p:nvSpPr>
          <p:cNvPr id="239" name="Google Shape;239;p9"/>
          <p:cNvSpPr txBox="1"/>
          <p:nvPr/>
        </p:nvSpPr>
        <p:spPr>
          <a:xfrm>
            <a:off x="6355080"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240" name="Google Shape;240;p9"/>
          <p:cNvSpPr txBox="1"/>
          <p:nvPr/>
        </p:nvSpPr>
        <p:spPr>
          <a:xfrm>
            <a:off x="635508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ADHD Assessment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Get an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Expert ADHD Diagnosis UK</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Assessment Online or In Clinic</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Consultant Psychiatrist-Led</a:t>
            </a:r>
            <a:endParaRPr b="0" i="0" sz="1000" u="none" cap="none" strike="noStrike">
              <a:solidFill>
                <a:schemeClr val="dk1"/>
              </a:solidFill>
              <a:latin typeface="Calibri"/>
              <a:ea typeface="Calibri"/>
              <a:cs typeface="Calibri"/>
              <a:sym typeface="Calibri"/>
            </a:endParaRPr>
          </a:p>
        </p:txBody>
      </p:sp>
      <p:sp>
        <p:nvSpPr>
          <p:cNvPr id="241" name="Google Shape;241;p9"/>
          <p:cNvSpPr txBox="1"/>
          <p:nvPr/>
        </p:nvSpPr>
        <p:spPr>
          <a:xfrm>
            <a:off x="9034272"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Clear Written ADHD Report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Book an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ADHD Assessment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Refocus The Brain Hub</a:t>
            </a:r>
            <a:endParaRPr b="0" i="0" sz="1000" u="none" cap="none" strike="noStrike">
              <a:solidFill>
                <a:schemeClr val="dk1"/>
              </a:solidFill>
              <a:latin typeface="Calibri"/>
              <a:ea typeface="Calibri"/>
              <a:cs typeface="Calibri"/>
              <a:sym typeface="Calibri"/>
            </a:endParaRPr>
          </a:p>
        </p:txBody>
      </p:sp>
      <p:sp>
        <p:nvSpPr>
          <p:cNvPr id="242" name="Google Shape;242;p9"/>
          <p:cNvSpPr txBox="1"/>
          <p:nvPr/>
        </p:nvSpPr>
        <p:spPr>
          <a:xfrm>
            <a:off x="6355080"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243" name="Google Shape;243;p9"/>
          <p:cNvSpPr txBox="1"/>
          <p:nvPr/>
        </p:nvSpPr>
        <p:spPr>
          <a:xfrm>
            <a:off x="6355080"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Consultant psychiatrist-led ADHD assessment and diagnosis, Manchester or online. Book.</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Up to 90 minutes with a GMC-registered psychiatrist. Written report for your GP or work.</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Follows NICE guidance using the DIVA-5 interview. Clear diagnosis and next steps. Book.</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Don't wait years for an ADHD diagnosis. Private assessment within weeks. Free 15-min call.</a:t>
            </a:r>
            <a:endParaRPr b="0" i="0" sz="1000" u="none" cap="none" strike="noStrike">
              <a:solidFill>
                <a:schemeClr val="dk1"/>
              </a:solidFill>
              <a:latin typeface="Calibri"/>
              <a:ea typeface="Calibri"/>
              <a:cs typeface="Calibri"/>
              <a:sym typeface="Calibri"/>
            </a:endParaRPr>
          </a:p>
        </p:txBody>
      </p:sp>
      <p:sp>
        <p:nvSpPr>
          <p:cNvPr id="244" name="Google Shape;244;p9"/>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0"/>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251" name="Google Shape;251;p10"/>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AD COPY · SET 2 OF 5</a:t>
            </a:r>
            <a:endParaRPr b="0" i="0" sz="1250" u="none" cap="none" strike="noStrike">
              <a:solidFill>
                <a:schemeClr val="dk1"/>
              </a:solidFill>
              <a:latin typeface="Calibri"/>
              <a:ea typeface="Calibri"/>
              <a:cs typeface="Calibri"/>
              <a:sym typeface="Calibri"/>
            </a:endParaRPr>
          </a:p>
        </p:txBody>
      </p:sp>
      <p:sp>
        <p:nvSpPr>
          <p:cNvPr id="252" name="Google Shape;252;p10"/>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253" name="Google Shape;253;p10"/>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612648"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txBox="1"/>
          <p:nvPr/>
        </p:nvSpPr>
        <p:spPr>
          <a:xfrm>
            <a:off x="612648"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3</a:t>
            </a:r>
            <a:endParaRPr b="0" i="0" sz="1000" u="none" cap="none" strike="noStrike">
              <a:solidFill>
                <a:schemeClr val="dk1"/>
              </a:solidFill>
              <a:latin typeface="Calibri"/>
              <a:ea typeface="Calibri"/>
              <a:cs typeface="Calibri"/>
              <a:sym typeface="Calibri"/>
            </a:endParaRPr>
          </a:p>
        </p:txBody>
      </p:sp>
      <p:sp>
        <p:nvSpPr>
          <p:cNvPr id="256" name="Google Shape;256;p10"/>
          <p:cNvSpPr txBox="1"/>
          <p:nvPr/>
        </p:nvSpPr>
        <p:spPr>
          <a:xfrm>
            <a:off x="1005840"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3 · Adult ADHD Assessment</a:t>
            </a:r>
            <a:endParaRPr b="0" i="0" sz="1200" u="none" cap="none" strike="noStrike">
              <a:solidFill>
                <a:schemeClr val="dk1"/>
              </a:solidFill>
              <a:latin typeface="Calibri"/>
              <a:ea typeface="Calibri"/>
              <a:cs typeface="Calibri"/>
              <a:sym typeface="Calibri"/>
            </a:endParaRPr>
          </a:p>
        </p:txBody>
      </p:sp>
      <p:sp>
        <p:nvSpPr>
          <p:cNvPr id="257" name="Google Shape;257;p10"/>
          <p:cNvSpPr txBox="1"/>
          <p:nvPr/>
        </p:nvSpPr>
        <p:spPr>
          <a:xfrm>
            <a:off x="612648"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258" name="Google Shape;258;p10"/>
          <p:cNvSpPr txBox="1"/>
          <p:nvPr/>
        </p:nvSpPr>
        <p:spPr>
          <a:xfrm>
            <a:off x="612648"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Adult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Adult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Private Adult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ADHD Assessment for Adults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Manchester Clinic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Adult Assessments From £850</a:t>
            </a:r>
            <a:endParaRPr b="0" i="0" sz="1000" u="none" cap="none" strike="noStrike">
              <a:solidFill>
                <a:schemeClr val="dk1"/>
              </a:solidFill>
              <a:latin typeface="Calibri"/>
              <a:ea typeface="Calibri"/>
              <a:cs typeface="Calibri"/>
              <a:sym typeface="Calibri"/>
            </a:endParaRPr>
          </a:p>
        </p:txBody>
      </p:sp>
      <p:sp>
        <p:nvSpPr>
          <p:cNvPr id="259" name="Google Shape;259;p10"/>
          <p:cNvSpPr txBox="1"/>
          <p:nvPr/>
        </p:nvSpPr>
        <p:spPr>
          <a:xfrm>
            <a:off x="329184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DIVA-5 Clinical Interview</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Diagnosed at Any Age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Report for Your GP</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Book Your Adult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Treatment Plan if Diagnosed</a:t>
            </a:r>
            <a:endParaRPr b="0" i="0" sz="1000" u="none" cap="none" strike="noStrike">
              <a:solidFill>
                <a:schemeClr val="dk1"/>
              </a:solidFill>
              <a:latin typeface="Calibri"/>
              <a:ea typeface="Calibri"/>
              <a:cs typeface="Calibri"/>
              <a:sym typeface="Calibri"/>
            </a:endParaRPr>
          </a:p>
        </p:txBody>
      </p:sp>
      <p:sp>
        <p:nvSpPr>
          <p:cNvPr id="260" name="Google Shape;260;p10"/>
          <p:cNvSpPr txBox="1"/>
          <p:nvPr/>
        </p:nvSpPr>
        <p:spPr>
          <a:xfrm>
            <a:off x="612648"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261" name="Google Shape;261;p10"/>
          <p:cNvSpPr txBox="1"/>
          <p:nvPr/>
        </p:nvSpPr>
        <p:spPr>
          <a:xfrm>
            <a:off x="612648"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adult ADHD assessment with a consultant psychiatrist. Online or Manchester. £850+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Think you might have ADHD? A NICE-compliant diagnosis within weeks, not years. Free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Structured DIVA-5 assessment, written report and a treatment plan if you are diagnosed.</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GMC-registered consultant psychiatrist. No GP referral needed. Book a free 15-minute call.</a:t>
            </a:r>
            <a:endParaRPr b="0" i="0" sz="1000" u="none" cap="none" strike="noStrike">
              <a:solidFill>
                <a:schemeClr val="dk1"/>
              </a:solidFill>
              <a:latin typeface="Calibri"/>
              <a:ea typeface="Calibri"/>
              <a:cs typeface="Calibri"/>
              <a:sym typeface="Calibri"/>
            </a:endParaRPr>
          </a:p>
        </p:txBody>
      </p:sp>
      <p:sp>
        <p:nvSpPr>
          <p:cNvPr id="262" name="Google Shape;262;p10"/>
          <p:cNvSpPr/>
          <p:nvPr/>
        </p:nvSpPr>
        <p:spPr>
          <a:xfrm>
            <a:off x="6245352"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p:nvPr/>
        </p:nvSpPr>
        <p:spPr>
          <a:xfrm>
            <a:off x="6355080"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txBox="1"/>
          <p:nvPr/>
        </p:nvSpPr>
        <p:spPr>
          <a:xfrm>
            <a:off x="6355080"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4</a:t>
            </a:r>
            <a:endParaRPr b="0" i="0" sz="1000" u="none" cap="none" strike="noStrike">
              <a:solidFill>
                <a:schemeClr val="dk1"/>
              </a:solidFill>
              <a:latin typeface="Calibri"/>
              <a:ea typeface="Calibri"/>
              <a:cs typeface="Calibri"/>
              <a:sym typeface="Calibri"/>
            </a:endParaRPr>
          </a:p>
        </p:txBody>
      </p:sp>
      <p:sp>
        <p:nvSpPr>
          <p:cNvPr id="265" name="Google Shape;265;p10"/>
          <p:cNvSpPr txBox="1"/>
          <p:nvPr/>
        </p:nvSpPr>
        <p:spPr>
          <a:xfrm>
            <a:off x="6748272"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4 · How to Get Diagnosed</a:t>
            </a:r>
            <a:endParaRPr b="0" i="0" sz="1200" u="none" cap="none" strike="noStrike">
              <a:solidFill>
                <a:schemeClr val="dk1"/>
              </a:solidFill>
              <a:latin typeface="Calibri"/>
              <a:ea typeface="Calibri"/>
              <a:cs typeface="Calibri"/>
              <a:sym typeface="Calibri"/>
            </a:endParaRPr>
          </a:p>
        </p:txBody>
      </p:sp>
      <p:sp>
        <p:nvSpPr>
          <p:cNvPr id="266" name="Google Shape;266;p10"/>
          <p:cNvSpPr txBox="1"/>
          <p:nvPr/>
        </p:nvSpPr>
        <p:spPr>
          <a:xfrm>
            <a:off x="6355080"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267" name="Google Shape;267;p10"/>
          <p:cNvSpPr txBox="1"/>
          <p:nvPr/>
        </p:nvSpPr>
        <p:spPr>
          <a:xfrm>
            <a:off x="635508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How to Get an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Get Tested for ADHD Privately</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ADHD Diagnosis in 3 Steps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Assessment Within Weeks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Manchester Clinic or Online</a:t>
            </a:r>
            <a:endParaRPr b="0" i="0" sz="1000" u="none" cap="none" strike="noStrike">
              <a:solidFill>
                <a:schemeClr val="dk1"/>
              </a:solidFill>
              <a:latin typeface="Calibri"/>
              <a:ea typeface="Calibri"/>
              <a:cs typeface="Calibri"/>
              <a:sym typeface="Calibri"/>
            </a:endParaRPr>
          </a:p>
        </p:txBody>
      </p:sp>
      <p:sp>
        <p:nvSpPr>
          <p:cNvPr id="268" name="Google Shape;268;p10"/>
          <p:cNvSpPr txBox="1"/>
          <p:nvPr/>
        </p:nvSpPr>
        <p:spPr>
          <a:xfrm>
            <a:off x="9034272"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Not a Quiz – a Clinical Test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Clear Price: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Report for Your GP</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Start With a Free Call</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Rated 5.0 on Google</a:t>
            </a:r>
            <a:endParaRPr b="0" i="0" sz="1000" u="none" cap="none" strike="noStrike">
              <a:solidFill>
                <a:schemeClr val="dk1"/>
              </a:solidFill>
              <a:latin typeface="Calibri"/>
              <a:ea typeface="Calibri"/>
              <a:cs typeface="Calibri"/>
              <a:sym typeface="Calibri"/>
            </a:endParaRPr>
          </a:p>
        </p:txBody>
      </p:sp>
      <p:sp>
        <p:nvSpPr>
          <p:cNvPr id="269" name="Google Shape;269;p10"/>
          <p:cNvSpPr txBox="1"/>
          <p:nvPr/>
        </p:nvSpPr>
        <p:spPr>
          <a:xfrm>
            <a:off x="6355080"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270" name="Google Shape;270;p10"/>
          <p:cNvSpPr txBox="1"/>
          <p:nvPr/>
        </p:nvSpPr>
        <p:spPr>
          <a:xfrm>
            <a:off x="6355080"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How to get diagnosed with ADHD: free call, questionnaires, then a consultant assessment.</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No GP referral needed. Book a free 15-min call and get assessed within weeks, not years.</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clinical ADHD assessment with a GMC-registered psychiatrist, online or in clinic. £850+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Where to get tested for ADHD? NICE-compliant private assessment with clear next steps.</a:t>
            </a:r>
            <a:endParaRPr b="0" i="0" sz="1000" u="none" cap="none" strike="noStrike">
              <a:solidFill>
                <a:schemeClr val="dk1"/>
              </a:solidFill>
              <a:latin typeface="Calibri"/>
              <a:ea typeface="Calibri"/>
              <a:cs typeface="Calibri"/>
              <a:sym typeface="Calibri"/>
            </a:endParaRPr>
          </a:p>
        </p:txBody>
      </p:sp>
      <p:sp>
        <p:nvSpPr>
          <p:cNvPr id="271" name="Google Shape;271;p10"/>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1"/>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278" name="Google Shape;278;p11"/>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AD COPY · SET 3 OF 5</a:t>
            </a:r>
            <a:endParaRPr b="0" i="0" sz="1250" u="none" cap="none" strike="noStrike">
              <a:solidFill>
                <a:schemeClr val="dk1"/>
              </a:solidFill>
              <a:latin typeface="Calibri"/>
              <a:ea typeface="Calibri"/>
              <a:cs typeface="Calibri"/>
              <a:sym typeface="Calibri"/>
            </a:endParaRPr>
          </a:p>
        </p:txBody>
      </p:sp>
      <p:sp>
        <p:nvSpPr>
          <p:cNvPr id="279" name="Google Shape;279;p11"/>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280" name="Google Shape;280;p11"/>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
          <p:cNvSpPr/>
          <p:nvPr/>
        </p:nvSpPr>
        <p:spPr>
          <a:xfrm>
            <a:off x="612648"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txBox="1"/>
          <p:nvPr/>
        </p:nvSpPr>
        <p:spPr>
          <a:xfrm>
            <a:off x="612648"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5</a:t>
            </a:r>
            <a:endParaRPr b="0" i="0" sz="1000" u="none" cap="none" strike="noStrike">
              <a:solidFill>
                <a:schemeClr val="dk1"/>
              </a:solidFill>
              <a:latin typeface="Calibri"/>
              <a:ea typeface="Calibri"/>
              <a:cs typeface="Calibri"/>
              <a:sym typeface="Calibri"/>
            </a:endParaRPr>
          </a:p>
        </p:txBody>
      </p:sp>
      <p:sp>
        <p:nvSpPr>
          <p:cNvPr id="283" name="Google Shape;283;p11"/>
          <p:cNvSpPr txBox="1"/>
          <p:nvPr/>
        </p:nvSpPr>
        <p:spPr>
          <a:xfrm>
            <a:off x="1005840"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5 · Cost &amp; Pricing</a:t>
            </a:r>
            <a:endParaRPr b="0" i="0" sz="1200" u="none" cap="none" strike="noStrike">
              <a:solidFill>
                <a:schemeClr val="dk1"/>
              </a:solidFill>
              <a:latin typeface="Calibri"/>
              <a:ea typeface="Calibri"/>
              <a:cs typeface="Calibri"/>
              <a:sym typeface="Calibri"/>
            </a:endParaRPr>
          </a:p>
        </p:txBody>
      </p:sp>
      <p:sp>
        <p:nvSpPr>
          <p:cNvPr id="284" name="Google Shape;284;p11"/>
          <p:cNvSpPr txBox="1"/>
          <p:nvPr/>
        </p:nvSpPr>
        <p:spPr>
          <a:xfrm>
            <a:off x="612648"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285" name="Google Shape;285;p11"/>
          <p:cNvSpPr txBox="1"/>
          <p:nvPr/>
        </p:nvSpPr>
        <p:spPr>
          <a:xfrm>
            <a:off x="612648"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ADHD Assessment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Private ADHD Assessment Cost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Transparent ADHD Pricing</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£850 Online · £1,050 In Clinic</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£250 Deposit to Book</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Consultant Psychiatrist-Led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GMC Registered Psychiatrist</a:t>
            </a:r>
            <a:endParaRPr b="0" i="0" sz="1000" u="none" cap="none" strike="noStrike">
              <a:solidFill>
                <a:schemeClr val="dk1"/>
              </a:solidFill>
              <a:latin typeface="Calibri"/>
              <a:ea typeface="Calibri"/>
              <a:cs typeface="Calibri"/>
              <a:sym typeface="Calibri"/>
            </a:endParaRPr>
          </a:p>
        </p:txBody>
      </p:sp>
      <p:sp>
        <p:nvSpPr>
          <p:cNvPr id="286" name="Google Shape;286;p11"/>
          <p:cNvSpPr txBox="1"/>
          <p:nvPr/>
        </p:nvSpPr>
        <p:spPr>
          <a:xfrm>
            <a:off x="329184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All-Inclusive Written Report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Manchester Clinic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No Hidden Fees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See Full Price List</a:t>
            </a:r>
            <a:endParaRPr b="0" i="0" sz="1000" u="none" cap="none" strike="noStrike">
              <a:solidFill>
                <a:schemeClr val="dk1"/>
              </a:solidFill>
              <a:latin typeface="Calibri"/>
              <a:ea typeface="Calibri"/>
              <a:cs typeface="Calibri"/>
              <a:sym typeface="Calibri"/>
            </a:endParaRPr>
          </a:p>
        </p:txBody>
      </p:sp>
      <p:sp>
        <p:nvSpPr>
          <p:cNvPr id="287" name="Google Shape;287;p11"/>
          <p:cNvSpPr txBox="1"/>
          <p:nvPr/>
        </p:nvSpPr>
        <p:spPr>
          <a:xfrm>
            <a:off x="612648"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288" name="Google Shape;288;p11"/>
          <p:cNvSpPr txBox="1"/>
          <p:nvPr/>
        </p:nvSpPr>
        <p:spPr>
          <a:xfrm>
            <a:off x="612648"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ADHD assessment from £850 online or £1,050 in our Manchester clinic. No hidden fee</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Clear pricing, £250 deposit to book, written report included. Free 15-minute call first.</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How much is a private ADHD assessment? From £850 with a consultant psychiatrist. Prices.</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assessment, GP report and treatment plan. Transparent, all-inclusive price.</a:t>
            </a:r>
            <a:endParaRPr b="0" i="0" sz="1000" u="none" cap="none" strike="noStrike">
              <a:solidFill>
                <a:schemeClr val="dk1"/>
              </a:solidFill>
              <a:latin typeface="Calibri"/>
              <a:ea typeface="Calibri"/>
              <a:cs typeface="Calibri"/>
              <a:sym typeface="Calibri"/>
            </a:endParaRPr>
          </a:p>
        </p:txBody>
      </p:sp>
      <p:sp>
        <p:nvSpPr>
          <p:cNvPr id="289" name="Google Shape;289;p11"/>
          <p:cNvSpPr/>
          <p:nvPr/>
        </p:nvSpPr>
        <p:spPr>
          <a:xfrm>
            <a:off x="6245352"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6355080"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txBox="1"/>
          <p:nvPr/>
        </p:nvSpPr>
        <p:spPr>
          <a:xfrm>
            <a:off x="6355080"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6</a:t>
            </a:r>
            <a:endParaRPr b="0" i="0" sz="1000" u="none" cap="none" strike="noStrike">
              <a:solidFill>
                <a:schemeClr val="dk1"/>
              </a:solidFill>
              <a:latin typeface="Calibri"/>
              <a:ea typeface="Calibri"/>
              <a:cs typeface="Calibri"/>
              <a:sym typeface="Calibri"/>
            </a:endParaRPr>
          </a:p>
        </p:txBody>
      </p:sp>
      <p:sp>
        <p:nvSpPr>
          <p:cNvPr id="292" name="Google Shape;292;p11"/>
          <p:cNvSpPr txBox="1"/>
          <p:nvPr/>
        </p:nvSpPr>
        <p:spPr>
          <a:xfrm>
            <a:off x="6748272"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6 · Near Me</a:t>
            </a:r>
            <a:endParaRPr b="0" i="0" sz="1200" u="none" cap="none" strike="noStrike">
              <a:solidFill>
                <a:schemeClr val="dk1"/>
              </a:solidFill>
              <a:latin typeface="Calibri"/>
              <a:ea typeface="Calibri"/>
              <a:cs typeface="Calibri"/>
              <a:sym typeface="Calibri"/>
            </a:endParaRPr>
          </a:p>
        </p:txBody>
      </p:sp>
      <p:sp>
        <p:nvSpPr>
          <p:cNvPr id="293" name="Google Shape;293;p11"/>
          <p:cNvSpPr txBox="1"/>
          <p:nvPr/>
        </p:nvSpPr>
        <p:spPr>
          <a:xfrm>
            <a:off x="6355080"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294" name="Google Shape;294;p11"/>
          <p:cNvSpPr txBox="1"/>
          <p:nvPr/>
        </p:nvSpPr>
        <p:spPr>
          <a:xfrm>
            <a:off x="635508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ADHD Assessment Near You</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Private ADHD Assessment Nearby</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Manchester City-Centre Clinic</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Online Across the North West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6 Oxford Place,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No GP Referral Needed</a:t>
            </a:r>
            <a:endParaRPr b="0" i="0" sz="1000" u="none" cap="none" strike="noStrike">
              <a:solidFill>
                <a:schemeClr val="dk1"/>
              </a:solidFill>
              <a:latin typeface="Calibri"/>
              <a:ea typeface="Calibri"/>
              <a:cs typeface="Calibri"/>
              <a:sym typeface="Calibri"/>
            </a:endParaRPr>
          </a:p>
        </p:txBody>
      </p:sp>
      <p:sp>
        <p:nvSpPr>
          <p:cNvPr id="295" name="Google Shape;295;p11"/>
          <p:cNvSpPr txBox="1"/>
          <p:nvPr/>
        </p:nvSpPr>
        <p:spPr>
          <a:xfrm>
            <a:off x="9034272"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Assessments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Book a Local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In-Person or Video Call</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Refocus The Brain Hub</a:t>
            </a:r>
            <a:endParaRPr b="0" i="0" sz="1000" u="none" cap="none" strike="noStrike">
              <a:solidFill>
                <a:schemeClr val="dk1"/>
              </a:solidFill>
              <a:latin typeface="Calibri"/>
              <a:ea typeface="Calibri"/>
              <a:cs typeface="Calibri"/>
              <a:sym typeface="Calibri"/>
            </a:endParaRPr>
          </a:p>
        </p:txBody>
      </p:sp>
      <p:sp>
        <p:nvSpPr>
          <p:cNvPr id="296" name="Google Shape;296;p11"/>
          <p:cNvSpPr txBox="1"/>
          <p:nvPr/>
        </p:nvSpPr>
        <p:spPr>
          <a:xfrm>
            <a:off x="6355080"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297" name="Google Shape;297;p11"/>
          <p:cNvSpPr txBox="1"/>
          <p:nvPr/>
        </p:nvSpPr>
        <p:spPr>
          <a:xfrm>
            <a:off x="6355080"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ADHD assessment near you: Manchester city-centre clinic or online. Free 15-minute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Consultant psychiatrist-led assessments at 6 Oxford Place, Manchester, or by video. £850+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ADHD diagnosis within weeks, not years. GMC-registered psychiatrist. Free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assessment with a written report for your GP. No referral needed. Book now.</a:t>
            </a:r>
            <a:endParaRPr b="0" i="0" sz="1000" u="none" cap="none" strike="noStrike">
              <a:solidFill>
                <a:schemeClr val="dk1"/>
              </a:solidFill>
              <a:latin typeface="Calibri"/>
              <a:ea typeface="Calibri"/>
              <a:cs typeface="Calibri"/>
              <a:sym typeface="Calibri"/>
            </a:endParaRPr>
          </a:p>
        </p:txBody>
      </p:sp>
      <p:sp>
        <p:nvSpPr>
          <p:cNvPr id="298" name="Google Shape;298;p11"/>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305" name="Google Shape;305;p12"/>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AD COPY · SET 4 OF 5</a:t>
            </a:r>
            <a:endParaRPr b="0" i="0" sz="1250" u="none" cap="none" strike="noStrike">
              <a:solidFill>
                <a:schemeClr val="dk1"/>
              </a:solidFill>
              <a:latin typeface="Calibri"/>
              <a:ea typeface="Calibri"/>
              <a:cs typeface="Calibri"/>
              <a:sym typeface="Calibri"/>
            </a:endParaRPr>
          </a:p>
        </p:txBody>
      </p:sp>
      <p:sp>
        <p:nvSpPr>
          <p:cNvPr id="306" name="Google Shape;306;p12"/>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307" name="Google Shape;307;p12"/>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612648"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
          <p:cNvSpPr txBox="1"/>
          <p:nvPr/>
        </p:nvSpPr>
        <p:spPr>
          <a:xfrm>
            <a:off x="612648"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7</a:t>
            </a:r>
            <a:endParaRPr b="0" i="0" sz="1000" u="none" cap="none" strike="noStrike">
              <a:solidFill>
                <a:schemeClr val="dk1"/>
              </a:solidFill>
              <a:latin typeface="Calibri"/>
              <a:ea typeface="Calibri"/>
              <a:cs typeface="Calibri"/>
              <a:sym typeface="Calibri"/>
            </a:endParaRPr>
          </a:p>
        </p:txBody>
      </p:sp>
      <p:sp>
        <p:nvSpPr>
          <p:cNvPr id="310" name="Google Shape;310;p12"/>
          <p:cNvSpPr txBox="1"/>
          <p:nvPr/>
        </p:nvSpPr>
        <p:spPr>
          <a:xfrm>
            <a:off x="1005840"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7 · Manchester</a:t>
            </a:r>
            <a:endParaRPr b="0" i="0" sz="1200" u="none" cap="none" strike="noStrike">
              <a:solidFill>
                <a:schemeClr val="dk1"/>
              </a:solidFill>
              <a:latin typeface="Calibri"/>
              <a:ea typeface="Calibri"/>
              <a:cs typeface="Calibri"/>
              <a:sym typeface="Calibri"/>
            </a:endParaRPr>
          </a:p>
        </p:txBody>
      </p:sp>
      <p:sp>
        <p:nvSpPr>
          <p:cNvPr id="311" name="Google Shape;311;p12"/>
          <p:cNvSpPr txBox="1"/>
          <p:nvPr/>
        </p:nvSpPr>
        <p:spPr>
          <a:xfrm>
            <a:off x="612648"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312" name="Google Shape;312;p12"/>
          <p:cNvSpPr txBox="1"/>
          <p:nvPr/>
        </p:nvSpPr>
        <p:spPr>
          <a:xfrm>
            <a:off x="612648"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ADHD Assessment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ADHD Diagnosis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Manchester ADHD Clinic</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Private ADHD Clinic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6 Oxford Place,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ADHD Psychiatrist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GMC Registered Psychiatrist</a:t>
            </a:r>
            <a:endParaRPr b="0" i="0" sz="1000" u="none" cap="none" strike="noStrike">
              <a:solidFill>
                <a:schemeClr val="dk1"/>
              </a:solidFill>
              <a:latin typeface="Calibri"/>
              <a:ea typeface="Calibri"/>
              <a:cs typeface="Calibri"/>
              <a:sym typeface="Calibri"/>
            </a:endParaRPr>
          </a:p>
        </p:txBody>
      </p:sp>
      <p:sp>
        <p:nvSpPr>
          <p:cNvPr id="313" name="Google Shape;313;p12"/>
          <p:cNvSpPr txBox="1"/>
          <p:nvPr/>
        </p:nvSpPr>
        <p:spPr>
          <a:xfrm>
            <a:off x="329184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From £850 · Online Option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Book a Manchester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City-Centre Clinic</a:t>
            </a:r>
            <a:endParaRPr b="0" i="0" sz="1000" u="none" cap="none" strike="noStrike">
              <a:solidFill>
                <a:schemeClr val="dk1"/>
              </a:solidFill>
              <a:latin typeface="Calibri"/>
              <a:ea typeface="Calibri"/>
              <a:cs typeface="Calibri"/>
              <a:sym typeface="Calibri"/>
            </a:endParaRPr>
          </a:p>
        </p:txBody>
      </p:sp>
      <p:sp>
        <p:nvSpPr>
          <p:cNvPr id="314" name="Google Shape;314;p12"/>
          <p:cNvSpPr txBox="1"/>
          <p:nvPr/>
        </p:nvSpPr>
        <p:spPr>
          <a:xfrm>
            <a:off x="612648"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315" name="Google Shape;315;p12"/>
          <p:cNvSpPr txBox="1"/>
          <p:nvPr/>
        </p:nvSpPr>
        <p:spPr>
          <a:xfrm>
            <a:off x="612648"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ADHD assessment in Manchester with a consultant psychiatrist. City centre. £850+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Manchester ADHD clinic at 6 Oxford Place. Assessment within weeks, report for your GP.</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ADHD diagnosis in Manchester or online. Free 15-minute call. Book today.</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Skip the NHS wait. GMC-registered psychiatrist, clear pricing and next steps. Book today.</a:t>
            </a:r>
            <a:endParaRPr b="0" i="0" sz="1000" u="none" cap="none" strike="noStrike">
              <a:solidFill>
                <a:schemeClr val="dk1"/>
              </a:solidFill>
              <a:latin typeface="Calibri"/>
              <a:ea typeface="Calibri"/>
              <a:cs typeface="Calibri"/>
              <a:sym typeface="Calibri"/>
            </a:endParaRPr>
          </a:p>
        </p:txBody>
      </p:sp>
      <p:sp>
        <p:nvSpPr>
          <p:cNvPr id="316" name="Google Shape;316;p12"/>
          <p:cNvSpPr/>
          <p:nvPr/>
        </p:nvSpPr>
        <p:spPr>
          <a:xfrm>
            <a:off x="6245352"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6355080"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txBox="1"/>
          <p:nvPr/>
        </p:nvSpPr>
        <p:spPr>
          <a:xfrm>
            <a:off x="6355080"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8</a:t>
            </a:r>
            <a:endParaRPr b="0" i="0" sz="1000" u="none" cap="none" strike="noStrike">
              <a:solidFill>
                <a:schemeClr val="dk1"/>
              </a:solidFill>
              <a:latin typeface="Calibri"/>
              <a:ea typeface="Calibri"/>
              <a:cs typeface="Calibri"/>
              <a:sym typeface="Calibri"/>
            </a:endParaRPr>
          </a:p>
        </p:txBody>
      </p:sp>
      <p:sp>
        <p:nvSpPr>
          <p:cNvPr id="319" name="Google Shape;319;p12"/>
          <p:cNvSpPr txBox="1"/>
          <p:nvPr/>
        </p:nvSpPr>
        <p:spPr>
          <a:xfrm>
            <a:off x="6748272"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8 · Liverpool · Cheshire · NW Towns</a:t>
            </a:r>
            <a:endParaRPr b="0" i="0" sz="1200" u="none" cap="none" strike="noStrike">
              <a:solidFill>
                <a:schemeClr val="dk1"/>
              </a:solidFill>
              <a:latin typeface="Calibri"/>
              <a:ea typeface="Calibri"/>
              <a:cs typeface="Calibri"/>
              <a:sym typeface="Calibri"/>
            </a:endParaRPr>
          </a:p>
        </p:txBody>
      </p:sp>
      <p:sp>
        <p:nvSpPr>
          <p:cNvPr id="320" name="Google Shape;320;p12"/>
          <p:cNvSpPr txBox="1"/>
          <p:nvPr/>
        </p:nvSpPr>
        <p:spPr>
          <a:xfrm>
            <a:off x="6355080"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321" name="Google Shape;321;p12"/>
          <p:cNvSpPr txBox="1"/>
          <p:nvPr/>
        </p:nvSpPr>
        <p:spPr>
          <a:xfrm>
            <a:off x="635508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ADHD Assessment Liverpool</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ADHD Assessment Cheshire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Online ADHD Assessment NW</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Private ADHD Assessment NW</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Video Call or Manchester Visit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NICE-Compliant ADHD Diagnosis</a:t>
            </a:r>
            <a:endParaRPr b="0" i="0" sz="1000" u="none" cap="none" strike="noStrike">
              <a:solidFill>
                <a:schemeClr val="dk1"/>
              </a:solidFill>
              <a:latin typeface="Calibri"/>
              <a:ea typeface="Calibri"/>
              <a:cs typeface="Calibri"/>
              <a:sym typeface="Calibri"/>
            </a:endParaRPr>
          </a:p>
        </p:txBody>
      </p:sp>
      <p:sp>
        <p:nvSpPr>
          <p:cNvPr id="322" name="Google Shape;322;p12"/>
          <p:cNvSpPr txBox="1"/>
          <p:nvPr/>
        </p:nvSpPr>
        <p:spPr>
          <a:xfrm>
            <a:off x="9034272"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Assessments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Serving the North West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Book Your Online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Refocus The Brain Hub</a:t>
            </a:r>
            <a:endParaRPr b="0" i="0" sz="1000" u="none" cap="none" strike="noStrike">
              <a:solidFill>
                <a:schemeClr val="dk1"/>
              </a:solidFill>
              <a:latin typeface="Calibri"/>
              <a:ea typeface="Calibri"/>
              <a:cs typeface="Calibri"/>
              <a:sym typeface="Calibri"/>
            </a:endParaRPr>
          </a:p>
        </p:txBody>
      </p:sp>
      <p:sp>
        <p:nvSpPr>
          <p:cNvPr id="323" name="Google Shape;323;p12"/>
          <p:cNvSpPr txBox="1"/>
          <p:nvPr/>
        </p:nvSpPr>
        <p:spPr>
          <a:xfrm>
            <a:off x="6355080"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324" name="Google Shape;324;p12"/>
          <p:cNvSpPr txBox="1"/>
          <p:nvPr/>
        </p:nvSpPr>
        <p:spPr>
          <a:xfrm>
            <a:off x="6355080"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ADHD assessment for Liverpool, Cheshire and the North West. Online or Manchester.</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Consultant psychiatrist-led assessment by video call from £850. No travel, no referral.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ADHD diagnosis within weeks. Written report for your GP. Free 15-min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Serving Liverpool, Warrington, Cheshire, Stockport and beyond. Book an online assessment.</a:t>
            </a:r>
            <a:endParaRPr b="0" i="0" sz="1000" u="none" cap="none" strike="noStrike">
              <a:solidFill>
                <a:schemeClr val="dk1"/>
              </a:solidFill>
              <a:latin typeface="Calibri"/>
              <a:ea typeface="Calibri"/>
              <a:cs typeface="Calibri"/>
              <a:sym typeface="Calibri"/>
            </a:endParaRPr>
          </a:p>
        </p:txBody>
      </p:sp>
      <p:sp>
        <p:nvSpPr>
          <p:cNvPr id="325" name="Google Shape;325;p12"/>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3"/>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332" name="Google Shape;332;p13"/>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ADULT ADHD · AD COPY · SET 5 OF 5</a:t>
            </a:r>
            <a:endParaRPr b="0" i="0" sz="1250" u="none" cap="none" strike="noStrike">
              <a:solidFill>
                <a:schemeClr val="dk1"/>
              </a:solidFill>
              <a:latin typeface="Calibri"/>
              <a:ea typeface="Calibri"/>
              <a:cs typeface="Calibri"/>
              <a:sym typeface="Calibri"/>
            </a:endParaRPr>
          </a:p>
        </p:txBody>
      </p:sp>
      <p:sp>
        <p:nvSpPr>
          <p:cNvPr id="333" name="Google Shape;333;p13"/>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334" name="Google Shape;334;p13"/>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a:off x="612648"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txBox="1"/>
          <p:nvPr/>
        </p:nvSpPr>
        <p:spPr>
          <a:xfrm>
            <a:off x="612648"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9</a:t>
            </a:r>
            <a:endParaRPr b="0" i="0" sz="1000" u="none" cap="none" strike="noStrike">
              <a:solidFill>
                <a:schemeClr val="dk1"/>
              </a:solidFill>
              <a:latin typeface="Calibri"/>
              <a:ea typeface="Calibri"/>
              <a:cs typeface="Calibri"/>
              <a:sym typeface="Calibri"/>
            </a:endParaRPr>
          </a:p>
        </p:txBody>
      </p:sp>
      <p:sp>
        <p:nvSpPr>
          <p:cNvPr id="337" name="Google Shape;337;p13"/>
          <p:cNvSpPr txBox="1"/>
          <p:nvPr/>
        </p:nvSpPr>
        <p:spPr>
          <a:xfrm>
            <a:off x="1005840"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9 · ADHD Clinic &amp; Psychiatrist</a:t>
            </a:r>
            <a:endParaRPr b="0" i="0" sz="1200" u="none" cap="none" strike="noStrike">
              <a:solidFill>
                <a:schemeClr val="dk1"/>
              </a:solidFill>
              <a:latin typeface="Calibri"/>
              <a:ea typeface="Calibri"/>
              <a:cs typeface="Calibri"/>
              <a:sym typeface="Calibri"/>
            </a:endParaRPr>
          </a:p>
        </p:txBody>
      </p:sp>
      <p:sp>
        <p:nvSpPr>
          <p:cNvPr id="338" name="Google Shape;338;p13"/>
          <p:cNvSpPr txBox="1"/>
          <p:nvPr/>
        </p:nvSpPr>
        <p:spPr>
          <a:xfrm>
            <a:off x="612648"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339" name="Google Shape;339;p13"/>
          <p:cNvSpPr txBox="1"/>
          <p:nvPr/>
        </p:nvSpPr>
        <p:spPr>
          <a:xfrm>
            <a:off x="612648"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ADHD Clinic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ADHD Psychiatrist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Consultant ADHD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Private ADHD Clinic UK</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MRCPsych Consultant-Led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Same Clinician Start to End</a:t>
            </a:r>
            <a:endParaRPr b="0" i="0" sz="1000" u="none" cap="none" strike="noStrike">
              <a:solidFill>
                <a:schemeClr val="dk1"/>
              </a:solidFill>
              <a:latin typeface="Calibri"/>
              <a:ea typeface="Calibri"/>
              <a:cs typeface="Calibri"/>
              <a:sym typeface="Calibri"/>
            </a:endParaRPr>
          </a:p>
        </p:txBody>
      </p:sp>
      <p:sp>
        <p:nvSpPr>
          <p:cNvPr id="340" name="Google Shape;340;p13"/>
          <p:cNvSpPr txBox="1"/>
          <p:nvPr/>
        </p:nvSpPr>
        <p:spPr>
          <a:xfrm>
            <a:off x="329184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Manchester Clinic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Assessments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Book With a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Refocus The Brain Hub</a:t>
            </a:r>
            <a:endParaRPr b="0" i="0" sz="1000" u="none" cap="none" strike="noStrike">
              <a:solidFill>
                <a:schemeClr val="dk1"/>
              </a:solidFill>
              <a:latin typeface="Calibri"/>
              <a:ea typeface="Calibri"/>
              <a:cs typeface="Calibri"/>
              <a:sym typeface="Calibri"/>
            </a:endParaRPr>
          </a:p>
        </p:txBody>
      </p:sp>
      <p:sp>
        <p:nvSpPr>
          <p:cNvPr id="341" name="Google Shape;341;p13"/>
          <p:cNvSpPr txBox="1"/>
          <p:nvPr/>
        </p:nvSpPr>
        <p:spPr>
          <a:xfrm>
            <a:off x="612648"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342" name="Google Shape;342;p13"/>
          <p:cNvSpPr txBox="1"/>
          <p:nvPr/>
        </p:nvSpPr>
        <p:spPr>
          <a:xfrm>
            <a:off x="612648"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ADHD clinic led by a GMC-registered consultant psychiatrist. Manchester or online.</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See an ADHD psychiatrist, not a questionnaire. Full clinical assessment and written report</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The same consultant from first call to diagnosis and treatment plan. Book a free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ADHD assessment from £850. No GP referral needed. Free 15-min consultation.</a:t>
            </a:r>
            <a:endParaRPr b="0" i="0" sz="1000" u="none" cap="none" strike="noStrike">
              <a:solidFill>
                <a:schemeClr val="dk1"/>
              </a:solidFill>
              <a:latin typeface="Calibri"/>
              <a:ea typeface="Calibri"/>
              <a:cs typeface="Calibri"/>
              <a:sym typeface="Calibri"/>
            </a:endParaRPr>
          </a:p>
        </p:txBody>
      </p:sp>
      <p:sp>
        <p:nvSpPr>
          <p:cNvPr id="343" name="Google Shape;343;p13"/>
          <p:cNvSpPr/>
          <p:nvPr/>
        </p:nvSpPr>
        <p:spPr>
          <a:xfrm>
            <a:off x="6245352"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6355080"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txBox="1"/>
          <p:nvPr/>
        </p:nvSpPr>
        <p:spPr>
          <a:xfrm>
            <a:off x="6355080"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10</a:t>
            </a:r>
            <a:endParaRPr b="0" i="0" sz="1000" u="none" cap="none" strike="noStrike">
              <a:solidFill>
                <a:schemeClr val="dk1"/>
              </a:solidFill>
              <a:latin typeface="Calibri"/>
              <a:ea typeface="Calibri"/>
              <a:cs typeface="Calibri"/>
              <a:sym typeface="Calibri"/>
            </a:endParaRPr>
          </a:p>
        </p:txBody>
      </p:sp>
      <p:sp>
        <p:nvSpPr>
          <p:cNvPr id="346" name="Google Shape;346;p13"/>
          <p:cNvSpPr txBox="1"/>
          <p:nvPr/>
        </p:nvSpPr>
        <p:spPr>
          <a:xfrm>
            <a:off x="6748272"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10 · ADHD in Women</a:t>
            </a:r>
            <a:endParaRPr b="0" i="0" sz="1200" u="none" cap="none" strike="noStrike">
              <a:solidFill>
                <a:schemeClr val="dk1"/>
              </a:solidFill>
              <a:latin typeface="Calibri"/>
              <a:ea typeface="Calibri"/>
              <a:cs typeface="Calibri"/>
              <a:sym typeface="Calibri"/>
            </a:endParaRPr>
          </a:p>
        </p:txBody>
      </p:sp>
      <p:sp>
        <p:nvSpPr>
          <p:cNvPr id="347" name="Google Shape;347;p13"/>
          <p:cNvSpPr txBox="1"/>
          <p:nvPr/>
        </p:nvSpPr>
        <p:spPr>
          <a:xfrm>
            <a:off x="6355080"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348" name="Google Shape;348;p13"/>
          <p:cNvSpPr txBox="1"/>
          <p:nvPr/>
        </p:nvSpPr>
        <p:spPr>
          <a:xfrm>
            <a:off x="635508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ADHD Assessment for Women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ADHD in Women – Get Assessed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Late ADHD Diagnosis in Women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ADHD &amp; Perimenopause Clinic</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Female Consultant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Manchester Clinic or Online</a:t>
            </a:r>
            <a:endParaRPr b="0" i="0" sz="1000" u="none" cap="none" strike="noStrike">
              <a:solidFill>
                <a:schemeClr val="dk1"/>
              </a:solidFill>
              <a:latin typeface="Calibri"/>
              <a:ea typeface="Calibri"/>
              <a:cs typeface="Calibri"/>
              <a:sym typeface="Calibri"/>
            </a:endParaRPr>
          </a:p>
        </p:txBody>
      </p:sp>
      <p:sp>
        <p:nvSpPr>
          <p:cNvPr id="349" name="Google Shape;349;p13"/>
          <p:cNvSpPr txBox="1"/>
          <p:nvPr/>
        </p:nvSpPr>
        <p:spPr>
          <a:xfrm>
            <a:off x="9034272"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Assessments 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Missed as a Girl? Get Clarity</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Skip Long NHS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Report for Your GP</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Book Your Assessment Today</a:t>
            </a:r>
            <a:endParaRPr b="0" i="0" sz="1000" u="none" cap="none" strike="noStrike">
              <a:solidFill>
                <a:schemeClr val="dk1"/>
              </a:solidFill>
              <a:latin typeface="Calibri"/>
              <a:ea typeface="Calibri"/>
              <a:cs typeface="Calibri"/>
              <a:sym typeface="Calibri"/>
            </a:endParaRPr>
          </a:p>
        </p:txBody>
      </p:sp>
      <p:sp>
        <p:nvSpPr>
          <p:cNvPr id="350" name="Google Shape;350;p13"/>
          <p:cNvSpPr txBox="1"/>
          <p:nvPr/>
        </p:nvSpPr>
        <p:spPr>
          <a:xfrm>
            <a:off x="6355080"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351" name="Google Shape;351;p13"/>
          <p:cNvSpPr txBox="1"/>
          <p:nvPr/>
        </p:nvSpPr>
        <p:spPr>
          <a:xfrm>
            <a:off x="6355080"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ADHD assessment for women by a female consultant psychiatrist. Online or Manchester. £850+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Masked for years? A late ADHD diagnosis from a clinician who understands women. Free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Our ADHD and perimenopause pathway looks at symptoms and hormones together. NICE-compliant</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fast and fitted around family life. Written report for your GP. Book a free call.</a:t>
            </a:r>
            <a:endParaRPr b="0" i="0" sz="1000" u="none" cap="none" strike="noStrike">
              <a:solidFill>
                <a:schemeClr val="dk1"/>
              </a:solidFill>
              <a:latin typeface="Calibri"/>
              <a:ea typeface="Calibri"/>
              <a:cs typeface="Calibri"/>
              <a:sym typeface="Calibri"/>
            </a:endParaRPr>
          </a:p>
        </p:txBody>
      </p:sp>
      <p:sp>
        <p:nvSpPr>
          <p:cNvPr id="352" name="Google Shape;352;p13"/>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4"/>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Protect</a:t>
            </a:r>
            <a:endParaRPr b="0" i="0" sz="1500" u="none" cap="none" strike="noStrike">
              <a:solidFill>
                <a:schemeClr val="dk1"/>
              </a:solidFill>
              <a:latin typeface="Calibri"/>
              <a:ea typeface="Calibri"/>
              <a:cs typeface="Calibri"/>
              <a:sym typeface="Calibri"/>
            </a:endParaRPr>
          </a:p>
        </p:txBody>
      </p:sp>
      <p:sp>
        <p:nvSpPr>
          <p:cNvPr id="359" name="Google Shape;359;p14"/>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CAMPAIGN PROTECTION · ADULT ADHD</a:t>
            </a:r>
            <a:endParaRPr b="0" i="0" sz="1250" u="none" cap="none" strike="noStrike">
              <a:solidFill>
                <a:schemeClr val="dk1"/>
              </a:solidFill>
              <a:latin typeface="Calibri"/>
              <a:ea typeface="Calibri"/>
              <a:cs typeface="Calibri"/>
              <a:sym typeface="Calibri"/>
            </a:endParaRPr>
          </a:p>
        </p:txBody>
      </p:sp>
      <p:sp>
        <p:nvSpPr>
          <p:cNvPr id="360" name="Google Shape;360;p14"/>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Negative Keywords</a:t>
            </a:r>
            <a:endParaRPr b="0" i="0" sz="3300" u="none" cap="none" strike="noStrike">
              <a:solidFill>
                <a:schemeClr val="dk1"/>
              </a:solidFill>
              <a:latin typeface="Calibri"/>
              <a:ea typeface="Calibri"/>
              <a:cs typeface="Calibri"/>
              <a:sym typeface="Calibri"/>
            </a:endParaRPr>
          </a:p>
        </p:txBody>
      </p:sp>
      <p:sp>
        <p:nvSpPr>
          <p:cNvPr id="361" name="Google Shape;361;p14"/>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These exclusions keep adult spend on genuine private-diagnosis prospects — out go NHS, free and bargain searches, quizzes and symptom research, medication-only intent, competitor brands and parents searching for a child (routed to the second campaign).</a:t>
            </a:r>
            <a:endParaRPr b="0" i="0" sz="1350" u="none" cap="none" strike="noStrike">
              <a:solidFill>
                <a:schemeClr val="dk1"/>
              </a:solidFill>
              <a:latin typeface="Calibri"/>
              <a:ea typeface="Calibri"/>
              <a:cs typeface="Calibri"/>
              <a:sym typeface="Calibri"/>
            </a:endParaRPr>
          </a:p>
        </p:txBody>
      </p:sp>
      <p:sp>
        <p:nvSpPr>
          <p:cNvPr id="362" name="Google Shape;362;p14"/>
          <p:cNvSpPr/>
          <p:nvPr/>
        </p:nvSpPr>
        <p:spPr>
          <a:xfrm>
            <a:off x="502920" y="2615184"/>
            <a:ext cx="6537960" cy="3611880"/>
          </a:xfrm>
          <a:prstGeom prst="roundRect">
            <a:avLst>
              <a:gd fmla="val 2532"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4"/>
          <p:cNvSpPr/>
          <p:nvPr/>
        </p:nvSpPr>
        <p:spPr>
          <a:xfrm>
            <a:off x="777240" y="2852928"/>
            <a:ext cx="512064" cy="512064"/>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an_white.png" id="364" name="Google Shape;364;p14"/>
          <p:cNvPicPr preferRelativeResize="0"/>
          <p:nvPr/>
        </p:nvPicPr>
        <p:blipFill rotWithShape="1">
          <a:blip r:embed="rId3">
            <a:alphaModFix/>
          </a:blip>
          <a:srcRect b="0" l="0" r="0" t="0"/>
          <a:stretch/>
        </p:blipFill>
        <p:spPr>
          <a:xfrm>
            <a:off x="905256" y="2980944"/>
            <a:ext cx="256032" cy="256032"/>
          </a:xfrm>
          <a:prstGeom prst="rect">
            <a:avLst/>
          </a:prstGeom>
          <a:noFill/>
          <a:ln>
            <a:noFill/>
          </a:ln>
        </p:spPr>
      </p:pic>
      <p:sp>
        <p:nvSpPr>
          <p:cNvPr id="365" name="Google Shape;365;p14"/>
          <p:cNvSpPr txBox="1"/>
          <p:nvPr/>
        </p:nvSpPr>
        <p:spPr>
          <a:xfrm>
            <a:off x="1417320" y="2852928"/>
            <a:ext cx="41148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600"/>
              <a:buFont typeface="Poppins"/>
              <a:buNone/>
            </a:pPr>
            <a:r>
              <a:rPr b="1" i="0" lang="en-US" sz="1600" u="none" cap="none" strike="noStrike">
                <a:solidFill>
                  <a:srgbClr val="2B2E2C"/>
                </a:solidFill>
                <a:latin typeface="Poppins"/>
                <a:ea typeface="Poppins"/>
                <a:cs typeface="Poppins"/>
                <a:sym typeface="Poppins"/>
              </a:rPr>
              <a:t>Broad Match Negatives</a:t>
            </a:r>
            <a:endParaRPr b="0" i="0" sz="1600" u="none" cap="none" strike="noStrike">
              <a:solidFill>
                <a:schemeClr val="dk1"/>
              </a:solidFill>
              <a:latin typeface="Calibri"/>
              <a:ea typeface="Calibri"/>
              <a:cs typeface="Calibri"/>
              <a:sym typeface="Calibri"/>
            </a:endParaRPr>
          </a:p>
        </p:txBody>
      </p:sp>
      <p:sp>
        <p:nvSpPr>
          <p:cNvPr id="366" name="Google Shape;366;p14"/>
          <p:cNvSpPr txBox="1"/>
          <p:nvPr/>
        </p:nvSpPr>
        <p:spPr>
          <a:xfrm>
            <a:off x="5577840" y="2852928"/>
            <a:ext cx="11887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300"/>
              <a:buFont typeface="Poppins"/>
              <a:buNone/>
            </a:pPr>
            <a:r>
              <a:rPr b="1" i="0" lang="en-US" sz="1300" u="none" cap="none" strike="noStrike">
                <a:solidFill>
                  <a:srgbClr val="16A879"/>
                </a:solidFill>
                <a:latin typeface="Poppins"/>
                <a:ea typeface="Poppins"/>
                <a:cs typeface="Poppins"/>
                <a:sym typeface="Poppins"/>
              </a:rPr>
              <a:t>33 terms</a:t>
            </a:r>
            <a:endParaRPr b="0" i="0" sz="1300" u="none" cap="none" strike="noStrike">
              <a:solidFill>
                <a:schemeClr val="dk1"/>
              </a:solidFill>
              <a:latin typeface="Calibri"/>
              <a:ea typeface="Calibri"/>
              <a:cs typeface="Calibri"/>
              <a:sym typeface="Calibri"/>
            </a:endParaRPr>
          </a:p>
        </p:txBody>
      </p:sp>
      <p:sp>
        <p:nvSpPr>
          <p:cNvPr id="367" name="Google Shape;367;p14"/>
          <p:cNvSpPr/>
          <p:nvPr/>
        </p:nvSpPr>
        <p:spPr>
          <a:xfrm>
            <a:off x="79552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txBox="1"/>
          <p:nvPr/>
        </p:nvSpPr>
        <p:spPr>
          <a:xfrm>
            <a:off x="79552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free</a:t>
            </a:r>
            <a:endParaRPr b="0" i="0" sz="920" u="none" cap="none" strike="noStrike">
              <a:solidFill>
                <a:schemeClr val="dk1"/>
              </a:solidFill>
              <a:latin typeface="Calibri"/>
              <a:ea typeface="Calibri"/>
              <a:cs typeface="Calibri"/>
              <a:sym typeface="Calibri"/>
            </a:endParaRPr>
          </a:p>
        </p:txBody>
      </p:sp>
      <p:sp>
        <p:nvSpPr>
          <p:cNvPr id="369" name="Google Shape;369;p14"/>
          <p:cNvSpPr/>
          <p:nvPr/>
        </p:nvSpPr>
        <p:spPr>
          <a:xfrm>
            <a:off x="200710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4"/>
          <p:cNvSpPr txBox="1"/>
          <p:nvPr/>
        </p:nvSpPr>
        <p:spPr>
          <a:xfrm>
            <a:off x="200710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cheap</a:t>
            </a:r>
            <a:endParaRPr b="0" i="0" sz="920" u="none" cap="none" strike="noStrike">
              <a:solidFill>
                <a:schemeClr val="dk1"/>
              </a:solidFill>
              <a:latin typeface="Calibri"/>
              <a:ea typeface="Calibri"/>
              <a:cs typeface="Calibri"/>
              <a:sym typeface="Calibri"/>
            </a:endParaRPr>
          </a:p>
        </p:txBody>
      </p:sp>
      <p:sp>
        <p:nvSpPr>
          <p:cNvPr id="371" name="Google Shape;371;p14"/>
          <p:cNvSpPr/>
          <p:nvPr/>
        </p:nvSpPr>
        <p:spPr>
          <a:xfrm>
            <a:off x="321868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txBox="1"/>
          <p:nvPr/>
        </p:nvSpPr>
        <p:spPr>
          <a:xfrm>
            <a:off x="321868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cheapest</a:t>
            </a:r>
            <a:endParaRPr b="0" i="0" sz="920" u="none" cap="none" strike="noStrike">
              <a:solidFill>
                <a:schemeClr val="dk1"/>
              </a:solidFill>
              <a:latin typeface="Calibri"/>
              <a:ea typeface="Calibri"/>
              <a:cs typeface="Calibri"/>
              <a:sym typeface="Calibri"/>
            </a:endParaRPr>
          </a:p>
        </p:txBody>
      </p:sp>
      <p:sp>
        <p:nvSpPr>
          <p:cNvPr id="373" name="Google Shape;373;p14"/>
          <p:cNvSpPr/>
          <p:nvPr/>
        </p:nvSpPr>
        <p:spPr>
          <a:xfrm>
            <a:off x="443026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4"/>
          <p:cNvSpPr txBox="1"/>
          <p:nvPr/>
        </p:nvSpPr>
        <p:spPr>
          <a:xfrm>
            <a:off x="443026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affordable</a:t>
            </a:r>
            <a:endParaRPr b="0" i="0" sz="920" u="none" cap="none" strike="noStrike">
              <a:solidFill>
                <a:schemeClr val="dk1"/>
              </a:solidFill>
              <a:latin typeface="Calibri"/>
              <a:ea typeface="Calibri"/>
              <a:cs typeface="Calibri"/>
              <a:sym typeface="Calibri"/>
            </a:endParaRPr>
          </a:p>
        </p:txBody>
      </p:sp>
      <p:sp>
        <p:nvSpPr>
          <p:cNvPr id="375" name="Google Shape;375;p14"/>
          <p:cNvSpPr/>
          <p:nvPr/>
        </p:nvSpPr>
        <p:spPr>
          <a:xfrm>
            <a:off x="564184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txBox="1"/>
          <p:nvPr/>
        </p:nvSpPr>
        <p:spPr>
          <a:xfrm>
            <a:off x="564184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nhs</a:t>
            </a:r>
            <a:endParaRPr b="0" i="0" sz="920" u="none" cap="none" strike="noStrike">
              <a:solidFill>
                <a:schemeClr val="dk1"/>
              </a:solidFill>
              <a:latin typeface="Calibri"/>
              <a:ea typeface="Calibri"/>
              <a:cs typeface="Calibri"/>
              <a:sym typeface="Calibri"/>
            </a:endParaRPr>
          </a:p>
        </p:txBody>
      </p:sp>
      <p:sp>
        <p:nvSpPr>
          <p:cNvPr id="377" name="Google Shape;377;p14"/>
          <p:cNvSpPr/>
          <p:nvPr/>
        </p:nvSpPr>
        <p:spPr>
          <a:xfrm>
            <a:off x="79552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txBox="1"/>
          <p:nvPr/>
        </p:nvSpPr>
        <p:spPr>
          <a:xfrm>
            <a:off x="79552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symptoms</a:t>
            </a:r>
            <a:endParaRPr b="0" i="0" sz="920" u="none" cap="none" strike="noStrike">
              <a:solidFill>
                <a:schemeClr val="dk1"/>
              </a:solidFill>
              <a:latin typeface="Calibri"/>
              <a:ea typeface="Calibri"/>
              <a:cs typeface="Calibri"/>
              <a:sym typeface="Calibri"/>
            </a:endParaRPr>
          </a:p>
        </p:txBody>
      </p:sp>
      <p:sp>
        <p:nvSpPr>
          <p:cNvPr id="379" name="Google Shape;379;p14"/>
          <p:cNvSpPr/>
          <p:nvPr/>
        </p:nvSpPr>
        <p:spPr>
          <a:xfrm>
            <a:off x="200710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txBox="1"/>
          <p:nvPr/>
        </p:nvSpPr>
        <p:spPr>
          <a:xfrm>
            <a:off x="200710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signs</a:t>
            </a:r>
            <a:endParaRPr b="0" i="0" sz="920" u="none" cap="none" strike="noStrike">
              <a:solidFill>
                <a:schemeClr val="dk1"/>
              </a:solidFill>
              <a:latin typeface="Calibri"/>
              <a:ea typeface="Calibri"/>
              <a:cs typeface="Calibri"/>
              <a:sym typeface="Calibri"/>
            </a:endParaRPr>
          </a:p>
        </p:txBody>
      </p:sp>
      <p:sp>
        <p:nvSpPr>
          <p:cNvPr id="381" name="Google Shape;381;p14"/>
          <p:cNvSpPr/>
          <p:nvPr/>
        </p:nvSpPr>
        <p:spPr>
          <a:xfrm>
            <a:off x="321868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txBox="1"/>
          <p:nvPr/>
        </p:nvSpPr>
        <p:spPr>
          <a:xfrm>
            <a:off x="321868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meaning</a:t>
            </a:r>
            <a:endParaRPr b="0" i="0" sz="920" u="none" cap="none" strike="noStrike">
              <a:solidFill>
                <a:schemeClr val="dk1"/>
              </a:solidFill>
              <a:latin typeface="Calibri"/>
              <a:ea typeface="Calibri"/>
              <a:cs typeface="Calibri"/>
              <a:sym typeface="Calibri"/>
            </a:endParaRPr>
          </a:p>
        </p:txBody>
      </p:sp>
      <p:sp>
        <p:nvSpPr>
          <p:cNvPr id="383" name="Google Shape;383;p14"/>
          <p:cNvSpPr/>
          <p:nvPr/>
        </p:nvSpPr>
        <p:spPr>
          <a:xfrm>
            <a:off x="443026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txBox="1"/>
          <p:nvPr/>
        </p:nvSpPr>
        <p:spPr>
          <a:xfrm>
            <a:off x="443026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quiz</a:t>
            </a:r>
            <a:endParaRPr b="0" i="0" sz="920" u="none" cap="none" strike="noStrike">
              <a:solidFill>
                <a:schemeClr val="dk1"/>
              </a:solidFill>
              <a:latin typeface="Calibri"/>
              <a:ea typeface="Calibri"/>
              <a:cs typeface="Calibri"/>
              <a:sym typeface="Calibri"/>
            </a:endParaRPr>
          </a:p>
        </p:txBody>
      </p:sp>
      <p:sp>
        <p:nvSpPr>
          <p:cNvPr id="385" name="Google Shape;385;p14"/>
          <p:cNvSpPr/>
          <p:nvPr/>
        </p:nvSpPr>
        <p:spPr>
          <a:xfrm>
            <a:off x="564184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txBox="1"/>
          <p:nvPr/>
        </p:nvSpPr>
        <p:spPr>
          <a:xfrm>
            <a:off x="564184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questionnaire</a:t>
            </a:r>
            <a:endParaRPr b="0" i="0" sz="920" u="none" cap="none" strike="noStrike">
              <a:solidFill>
                <a:schemeClr val="dk1"/>
              </a:solidFill>
              <a:latin typeface="Calibri"/>
              <a:ea typeface="Calibri"/>
              <a:cs typeface="Calibri"/>
              <a:sym typeface="Calibri"/>
            </a:endParaRPr>
          </a:p>
        </p:txBody>
      </p:sp>
      <p:sp>
        <p:nvSpPr>
          <p:cNvPr id="387" name="Google Shape;387;p14"/>
          <p:cNvSpPr/>
          <p:nvPr/>
        </p:nvSpPr>
        <p:spPr>
          <a:xfrm>
            <a:off x="79552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txBox="1"/>
          <p:nvPr/>
        </p:nvSpPr>
        <p:spPr>
          <a:xfrm>
            <a:off x="79552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checklist</a:t>
            </a:r>
            <a:endParaRPr b="0" i="0" sz="920" u="none" cap="none" strike="noStrike">
              <a:solidFill>
                <a:schemeClr val="dk1"/>
              </a:solidFill>
              <a:latin typeface="Calibri"/>
              <a:ea typeface="Calibri"/>
              <a:cs typeface="Calibri"/>
              <a:sym typeface="Calibri"/>
            </a:endParaRPr>
          </a:p>
        </p:txBody>
      </p:sp>
      <p:sp>
        <p:nvSpPr>
          <p:cNvPr id="389" name="Google Shape;389;p14"/>
          <p:cNvSpPr/>
          <p:nvPr/>
        </p:nvSpPr>
        <p:spPr>
          <a:xfrm>
            <a:off x="200710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txBox="1"/>
          <p:nvPr/>
        </p:nvSpPr>
        <p:spPr>
          <a:xfrm>
            <a:off x="200710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medication</a:t>
            </a:r>
            <a:endParaRPr b="0" i="0" sz="920" u="none" cap="none" strike="noStrike">
              <a:solidFill>
                <a:schemeClr val="dk1"/>
              </a:solidFill>
              <a:latin typeface="Calibri"/>
              <a:ea typeface="Calibri"/>
              <a:cs typeface="Calibri"/>
              <a:sym typeface="Calibri"/>
            </a:endParaRPr>
          </a:p>
        </p:txBody>
      </p:sp>
      <p:sp>
        <p:nvSpPr>
          <p:cNvPr id="391" name="Google Shape;391;p14"/>
          <p:cNvSpPr/>
          <p:nvPr/>
        </p:nvSpPr>
        <p:spPr>
          <a:xfrm>
            <a:off x="321868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txBox="1"/>
          <p:nvPr/>
        </p:nvSpPr>
        <p:spPr>
          <a:xfrm>
            <a:off x="321868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titration</a:t>
            </a:r>
            <a:endParaRPr b="0" i="0" sz="920" u="none" cap="none" strike="noStrike">
              <a:solidFill>
                <a:schemeClr val="dk1"/>
              </a:solidFill>
              <a:latin typeface="Calibri"/>
              <a:ea typeface="Calibri"/>
              <a:cs typeface="Calibri"/>
              <a:sym typeface="Calibri"/>
            </a:endParaRPr>
          </a:p>
        </p:txBody>
      </p:sp>
      <p:sp>
        <p:nvSpPr>
          <p:cNvPr id="393" name="Google Shape;393;p14"/>
          <p:cNvSpPr/>
          <p:nvPr/>
        </p:nvSpPr>
        <p:spPr>
          <a:xfrm>
            <a:off x="443026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txBox="1"/>
          <p:nvPr/>
        </p:nvSpPr>
        <p:spPr>
          <a:xfrm>
            <a:off x="443026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treatment</a:t>
            </a:r>
            <a:endParaRPr b="0" i="0" sz="920" u="none" cap="none" strike="noStrike">
              <a:solidFill>
                <a:schemeClr val="dk1"/>
              </a:solidFill>
              <a:latin typeface="Calibri"/>
              <a:ea typeface="Calibri"/>
              <a:cs typeface="Calibri"/>
              <a:sym typeface="Calibri"/>
            </a:endParaRPr>
          </a:p>
        </p:txBody>
      </p:sp>
      <p:sp>
        <p:nvSpPr>
          <p:cNvPr id="395" name="Google Shape;395;p14"/>
          <p:cNvSpPr/>
          <p:nvPr/>
        </p:nvSpPr>
        <p:spPr>
          <a:xfrm>
            <a:off x="564184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txBox="1"/>
          <p:nvPr/>
        </p:nvSpPr>
        <p:spPr>
          <a:xfrm>
            <a:off x="564184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therapy</a:t>
            </a:r>
            <a:endParaRPr b="0" i="0" sz="920" u="none" cap="none" strike="noStrike">
              <a:solidFill>
                <a:schemeClr val="dk1"/>
              </a:solidFill>
              <a:latin typeface="Calibri"/>
              <a:ea typeface="Calibri"/>
              <a:cs typeface="Calibri"/>
              <a:sym typeface="Calibri"/>
            </a:endParaRPr>
          </a:p>
        </p:txBody>
      </p:sp>
      <p:sp>
        <p:nvSpPr>
          <p:cNvPr id="397" name="Google Shape;397;p14"/>
          <p:cNvSpPr/>
          <p:nvPr/>
        </p:nvSpPr>
        <p:spPr>
          <a:xfrm>
            <a:off x="79552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
          <p:cNvSpPr txBox="1"/>
          <p:nvPr/>
        </p:nvSpPr>
        <p:spPr>
          <a:xfrm>
            <a:off x="79552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cure</a:t>
            </a:r>
            <a:endParaRPr b="0" i="0" sz="920" u="none" cap="none" strike="noStrike">
              <a:solidFill>
                <a:schemeClr val="dk1"/>
              </a:solidFill>
              <a:latin typeface="Calibri"/>
              <a:ea typeface="Calibri"/>
              <a:cs typeface="Calibri"/>
              <a:sym typeface="Calibri"/>
            </a:endParaRPr>
          </a:p>
        </p:txBody>
      </p:sp>
      <p:sp>
        <p:nvSpPr>
          <p:cNvPr id="399" name="Google Shape;399;p14"/>
          <p:cNvSpPr/>
          <p:nvPr/>
        </p:nvSpPr>
        <p:spPr>
          <a:xfrm>
            <a:off x="200710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txBox="1"/>
          <p:nvPr/>
        </p:nvSpPr>
        <p:spPr>
          <a:xfrm>
            <a:off x="200710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jobs</a:t>
            </a:r>
            <a:endParaRPr b="0" i="0" sz="920" u="none" cap="none" strike="noStrike">
              <a:solidFill>
                <a:schemeClr val="dk1"/>
              </a:solidFill>
              <a:latin typeface="Calibri"/>
              <a:ea typeface="Calibri"/>
              <a:cs typeface="Calibri"/>
              <a:sym typeface="Calibri"/>
            </a:endParaRPr>
          </a:p>
        </p:txBody>
      </p:sp>
      <p:sp>
        <p:nvSpPr>
          <p:cNvPr id="401" name="Google Shape;401;p14"/>
          <p:cNvSpPr/>
          <p:nvPr/>
        </p:nvSpPr>
        <p:spPr>
          <a:xfrm>
            <a:off x="321868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txBox="1"/>
          <p:nvPr/>
        </p:nvSpPr>
        <p:spPr>
          <a:xfrm>
            <a:off x="321868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course</a:t>
            </a:r>
            <a:endParaRPr b="0" i="0" sz="920" u="none" cap="none" strike="noStrike">
              <a:solidFill>
                <a:schemeClr val="dk1"/>
              </a:solidFill>
              <a:latin typeface="Calibri"/>
              <a:ea typeface="Calibri"/>
              <a:cs typeface="Calibri"/>
              <a:sym typeface="Calibri"/>
            </a:endParaRPr>
          </a:p>
        </p:txBody>
      </p:sp>
      <p:sp>
        <p:nvSpPr>
          <p:cNvPr id="403" name="Google Shape;403;p14"/>
          <p:cNvSpPr/>
          <p:nvPr/>
        </p:nvSpPr>
        <p:spPr>
          <a:xfrm>
            <a:off x="443026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txBox="1"/>
          <p:nvPr/>
        </p:nvSpPr>
        <p:spPr>
          <a:xfrm>
            <a:off x="443026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training</a:t>
            </a:r>
            <a:endParaRPr b="0" i="0" sz="920" u="none" cap="none" strike="noStrike">
              <a:solidFill>
                <a:schemeClr val="dk1"/>
              </a:solidFill>
              <a:latin typeface="Calibri"/>
              <a:ea typeface="Calibri"/>
              <a:cs typeface="Calibri"/>
              <a:sym typeface="Calibri"/>
            </a:endParaRPr>
          </a:p>
        </p:txBody>
      </p:sp>
      <p:sp>
        <p:nvSpPr>
          <p:cNvPr id="405" name="Google Shape;405;p14"/>
          <p:cNvSpPr/>
          <p:nvPr/>
        </p:nvSpPr>
        <p:spPr>
          <a:xfrm>
            <a:off x="564184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4"/>
          <p:cNvSpPr txBox="1"/>
          <p:nvPr/>
        </p:nvSpPr>
        <p:spPr>
          <a:xfrm>
            <a:off x="564184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reddit</a:t>
            </a:r>
            <a:endParaRPr b="0" i="0" sz="920" u="none" cap="none" strike="noStrike">
              <a:solidFill>
                <a:schemeClr val="dk1"/>
              </a:solidFill>
              <a:latin typeface="Calibri"/>
              <a:ea typeface="Calibri"/>
              <a:cs typeface="Calibri"/>
              <a:sym typeface="Calibri"/>
            </a:endParaRPr>
          </a:p>
        </p:txBody>
      </p:sp>
      <p:sp>
        <p:nvSpPr>
          <p:cNvPr id="407" name="Google Shape;407;p14"/>
          <p:cNvSpPr/>
          <p:nvPr/>
        </p:nvSpPr>
        <p:spPr>
          <a:xfrm>
            <a:off x="79552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txBox="1"/>
          <p:nvPr/>
        </p:nvSpPr>
        <p:spPr>
          <a:xfrm>
            <a:off x="79552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london</a:t>
            </a:r>
            <a:endParaRPr b="0" i="0" sz="920" u="none" cap="none" strike="noStrike">
              <a:solidFill>
                <a:schemeClr val="dk1"/>
              </a:solidFill>
              <a:latin typeface="Calibri"/>
              <a:ea typeface="Calibri"/>
              <a:cs typeface="Calibri"/>
              <a:sym typeface="Calibri"/>
            </a:endParaRPr>
          </a:p>
        </p:txBody>
      </p:sp>
      <p:sp>
        <p:nvSpPr>
          <p:cNvPr id="409" name="Google Shape;409;p14"/>
          <p:cNvSpPr/>
          <p:nvPr/>
        </p:nvSpPr>
        <p:spPr>
          <a:xfrm>
            <a:off x="200710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txBox="1"/>
          <p:nvPr/>
        </p:nvSpPr>
        <p:spPr>
          <a:xfrm>
            <a:off x="200710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neurofeedback</a:t>
            </a:r>
            <a:endParaRPr b="0" i="0" sz="920" u="none" cap="none" strike="noStrike">
              <a:solidFill>
                <a:schemeClr val="dk1"/>
              </a:solidFill>
              <a:latin typeface="Calibri"/>
              <a:ea typeface="Calibri"/>
              <a:cs typeface="Calibri"/>
              <a:sym typeface="Calibri"/>
            </a:endParaRPr>
          </a:p>
        </p:txBody>
      </p:sp>
      <p:sp>
        <p:nvSpPr>
          <p:cNvPr id="411" name="Google Shape;411;p14"/>
          <p:cNvSpPr/>
          <p:nvPr/>
        </p:nvSpPr>
        <p:spPr>
          <a:xfrm>
            <a:off x="321868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txBox="1"/>
          <p:nvPr/>
        </p:nvSpPr>
        <p:spPr>
          <a:xfrm>
            <a:off x="321868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child</a:t>
            </a:r>
            <a:endParaRPr b="0" i="0" sz="920" u="none" cap="none" strike="noStrike">
              <a:solidFill>
                <a:schemeClr val="dk1"/>
              </a:solidFill>
              <a:latin typeface="Calibri"/>
              <a:ea typeface="Calibri"/>
              <a:cs typeface="Calibri"/>
              <a:sym typeface="Calibri"/>
            </a:endParaRPr>
          </a:p>
        </p:txBody>
      </p:sp>
      <p:sp>
        <p:nvSpPr>
          <p:cNvPr id="413" name="Google Shape;413;p14"/>
          <p:cNvSpPr/>
          <p:nvPr/>
        </p:nvSpPr>
        <p:spPr>
          <a:xfrm>
            <a:off x="443026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4"/>
          <p:cNvSpPr txBox="1"/>
          <p:nvPr/>
        </p:nvSpPr>
        <p:spPr>
          <a:xfrm>
            <a:off x="443026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children</a:t>
            </a:r>
            <a:endParaRPr b="0" i="0" sz="920" u="none" cap="none" strike="noStrike">
              <a:solidFill>
                <a:schemeClr val="dk1"/>
              </a:solidFill>
              <a:latin typeface="Calibri"/>
              <a:ea typeface="Calibri"/>
              <a:cs typeface="Calibri"/>
              <a:sym typeface="Calibri"/>
            </a:endParaRPr>
          </a:p>
        </p:txBody>
      </p:sp>
      <p:sp>
        <p:nvSpPr>
          <p:cNvPr id="415" name="Google Shape;415;p14"/>
          <p:cNvSpPr/>
          <p:nvPr/>
        </p:nvSpPr>
        <p:spPr>
          <a:xfrm>
            <a:off x="564184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txBox="1"/>
          <p:nvPr/>
        </p:nvSpPr>
        <p:spPr>
          <a:xfrm>
            <a:off x="564184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kids</a:t>
            </a:r>
            <a:endParaRPr b="0" i="0" sz="920" u="none" cap="none" strike="noStrike">
              <a:solidFill>
                <a:schemeClr val="dk1"/>
              </a:solidFill>
              <a:latin typeface="Calibri"/>
              <a:ea typeface="Calibri"/>
              <a:cs typeface="Calibri"/>
              <a:sym typeface="Calibri"/>
            </a:endParaRPr>
          </a:p>
        </p:txBody>
      </p:sp>
      <p:sp>
        <p:nvSpPr>
          <p:cNvPr id="417" name="Google Shape;417;p14"/>
          <p:cNvSpPr/>
          <p:nvPr/>
        </p:nvSpPr>
        <p:spPr>
          <a:xfrm>
            <a:off x="79552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txBox="1"/>
          <p:nvPr/>
        </p:nvSpPr>
        <p:spPr>
          <a:xfrm>
            <a:off x="79552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teenager</a:t>
            </a:r>
            <a:endParaRPr b="0" i="0" sz="920" u="none" cap="none" strike="noStrike">
              <a:solidFill>
                <a:schemeClr val="dk1"/>
              </a:solidFill>
              <a:latin typeface="Calibri"/>
              <a:ea typeface="Calibri"/>
              <a:cs typeface="Calibri"/>
              <a:sym typeface="Calibri"/>
            </a:endParaRPr>
          </a:p>
        </p:txBody>
      </p:sp>
      <p:sp>
        <p:nvSpPr>
          <p:cNvPr id="419" name="Google Shape;419;p14"/>
          <p:cNvSpPr/>
          <p:nvPr/>
        </p:nvSpPr>
        <p:spPr>
          <a:xfrm>
            <a:off x="200710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4"/>
          <p:cNvSpPr txBox="1"/>
          <p:nvPr/>
        </p:nvSpPr>
        <p:spPr>
          <a:xfrm>
            <a:off x="200710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teen</a:t>
            </a:r>
            <a:endParaRPr b="0" i="0" sz="920" u="none" cap="none" strike="noStrike">
              <a:solidFill>
                <a:schemeClr val="dk1"/>
              </a:solidFill>
              <a:latin typeface="Calibri"/>
              <a:ea typeface="Calibri"/>
              <a:cs typeface="Calibri"/>
              <a:sym typeface="Calibri"/>
            </a:endParaRPr>
          </a:p>
        </p:txBody>
      </p:sp>
      <p:sp>
        <p:nvSpPr>
          <p:cNvPr id="421" name="Google Shape;421;p14"/>
          <p:cNvSpPr/>
          <p:nvPr/>
        </p:nvSpPr>
        <p:spPr>
          <a:xfrm>
            <a:off x="321868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txBox="1"/>
          <p:nvPr/>
        </p:nvSpPr>
        <p:spPr>
          <a:xfrm>
            <a:off x="321868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son</a:t>
            </a:r>
            <a:endParaRPr b="0" i="0" sz="920" u="none" cap="none" strike="noStrike">
              <a:solidFill>
                <a:schemeClr val="dk1"/>
              </a:solidFill>
              <a:latin typeface="Calibri"/>
              <a:ea typeface="Calibri"/>
              <a:cs typeface="Calibri"/>
              <a:sym typeface="Calibri"/>
            </a:endParaRPr>
          </a:p>
        </p:txBody>
      </p:sp>
      <p:sp>
        <p:nvSpPr>
          <p:cNvPr id="423" name="Google Shape;423;p14"/>
          <p:cNvSpPr/>
          <p:nvPr/>
        </p:nvSpPr>
        <p:spPr>
          <a:xfrm>
            <a:off x="443026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4"/>
          <p:cNvSpPr txBox="1"/>
          <p:nvPr/>
        </p:nvSpPr>
        <p:spPr>
          <a:xfrm>
            <a:off x="443026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daughter</a:t>
            </a:r>
            <a:endParaRPr b="0" i="0" sz="920" u="none" cap="none" strike="noStrike">
              <a:solidFill>
                <a:schemeClr val="dk1"/>
              </a:solidFill>
              <a:latin typeface="Calibri"/>
              <a:ea typeface="Calibri"/>
              <a:cs typeface="Calibri"/>
              <a:sym typeface="Calibri"/>
            </a:endParaRPr>
          </a:p>
        </p:txBody>
      </p:sp>
      <p:sp>
        <p:nvSpPr>
          <p:cNvPr id="425" name="Google Shape;425;p14"/>
          <p:cNvSpPr/>
          <p:nvPr/>
        </p:nvSpPr>
        <p:spPr>
          <a:xfrm>
            <a:off x="564184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4"/>
          <p:cNvSpPr txBox="1"/>
          <p:nvPr/>
        </p:nvSpPr>
        <p:spPr>
          <a:xfrm>
            <a:off x="564184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paediatric</a:t>
            </a:r>
            <a:endParaRPr b="0" i="0" sz="920" u="none" cap="none" strike="noStrike">
              <a:solidFill>
                <a:schemeClr val="dk1"/>
              </a:solidFill>
              <a:latin typeface="Calibri"/>
              <a:ea typeface="Calibri"/>
              <a:cs typeface="Calibri"/>
              <a:sym typeface="Calibri"/>
            </a:endParaRPr>
          </a:p>
        </p:txBody>
      </p:sp>
      <p:sp>
        <p:nvSpPr>
          <p:cNvPr id="427" name="Google Shape;427;p14"/>
          <p:cNvSpPr/>
          <p:nvPr/>
        </p:nvSpPr>
        <p:spPr>
          <a:xfrm>
            <a:off x="795528" y="576072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4"/>
          <p:cNvSpPr txBox="1"/>
          <p:nvPr/>
        </p:nvSpPr>
        <p:spPr>
          <a:xfrm>
            <a:off x="795528" y="576072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careadhd</a:t>
            </a:r>
            <a:endParaRPr b="0" i="0" sz="920" u="none" cap="none" strike="noStrike">
              <a:solidFill>
                <a:schemeClr val="dk1"/>
              </a:solidFill>
              <a:latin typeface="Calibri"/>
              <a:ea typeface="Calibri"/>
              <a:cs typeface="Calibri"/>
              <a:sym typeface="Calibri"/>
            </a:endParaRPr>
          </a:p>
        </p:txBody>
      </p:sp>
      <p:sp>
        <p:nvSpPr>
          <p:cNvPr id="429" name="Google Shape;429;p14"/>
          <p:cNvSpPr/>
          <p:nvPr/>
        </p:nvSpPr>
        <p:spPr>
          <a:xfrm>
            <a:off x="2007108" y="576072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4"/>
          <p:cNvSpPr txBox="1"/>
          <p:nvPr/>
        </p:nvSpPr>
        <p:spPr>
          <a:xfrm>
            <a:off x="2007108" y="576072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adhd360</a:t>
            </a:r>
            <a:endParaRPr b="0" i="0" sz="920" u="none" cap="none" strike="noStrike">
              <a:solidFill>
                <a:schemeClr val="dk1"/>
              </a:solidFill>
              <a:latin typeface="Calibri"/>
              <a:ea typeface="Calibri"/>
              <a:cs typeface="Calibri"/>
              <a:sym typeface="Calibri"/>
            </a:endParaRPr>
          </a:p>
        </p:txBody>
      </p:sp>
      <p:sp>
        <p:nvSpPr>
          <p:cNvPr id="431" name="Google Shape;431;p14"/>
          <p:cNvSpPr/>
          <p:nvPr/>
        </p:nvSpPr>
        <p:spPr>
          <a:xfrm>
            <a:off x="3218688" y="576072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4"/>
          <p:cNvSpPr txBox="1"/>
          <p:nvPr/>
        </p:nvSpPr>
        <p:spPr>
          <a:xfrm>
            <a:off x="3218688" y="576072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camhs</a:t>
            </a:r>
            <a:endParaRPr b="0" i="0" sz="920" u="none" cap="none" strike="noStrike">
              <a:solidFill>
                <a:schemeClr val="dk1"/>
              </a:solidFill>
              <a:latin typeface="Calibri"/>
              <a:ea typeface="Calibri"/>
              <a:cs typeface="Calibri"/>
              <a:sym typeface="Calibri"/>
            </a:endParaRPr>
          </a:p>
        </p:txBody>
      </p:sp>
      <p:sp>
        <p:nvSpPr>
          <p:cNvPr id="433" name="Google Shape;433;p14"/>
          <p:cNvSpPr/>
          <p:nvPr/>
        </p:nvSpPr>
        <p:spPr>
          <a:xfrm>
            <a:off x="7269480" y="2615184"/>
            <a:ext cx="4416552" cy="3611880"/>
          </a:xfrm>
          <a:prstGeom prst="roundRect">
            <a:avLst>
              <a:gd fmla="val 2532"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4"/>
          <p:cNvSpPr/>
          <p:nvPr/>
        </p:nvSpPr>
        <p:spPr>
          <a:xfrm>
            <a:off x="7525512" y="2852928"/>
            <a:ext cx="512064" cy="512064"/>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an_dark.png" id="435" name="Google Shape;435;p14"/>
          <p:cNvPicPr preferRelativeResize="0"/>
          <p:nvPr/>
        </p:nvPicPr>
        <p:blipFill rotWithShape="1">
          <a:blip r:embed="rId4">
            <a:alphaModFix/>
          </a:blip>
          <a:srcRect b="0" l="0" r="0" t="0"/>
          <a:stretch/>
        </p:blipFill>
        <p:spPr>
          <a:xfrm>
            <a:off x="7653528" y="2980944"/>
            <a:ext cx="256032" cy="256032"/>
          </a:xfrm>
          <a:prstGeom prst="rect">
            <a:avLst/>
          </a:prstGeom>
          <a:noFill/>
          <a:ln>
            <a:noFill/>
          </a:ln>
        </p:spPr>
      </p:pic>
      <p:sp>
        <p:nvSpPr>
          <p:cNvPr id="436" name="Google Shape;436;p14"/>
          <p:cNvSpPr txBox="1"/>
          <p:nvPr/>
        </p:nvSpPr>
        <p:spPr>
          <a:xfrm>
            <a:off x="8138160" y="2852928"/>
            <a:ext cx="34747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Phrase Match Negatives</a:t>
            </a:r>
            <a:endParaRPr b="0" i="0" sz="1600" u="none" cap="none" strike="noStrike">
              <a:solidFill>
                <a:schemeClr val="dk1"/>
              </a:solidFill>
              <a:latin typeface="Calibri"/>
              <a:ea typeface="Calibri"/>
              <a:cs typeface="Calibri"/>
              <a:sym typeface="Calibri"/>
            </a:endParaRPr>
          </a:p>
        </p:txBody>
      </p:sp>
      <p:sp>
        <p:nvSpPr>
          <p:cNvPr id="437" name="Google Shape;437;p14"/>
          <p:cNvSpPr txBox="1"/>
          <p:nvPr/>
        </p:nvSpPr>
        <p:spPr>
          <a:xfrm>
            <a:off x="7589520" y="3511296"/>
            <a:ext cx="3931920" cy="2651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"right to choose"</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"self test"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"self assessment"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"online test"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"do i have"</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"what is"</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"how to treat"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"shared care"</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"adhd medication"</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"private prescription"</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"support group"</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"mental health team"</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"psychiatry uk"</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"diverse diagnostics"</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"harley psychiatrists"</a:t>
            </a:r>
            <a:endParaRPr b="0" i="0" sz="950" u="none" cap="none" strike="noStrike">
              <a:solidFill>
                <a:schemeClr val="dk1"/>
              </a:solidFill>
              <a:latin typeface="Calibri"/>
              <a:ea typeface="Calibri"/>
              <a:cs typeface="Calibri"/>
              <a:sym typeface="Calibri"/>
            </a:endParaRPr>
          </a:p>
        </p:txBody>
      </p:sp>
      <p:sp>
        <p:nvSpPr>
          <p:cNvPr id="438" name="Google Shape;438;p14"/>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15"/>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Audience</a:t>
            </a:r>
            <a:endParaRPr b="0" i="0" sz="1500" u="none" cap="none" strike="noStrike">
              <a:solidFill>
                <a:schemeClr val="dk1"/>
              </a:solidFill>
              <a:latin typeface="Calibri"/>
              <a:ea typeface="Calibri"/>
              <a:cs typeface="Calibri"/>
              <a:sym typeface="Calibri"/>
            </a:endParaRPr>
          </a:p>
        </p:txBody>
      </p:sp>
      <p:sp>
        <p:nvSpPr>
          <p:cNvPr id="445" name="Google Shape;445;p15"/>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CHILD &amp; TEEN ADHD · TARGET AUDIENCE</a:t>
            </a:r>
            <a:endParaRPr b="0" i="0" sz="1250" u="none" cap="none" strike="noStrike">
              <a:solidFill>
                <a:schemeClr val="dk1"/>
              </a:solidFill>
              <a:latin typeface="Calibri"/>
              <a:ea typeface="Calibri"/>
              <a:cs typeface="Calibri"/>
              <a:sym typeface="Calibri"/>
            </a:endParaRPr>
          </a:p>
        </p:txBody>
      </p:sp>
      <p:sp>
        <p:nvSpPr>
          <p:cNvPr id="446" name="Google Shape;446;p15"/>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Who We're Speaking To</a:t>
            </a:r>
            <a:endParaRPr b="0" i="0" sz="3300" u="none" cap="none" strike="noStrike">
              <a:solidFill>
                <a:schemeClr val="dk1"/>
              </a:solidFill>
              <a:latin typeface="Calibri"/>
              <a:ea typeface="Calibri"/>
              <a:cs typeface="Calibri"/>
              <a:sym typeface="Calibri"/>
            </a:endParaRPr>
          </a:p>
        </p:txBody>
      </p:sp>
      <p:sp>
        <p:nvSpPr>
          <p:cNvPr id="447" name="Google Shape;447;p15"/>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Parents — overwhelmingly mothers — searching on behalf of a child or teenager, usually after school has raised concerns or a CAMHS wait has become unbearable. Teen demand is too small for its own campaign, so it lives as ad groups inside the child campaign with teen-specific copy.</a:t>
            </a:r>
            <a:endParaRPr b="0" i="0" sz="1350" u="none" cap="none" strike="noStrike">
              <a:solidFill>
                <a:schemeClr val="dk1"/>
              </a:solidFill>
              <a:latin typeface="Calibri"/>
              <a:ea typeface="Calibri"/>
              <a:cs typeface="Calibri"/>
              <a:sym typeface="Calibri"/>
            </a:endParaRPr>
          </a:p>
        </p:txBody>
      </p:sp>
      <p:sp>
        <p:nvSpPr>
          <p:cNvPr id="448" name="Google Shape;448;p15"/>
          <p:cNvSpPr/>
          <p:nvPr/>
        </p:nvSpPr>
        <p:spPr>
          <a:xfrm>
            <a:off x="502920" y="2560320"/>
            <a:ext cx="5440680" cy="3246120"/>
          </a:xfrm>
          <a:prstGeom prst="roundRect">
            <a:avLst>
              <a:gd fmla="val 281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5"/>
          <p:cNvSpPr/>
          <p:nvPr/>
        </p:nvSpPr>
        <p:spPr>
          <a:xfrm>
            <a:off x="795528" y="2834640"/>
            <a:ext cx="658368" cy="65836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mile_white.png" id="450" name="Google Shape;450;p15"/>
          <p:cNvPicPr preferRelativeResize="0"/>
          <p:nvPr/>
        </p:nvPicPr>
        <p:blipFill rotWithShape="1">
          <a:blip r:embed="rId3">
            <a:alphaModFix/>
          </a:blip>
          <a:srcRect b="0" l="0" r="0" t="0"/>
          <a:stretch/>
        </p:blipFill>
        <p:spPr>
          <a:xfrm>
            <a:off x="932688" y="2971800"/>
            <a:ext cx="384048" cy="384048"/>
          </a:xfrm>
          <a:prstGeom prst="rect">
            <a:avLst/>
          </a:prstGeom>
          <a:noFill/>
          <a:ln>
            <a:noFill/>
          </a:ln>
        </p:spPr>
      </p:pic>
      <p:sp>
        <p:nvSpPr>
          <p:cNvPr id="451" name="Google Shape;451;p15"/>
          <p:cNvSpPr txBox="1"/>
          <p:nvPr/>
        </p:nvSpPr>
        <p:spPr>
          <a:xfrm>
            <a:off x="1600200" y="2816352"/>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PERSONA 03</a:t>
            </a:r>
            <a:endParaRPr b="0" i="0" sz="1000" u="none" cap="none" strike="noStrike">
              <a:solidFill>
                <a:schemeClr val="dk1"/>
              </a:solidFill>
              <a:latin typeface="Calibri"/>
              <a:ea typeface="Calibri"/>
              <a:cs typeface="Calibri"/>
              <a:sym typeface="Calibri"/>
            </a:endParaRPr>
          </a:p>
        </p:txBody>
      </p:sp>
      <p:sp>
        <p:nvSpPr>
          <p:cNvPr id="452" name="Google Shape;452;p15"/>
          <p:cNvSpPr txBox="1"/>
          <p:nvPr/>
        </p:nvSpPr>
        <p:spPr>
          <a:xfrm>
            <a:off x="1600200" y="301752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900"/>
              <a:buFont typeface="Poppins"/>
              <a:buNone/>
            </a:pPr>
            <a:r>
              <a:rPr b="1" i="0" lang="en-US" sz="1900" u="none" cap="none" strike="noStrike">
                <a:solidFill>
                  <a:srgbClr val="2B2E2C"/>
                </a:solidFill>
                <a:latin typeface="Poppins"/>
                <a:ea typeface="Poppins"/>
                <a:cs typeface="Poppins"/>
                <a:sym typeface="Poppins"/>
              </a:rPr>
              <a:t>The Worried Parent</a:t>
            </a:r>
            <a:endParaRPr b="0" i="0" sz="1900" u="none" cap="none" strike="noStrike">
              <a:solidFill>
                <a:schemeClr val="dk1"/>
              </a:solidFill>
              <a:latin typeface="Calibri"/>
              <a:ea typeface="Calibri"/>
              <a:cs typeface="Calibri"/>
              <a:sym typeface="Calibri"/>
            </a:endParaRPr>
          </a:p>
        </p:txBody>
      </p:sp>
      <p:sp>
        <p:nvSpPr>
          <p:cNvPr id="453" name="Google Shape;453;p15"/>
          <p:cNvSpPr txBox="1"/>
          <p:nvPr/>
        </p:nvSpPr>
        <p:spPr>
          <a:xfrm>
            <a:off x="1600200" y="3401568"/>
            <a:ext cx="4206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050"/>
              <a:buFont typeface="Calibri"/>
              <a:buNone/>
            </a:pPr>
            <a:r>
              <a:rPr b="0" i="1" lang="en-US" sz="1050" u="none" cap="none" strike="noStrike">
                <a:solidFill>
                  <a:srgbClr val="6E7873"/>
                </a:solidFill>
                <a:latin typeface="Calibri"/>
                <a:ea typeface="Calibri"/>
                <a:cs typeface="Calibri"/>
                <a:sym typeface="Calibri"/>
              </a:rPr>
              <a:t>Child 6–12 · parent 30–45 · mostly mothers · school raising concerns</a:t>
            </a:r>
            <a:endParaRPr b="0" i="0" sz="1050" u="none" cap="none" strike="noStrike">
              <a:solidFill>
                <a:schemeClr val="dk1"/>
              </a:solidFill>
              <a:latin typeface="Calibri"/>
              <a:ea typeface="Calibri"/>
              <a:cs typeface="Calibri"/>
              <a:sym typeface="Calibri"/>
            </a:endParaRPr>
          </a:p>
        </p:txBody>
      </p:sp>
      <p:sp>
        <p:nvSpPr>
          <p:cNvPr id="454" name="Google Shape;454;p15"/>
          <p:cNvSpPr txBox="1"/>
          <p:nvPr/>
        </p:nvSpPr>
        <p:spPr>
          <a:xfrm>
            <a:off x="822960" y="3794760"/>
            <a:ext cx="4846320" cy="12344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Teachers flagging focus, impulsivity or behaviour</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Already on a CAMHS or paediatric waiting list</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Wants a diagnosis school and GP will act on</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Searching on mobile between work and school runs</a:t>
            </a:r>
            <a:endParaRPr b="0" i="0" sz="1150" u="none" cap="none" strike="noStrike">
              <a:solidFill>
                <a:schemeClr val="dk1"/>
              </a:solidFill>
              <a:latin typeface="Calibri"/>
              <a:ea typeface="Calibri"/>
              <a:cs typeface="Calibri"/>
              <a:sym typeface="Calibri"/>
            </a:endParaRPr>
          </a:p>
        </p:txBody>
      </p:sp>
      <p:sp>
        <p:nvSpPr>
          <p:cNvPr id="455" name="Google Shape;455;p15"/>
          <p:cNvSpPr/>
          <p:nvPr/>
        </p:nvSpPr>
        <p:spPr>
          <a:xfrm>
            <a:off x="795528" y="5166360"/>
            <a:ext cx="4846320" cy="457200"/>
          </a:xfrm>
          <a:prstGeom prst="roundRect">
            <a:avLst>
              <a:gd fmla="val 16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5"/>
          <p:cNvSpPr txBox="1"/>
          <p:nvPr/>
        </p:nvSpPr>
        <p:spPr>
          <a:xfrm>
            <a:off x="960120" y="516636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B4F"/>
              </a:buClr>
              <a:buSzPts val="1200"/>
              <a:buFont typeface="Poppins"/>
              <a:buNone/>
            </a:pPr>
            <a:r>
              <a:rPr b="1" i="1" lang="en-US" sz="1200" u="none" cap="none" strike="noStrike">
                <a:solidFill>
                  <a:srgbClr val="0F6B4F"/>
                </a:solidFill>
                <a:latin typeface="Poppins"/>
                <a:ea typeface="Poppins"/>
                <a:cs typeface="Poppins"/>
                <a:sym typeface="Poppins"/>
              </a:rPr>
              <a:t>“School says he's struggling — I want answers now.”</a:t>
            </a:r>
            <a:endParaRPr b="0" i="0" sz="1200" u="none" cap="none" strike="noStrike">
              <a:solidFill>
                <a:schemeClr val="dk1"/>
              </a:solidFill>
              <a:latin typeface="Calibri"/>
              <a:ea typeface="Calibri"/>
              <a:cs typeface="Calibri"/>
              <a:sym typeface="Calibri"/>
            </a:endParaRPr>
          </a:p>
        </p:txBody>
      </p:sp>
      <p:sp>
        <p:nvSpPr>
          <p:cNvPr id="457" name="Google Shape;457;p15"/>
          <p:cNvSpPr/>
          <p:nvPr/>
        </p:nvSpPr>
        <p:spPr>
          <a:xfrm>
            <a:off x="6245352" y="2560320"/>
            <a:ext cx="5440680" cy="3246120"/>
          </a:xfrm>
          <a:prstGeom prst="roundRect">
            <a:avLst>
              <a:gd fmla="val 281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5"/>
          <p:cNvSpPr/>
          <p:nvPr/>
        </p:nvSpPr>
        <p:spPr>
          <a:xfrm>
            <a:off x="6537960" y="2834640"/>
            <a:ext cx="658368" cy="658368"/>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s_white.png" id="459" name="Google Shape;459;p15"/>
          <p:cNvPicPr preferRelativeResize="0"/>
          <p:nvPr/>
        </p:nvPicPr>
        <p:blipFill rotWithShape="1">
          <a:blip r:embed="rId4">
            <a:alphaModFix/>
          </a:blip>
          <a:srcRect b="0" l="0" r="0" t="0"/>
          <a:stretch/>
        </p:blipFill>
        <p:spPr>
          <a:xfrm>
            <a:off x="6675120" y="2971800"/>
            <a:ext cx="384048" cy="384048"/>
          </a:xfrm>
          <a:prstGeom prst="rect">
            <a:avLst/>
          </a:prstGeom>
          <a:noFill/>
          <a:ln>
            <a:noFill/>
          </a:ln>
        </p:spPr>
      </p:pic>
      <p:sp>
        <p:nvSpPr>
          <p:cNvPr id="460" name="Google Shape;460;p15"/>
          <p:cNvSpPr txBox="1"/>
          <p:nvPr/>
        </p:nvSpPr>
        <p:spPr>
          <a:xfrm>
            <a:off x="7342632" y="2816352"/>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PERSONA 04</a:t>
            </a:r>
            <a:endParaRPr b="0" i="0" sz="1000" u="none" cap="none" strike="noStrike">
              <a:solidFill>
                <a:schemeClr val="dk1"/>
              </a:solidFill>
              <a:latin typeface="Calibri"/>
              <a:ea typeface="Calibri"/>
              <a:cs typeface="Calibri"/>
              <a:sym typeface="Calibri"/>
            </a:endParaRPr>
          </a:p>
        </p:txBody>
      </p:sp>
      <p:sp>
        <p:nvSpPr>
          <p:cNvPr id="461" name="Google Shape;461;p15"/>
          <p:cNvSpPr txBox="1"/>
          <p:nvPr/>
        </p:nvSpPr>
        <p:spPr>
          <a:xfrm>
            <a:off x="7342632" y="301752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900"/>
              <a:buFont typeface="Poppins"/>
              <a:buNone/>
            </a:pPr>
            <a:r>
              <a:rPr b="1" i="0" lang="en-US" sz="1900" u="none" cap="none" strike="noStrike">
                <a:solidFill>
                  <a:srgbClr val="2B2E2C"/>
                </a:solidFill>
                <a:latin typeface="Poppins"/>
                <a:ea typeface="Poppins"/>
                <a:cs typeface="Poppins"/>
                <a:sym typeface="Poppins"/>
              </a:rPr>
              <a:t>The Exam-Year Parent</a:t>
            </a:r>
            <a:endParaRPr b="0" i="0" sz="1900" u="none" cap="none" strike="noStrike">
              <a:solidFill>
                <a:schemeClr val="dk1"/>
              </a:solidFill>
              <a:latin typeface="Calibri"/>
              <a:ea typeface="Calibri"/>
              <a:cs typeface="Calibri"/>
              <a:sym typeface="Calibri"/>
            </a:endParaRPr>
          </a:p>
        </p:txBody>
      </p:sp>
      <p:sp>
        <p:nvSpPr>
          <p:cNvPr id="462" name="Google Shape;462;p15"/>
          <p:cNvSpPr txBox="1"/>
          <p:nvPr/>
        </p:nvSpPr>
        <p:spPr>
          <a:xfrm>
            <a:off x="7342632" y="3401568"/>
            <a:ext cx="4206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050"/>
              <a:buFont typeface="Calibri"/>
              <a:buNone/>
            </a:pPr>
            <a:r>
              <a:rPr b="0" i="1" lang="en-US" sz="1050" u="none" cap="none" strike="noStrike">
                <a:solidFill>
                  <a:srgbClr val="6E7873"/>
                </a:solidFill>
                <a:latin typeface="Calibri"/>
                <a:ea typeface="Calibri"/>
                <a:cs typeface="Calibri"/>
                <a:sym typeface="Calibri"/>
              </a:rPr>
              <a:t>Teen 13–18 · parent 40–55 · GCSEs, A-levels or university ahead</a:t>
            </a:r>
            <a:endParaRPr b="0" i="0" sz="1050" u="none" cap="none" strike="noStrike">
              <a:solidFill>
                <a:schemeClr val="dk1"/>
              </a:solidFill>
              <a:latin typeface="Calibri"/>
              <a:ea typeface="Calibri"/>
              <a:cs typeface="Calibri"/>
              <a:sym typeface="Calibri"/>
            </a:endParaRPr>
          </a:p>
        </p:txBody>
      </p:sp>
      <p:sp>
        <p:nvSpPr>
          <p:cNvPr id="463" name="Google Shape;463;p15"/>
          <p:cNvSpPr txBox="1"/>
          <p:nvPr/>
        </p:nvSpPr>
        <p:spPr>
          <a:xfrm>
            <a:off x="6565392" y="3794760"/>
            <a:ext cx="4846320" cy="12344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Grades slipping, missed deadlines, low self-esteem</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Teen has often self-identified via TikTok or friends</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Wants a diagnosis before exams or university</a:t>
            </a:r>
            <a:endParaRPr b="0" i="0" sz="115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rgbClr val="2B2E2C"/>
              </a:buClr>
              <a:buSzPts val="1150"/>
              <a:buFont typeface="Calibri"/>
              <a:buChar char="•"/>
            </a:pPr>
            <a:r>
              <a:rPr b="0" i="0" lang="en-US" sz="1150" u="none" cap="none" strike="noStrike">
                <a:solidFill>
                  <a:srgbClr val="2B2E2C"/>
                </a:solidFill>
                <a:latin typeface="Calibri"/>
                <a:ea typeface="Calibri"/>
                <a:cs typeface="Calibri"/>
                <a:sym typeface="Calibri"/>
              </a:rPr>
              <a:t>Needs a report the school's SENCO can use</a:t>
            </a:r>
            <a:endParaRPr b="0" i="0" sz="1150" u="none" cap="none" strike="noStrike">
              <a:solidFill>
                <a:schemeClr val="dk1"/>
              </a:solidFill>
              <a:latin typeface="Calibri"/>
              <a:ea typeface="Calibri"/>
              <a:cs typeface="Calibri"/>
              <a:sym typeface="Calibri"/>
            </a:endParaRPr>
          </a:p>
        </p:txBody>
      </p:sp>
      <p:sp>
        <p:nvSpPr>
          <p:cNvPr id="464" name="Google Shape;464;p15"/>
          <p:cNvSpPr/>
          <p:nvPr/>
        </p:nvSpPr>
        <p:spPr>
          <a:xfrm>
            <a:off x="6537960" y="5166360"/>
            <a:ext cx="4846320" cy="457200"/>
          </a:xfrm>
          <a:prstGeom prst="roundRect">
            <a:avLst>
              <a:gd fmla="val 16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5"/>
          <p:cNvSpPr txBox="1"/>
          <p:nvPr/>
        </p:nvSpPr>
        <p:spPr>
          <a:xfrm>
            <a:off x="6702552" y="516636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B4F"/>
              </a:buClr>
              <a:buSzPts val="1200"/>
              <a:buFont typeface="Poppins"/>
              <a:buNone/>
            </a:pPr>
            <a:r>
              <a:rPr b="1" i="1" lang="en-US" sz="1200" u="none" cap="none" strike="noStrike">
                <a:solidFill>
                  <a:srgbClr val="0F6B4F"/>
                </a:solidFill>
                <a:latin typeface="Poppins"/>
                <a:ea typeface="Poppins"/>
                <a:cs typeface="Poppins"/>
                <a:sym typeface="Poppins"/>
              </a:rPr>
              <a:t>“We can't wait two years — exams are next summer.”</a:t>
            </a:r>
            <a:endParaRPr b="0" i="0" sz="1200" u="none" cap="none" strike="noStrike">
              <a:solidFill>
                <a:schemeClr val="dk1"/>
              </a:solidFill>
              <a:latin typeface="Calibri"/>
              <a:ea typeface="Calibri"/>
              <a:cs typeface="Calibri"/>
              <a:sym typeface="Calibri"/>
            </a:endParaRPr>
          </a:p>
        </p:txBody>
      </p:sp>
      <p:sp>
        <p:nvSpPr>
          <p:cNvPr id="466" name="Google Shape;466;p15"/>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6"/>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473" name="Google Shape;473;p16"/>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03 · PRIMARY-AGE CHILD</a:t>
            </a:r>
            <a:endParaRPr b="0" i="0" sz="1250" u="none" cap="none" strike="noStrike">
              <a:solidFill>
                <a:schemeClr val="dk1"/>
              </a:solidFill>
              <a:latin typeface="Calibri"/>
              <a:ea typeface="Calibri"/>
              <a:cs typeface="Calibri"/>
              <a:sym typeface="Calibri"/>
            </a:endParaRPr>
          </a:p>
        </p:txBody>
      </p:sp>
      <p:sp>
        <p:nvSpPr>
          <p:cNvPr id="474" name="Google Shape;474;p16"/>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Worried Parent</a:t>
            </a:r>
            <a:endParaRPr b="0" i="0" sz="3300" u="none" cap="none" strike="noStrike">
              <a:solidFill>
                <a:schemeClr val="dk1"/>
              </a:solidFill>
              <a:latin typeface="Calibri"/>
              <a:ea typeface="Calibri"/>
              <a:cs typeface="Calibri"/>
              <a:sym typeface="Calibri"/>
            </a:endParaRPr>
          </a:p>
        </p:txBody>
      </p:sp>
      <p:sp>
        <p:nvSpPr>
          <p:cNvPr id="475" name="Google Shape;475;p16"/>
          <p:cNvSpPr/>
          <p:nvPr/>
        </p:nvSpPr>
        <p:spPr>
          <a:xfrm>
            <a:off x="502920" y="2011680"/>
            <a:ext cx="11183112" cy="658368"/>
          </a:xfrm>
          <a:prstGeom prst="roundRect">
            <a:avLst>
              <a:gd fmla="val 13889"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713232" y="2130552"/>
            <a:ext cx="420624" cy="420624"/>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mile_dark.png" id="477" name="Google Shape;477;p16"/>
          <p:cNvPicPr preferRelativeResize="0"/>
          <p:nvPr/>
        </p:nvPicPr>
        <p:blipFill rotWithShape="1">
          <a:blip r:embed="rId3">
            <a:alphaModFix/>
          </a:blip>
          <a:srcRect b="0" l="0" r="0" t="0"/>
          <a:stretch/>
        </p:blipFill>
        <p:spPr>
          <a:xfrm>
            <a:off x="813816" y="2231136"/>
            <a:ext cx="219456" cy="219456"/>
          </a:xfrm>
          <a:prstGeom prst="rect">
            <a:avLst/>
          </a:prstGeom>
          <a:noFill/>
          <a:ln>
            <a:noFill/>
          </a:ln>
        </p:spPr>
      </p:pic>
      <p:sp>
        <p:nvSpPr>
          <p:cNvPr id="478" name="Google Shape;478;p16"/>
          <p:cNvSpPr txBox="1"/>
          <p:nvPr/>
        </p:nvSpPr>
        <p:spPr>
          <a:xfrm>
            <a:off x="1325880" y="2011680"/>
            <a:ext cx="78638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1" lang="en-US" sz="1600" u="none" cap="none" strike="noStrike">
                <a:solidFill>
                  <a:srgbClr val="FFFFFF"/>
                </a:solidFill>
                <a:latin typeface="Poppins"/>
                <a:ea typeface="Poppins"/>
                <a:cs typeface="Poppins"/>
                <a:sym typeface="Poppins"/>
              </a:rPr>
              <a:t>“School says he's struggling — I want answers now.”</a:t>
            </a:r>
            <a:endParaRPr b="0" i="0" sz="1600" u="none" cap="none" strike="noStrike">
              <a:solidFill>
                <a:schemeClr val="dk1"/>
              </a:solidFill>
              <a:latin typeface="Calibri"/>
              <a:ea typeface="Calibri"/>
              <a:cs typeface="Calibri"/>
              <a:sym typeface="Calibri"/>
            </a:endParaRPr>
          </a:p>
        </p:txBody>
      </p:sp>
      <p:sp>
        <p:nvSpPr>
          <p:cNvPr id="479" name="Google Shape;479;p16"/>
          <p:cNvSpPr txBox="1"/>
          <p:nvPr/>
        </p:nvSpPr>
        <p:spPr>
          <a:xfrm>
            <a:off x="9052560" y="2011680"/>
            <a:ext cx="2423160"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Child 6–12</a:t>
            </a:r>
            <a:endParaRPr b="0" i="0" sz="12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Parent 30–45</a:t>
            </a:r>
            <a:endParaRPr b="0" i="0" sz="1200" u="none" cap="none" strike="noStrike">
              <a:solidFill>
                <a:schemeClr val="dk1"/>
              </a:solidFill>
              <a:latin typeface="Calibri"/>
              <a:ea typeface="Calibri"/>
              <a:cs typeface="Calibri"/>
              <a:sym typeface="Calibri"/>
            </a:endParaRPr>
          </a:p>
        </p:txBody>
      </p:sp>
      <p:sp>
        <p:nvSpPr>
          <p:cNvPr id="480" name="Google Shape;480;p16"/>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777240" y="3127248"/>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list_white.png" id="482" name="Google Shape;482;p16"/>
          <p:cNvPicPr preferRelativeResize="0"/>
          <p:nvPr/>
        </p:nvPicPr>
        <p:blipFill rotWithShape="1">
          <a:blip r:embed="rId4">
            <a:alphaModFix/>
          </a:blip>
          <a:srcRect b="0" l="0" r="0" t="0"/>
          <a:stretch/>
        </p:blipFill>
        <p:spPr>
          <a:xfrm>
            <a:off x="914400" y="3264408"/>
            <a:ext cx="274320" cy="274320"/>
          </a:xfrm>
          <a:prstGeom prst="rect">
            <a:avLst/>
          </a:prstGeom>
          <a:noFill/>
          <a:ln>
            <a:noFill/>
          </a:ln>
        </p:spPr>
      </p:pic>
      <p:sp>
        <p:nvSpPr>
          <p:cNvPr id="483" name="Google Shape;483;p16"/>
          <p:cNvSpPr txBox="1"/>
          <p:nvPr/>
        </p:nvSpPr>
        <p:spPr>
          <a:xfrm>
            <a:off x="1453896"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484" name="Google Shape;484;p16"/>
          <p:cNvSpPr txBox="1"/>
          <p:nvPr/>
        </p:nvSpPr>
        <p:spPr>
          <a:xfrm>
            <a:off x="813816"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Primary-school child; teachers flagging focus or behaviour</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Already on a CAMHS or paediatric waiting list</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Juggling work and school meetings; searches on mobile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Talks to other parents and in Facebook groups</a:t>
            </a:r>
            <a:endParaRPr b="0" i="0" sz="1100" u="none" cap="none" strike="noStrike">
              <a:solidFill>
                <a:schemeClr val="dk1"/>
              </a:solidFill>
              <a:latin typeface="Calibri"/>
              <a:ea typeface="Calibri"/>
              <a:cs typeface="Calibri"/>
              <a:sym typeface="Calibri"/>
            </a:endParaRPr>
          </a:p>
        </p:txBody>
      </p:sp>
      <p:sp>
        <p:nvSpPr>
          <p:cNvPr id="485" name="Google Shape;485;p16"/>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6519672" y="3127248"/>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white.png" id="487" name="Google Shape;487;p16"/>
          <p:cNvPicPr preferRelativeResize="0"/>
          <p:nvPr/>
        </p:nvPicPr>
        <p:blipFill rotWithShape="1">
          <a:blip r:embed="rId5">
            <a:alphaModFix/>
          </a:blip>
          <a:srcRect b="0" l="0" r="0" t="0"/>
          <a:stretch/>
        </p:blipFill>
        <p:spPr>
          <a:xfrm>
            <a:off x="6656832" y="3264408"/>
            <a:ext cx="274320" cy="274320"/>
          </a:xfrm>
          <a:prstGeom prst="rect">
            <a:avLst/>
          </a:prstGeom>
          <a:noFill/>
          <a:ln>
            <a:noFill/>
          </a:ln>
        </p:spPr>
      </p:pic>
      <p:sp>
        <p:nvSpPr>
          <p:cNvPr id="488" name="Google Shape;488;p16"/>
          <p:cNvSpPr txBox="1"/>
          <p:nvPr/>
        </p:nvSpPr>
        <p:spPr>
          <a:xfrm>
            <a:off x="7196328"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489" name="Google Shape;489;p16"/>
          <p:cNvSpPr txBox="1"/>
          <p:nvPr/>
        </p:nvSpPr>
        <p:spPr>
          <a:xfrm>
            <a:off x="6556248"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clear diagnosis the school and GP will act on</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Support in school — SEN plan, EHCP evidence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To understand their child and stop the blame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clinician who is good with children</a:t>
            </a:r>
            <a:endParaRPr b="0" i="0" sz="1100" u="none" cap="none" strike="noStrike">
              <a:solidFill>
                <a:schemeClr val="dk1"/>
              </a:solidFill>
              <a:latin typeface="Calibri"/>
              <a:ea typeface="Calibri"/>
              <a:cs typeface="Calibri"/>
              <a:sym typeface="Calibri"/>
            </a:endParaRPr>
          </a:p>
        </p:txBody>
      </p:sp>
      <p:sp>
        <p:nvSpPr>
          <p:cNvPr id="490" name="Google Shape;490;p16"/>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a:off x="777240" y="4974336"/>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warning_white.png" id="492" name="Google Shape;492;p16"/>
          <p:cNvPicPr preferRelativeResize="0"/>
          <p:nvPr/>
        </p:nvPicPr>
        <p:blipFill rotWithShape="1">
          <a:blip r:embed="rId6">
            <a:alphaModFix/>
          </a:blip>
          <a:srcRect b="0" l="0" r="0" t="0"/>
          <a:stretch/>
        </p:blipFill>
        <p:spPr>
          <a:xfrm>
            <a:off x="914400" y="5111496"/>
            <a:ext cx="274320" cy="274320"/>
          </a:xfrm>
          <a:prstGeom prst="rect">
            <a:avLst/>
          </a:prstGeom>
          <a:noFill/>
          <a:ln>
            <a:noFill/>
          </a:ln>
        </p:spPr>
      </p:pic>
      <p:sp>
        <p:nvSpPr>
          <p:cNvPr id="493" name="Google Shape;493;p16"/>
          <p:cNvSpPr txBox="1"/>
          <p:nvPr/>
        </p:nvSpPr>
        <p:spPr>
          <a:xfrm>
            <a:off x="1453896"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494" name="Google Shape;494;p16"/>
          <p:cNvSpPr txBox="1"/>
          <p:nvPr/>
        </p:nvSpPr>
        <p:spPr>
          <a:xfrm>
            <a:off x="813816"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CAMHS waits of 1–3 years; feeling let down</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Anxiety that a “label” will harm their child</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Unsure whether it is ADHD, anxiety or something else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Cost — and whether a private report is accepted</a:t>
            </a:r>
            <a:endParaRPr b="0" i="0" sz="1100" u="none" cap="none" strike="noStrike">
              <a:solidFill>
                <a:schemeClr val="dk1"/>
              </a:solidFill>
              <a:latin typeface="Calibri"/>
              <a:ea typeface="Calibri"/>
              <a:cs typeface="Calibri"/>
              <a:sym typeface="Calibri"/>
            </a:endParaRPr>
          </a:p>
        </p:txBody>
      </p:sp>
      <p:sp>
        <p:nvSpPr>
          <p:cNvPr id="495" name="Google Shape;495;p16"/>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a:off x="6519672" y="4974336"/>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olt_white.png" id="497" name="Google Shape;497;p16"/>
          <p:cNvPicPr preferRelativeResize="0"/>
          <p:nvPr/>
        </p:nvPicPr>
        <p:blipFill rotWithShape="1">
          <a:blip r:embed="rId7">
            <a:alphaModFix/>
          </a:blip>
          <a:srcRect b="0" l="0" r="0" t="0"/>
          <a:stretch/>
        </p:blipFill>
        <p:spPr>
          <a:xfrm>
            <a:off x="6656832" y="5111496"/>
            <a:ext cx="274320" cy="274320"/>
          </a:xfrm>
          <a:prstGeom prst="rect">
            <a:avLst/>
          </a:prstGeom>
          <a:noFill/>
          <a:ln>
            <a:noFill/>
          </a:ln>
        </p:spPr>
      </p:pic>
      <p:sp>
        <p:nvSpPr>
          <p:cNvPr id="498" name="Google Shape;498;p16"/>
          <p:cNvSpPr txBox="1"/>
          <p:nvPr/>
        </p:nvSpPr>
        <p:spPr>
          <a:xfrm>
            <a:off x="7196328"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499" name="Google Shape;499;p16"/>
          <p:cNvSpPr txBox="1"/>
          <p:nvPr/>
        </p:nvSpPr>
        <p:spPr>
          <a:xfrm>
            <a:off x="6556248"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Consultant child psychiatrist; Young DIVA-5 + school forms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Screens for anxiety and learning differences too</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Report written for school and GP</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Free consultation before committing £890</a:t>
            </a:r>
            <a:endParaRPr b="0" i="0" sz="1100" u="none" cap="none" strike="noStrike">
              <a:solidFill>
                <a:schemeClr val="dk1"/>
              </a:solidFill>
              <a:latin typeface="Calibri"/>
              <a:ea typeface="Calibri"/>
              <a:cs typeface="Calibri"/>
              <a:sym typeface="Calibri"/>
            </a:endParaRPr>
          </a:p>
        </p:txBody>
      </p:sp>
      <p:sp>
        <p:nvSpPr>
          <p:cNvPr id="500" name="Google Shape;500;p16"/>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7"/>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507" name="Google Shape;507;p17"/>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04 · TEENAGER 13–18</a:t>
            </a:r>
            <a:endParaRPr b="0" i="0" sz="1250" u="none" cap="none" strike="noStrike">
              <a:solidFill>
                <a:schemeClr val="dk1"/>
              </a:solidFill>
              <a:latin typeface="Calibri"/>
              <a:ea typeface="Calibri"/>
              <a:cs typeface="Calibri"/>
              <a:sym typeface="Calibri"/>
            </a:endParaRPr>
          </a:p>
        </p:txBody>
      </p:sp>
      <p:sp>
        <p:nvSpPr>
          <p:cNvPr id="508" name="Google Shape;508;p17"/>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Exam-Year Parent</a:t>
            </a:r>
            <a:endParaRPr b="0" i="0" sz="3300" u="none" cap="none" strike="noStrike">
              <a:solidFill>
                <a:schemeClr val="dk1"/>
              </a:solidFill>
              <a:latin typeface="Calibri"/>
              <a:ea typeface="Calibri"/>
              <a:cs typeface="Calibri"/>
              <a:sym typeface="Calibri"/>
            </a:endParaRPr>
          </a:p>
        </p:txBody>
      </p:sp>
      <p:sp>
        <p:nvSpPr>
          <p:cNvPr id="509" name="Google Shape;509;p17"/>
          <p:cNvSpPr/>
          <p:nvPr/>
        </p:nvSpPr>
        <p:spPr>
          <a:xfrm>
            <a:off x="502920" y="2011680"/>
            <a:ext cx="11183112" cy="658368"/>
          </a:xfrm>
          <a:prstGeom prst="roundRect">
            <a:avLst>
              <a:gd fmla="val 13889"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713232" y="2130552"/>
            <a:ext cx="420624" cy="420624"/>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_dark.png" id="511" name="Google Shape;511;p17"/>
          <p:cNvPicPr preferRelativeResize="0"/>
          <p:nvPr/>
        </p:nvPicPr>
        <p:blipFill rotWithShape="1">
          <a:blip r:embed="rId3">
            <a:alphaModFix/>
          </a:blip>
          <a:srcRect b="0" l="0" r="0" t="0"/>
          <a:stretch/>
        </p:blipFill>
        <p:spPr>
          <a:xfrm>
            <a:off x="813816" y="2231136"/>
            <a:ext cx="219456" cy="219456"/>
          </a:xfrm>
          <a:prstGeom prst="rect">
            <a:avLst/>
          </a:prstGeom>
          <a:noFill/>
          <a:ln>
            <a:noFill/>
          </a:ln>
        </p:spPr>
      </p:pic>
      <p:sp>
        <p:nvSpPr>
          <p:cNvPr id="512" name="Google Shape;512;p17"/>
          <p:cNvSpPr txBox="1"/>
          <p:nvPr/>
        </p:nvSpPr>
        <p:spPr>
          <a:xfrm>
            <a:off x="1325880" y="2011680"/>
            <a:ext cx="78638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1" lang="en-US" sz="1600" u="none" cap="none" strike="noStrike">
                <a:solidFill>
                  <a:srgbClr val="FFFFFF"/>
                </a:solidFill>
                <a:latin typeface="Poppins"/>
                <a:ea typeface="Poppins"/>
                <a:cs typeface="Poppins"/>
                <a:sym typeface="Poppins"/>
              </a:rPr>
              <a:t>“We can't wait two years — exams are next summer.”</a:t>
            </a:r>
            <a:endParaRPr b="0" i="0" sz="1600" u="none" cap="none" strike="noStrike">
              <a:solidFill>
                <a:schemeClr val="dk1"/>
              </a:solidFill>
              <a:latin typeface="Calibri"/>
              <a:ea typeface="Calibri"/>
              <a:cs typeface="Calibri"/>
              <a:sym typeface="Calibri"/>
            </a:endParaRPr>
          </a:p>
        </p:txBody>
      </p:sp>
      <p:sp>
        <p:nvSpPr>
          <p:cNvPr id="513" name="Google Shape;513;p17"/>
          <p:cNvSpPr txBox="1"/>
          <p:nvPr/>
        </p:nvSpPr>
        <p:spPr>
          <a:xfrm>
            <a:off x="9052560" y="2011680"/>
            <a:ext cx="2423160" cy="6583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Teen 13–18</a:t>
            </a:r>
            <a:endParaRPr b="0" i="0" sz="12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Parent 40–55</a:t>
            </a:r>
            <a:endParaRPr b="0" i="0" sz="1200" u="none" cap="none" strike="noStrike">
              <a:solidFill>
                <a:schemeClr val="dk1"/>
              </a:solidFill>
              <a:latin typeface="Calibri"/>
              <a:ea typeface="Calibri"/>
              <a:cs typeface="Calibri"/>
              <a:sym typeface="Calibri"/>
            </a:endParaRPr>
          </a:p>
        </p:txBody>
      </p:sp>
      <p:sp>
        <p:nvSpPr>
          <p:cNvPr id="514" name="Google Shape;514;p17"/>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777240" y="3127248"/>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list_white.png" id="516" name="Google Shape;516;p17"/>
          <p:cNvPicPr preferRelativeResize="0"/>
          <p:nvPr/>
        </p:nvPicPr>
        <p:blipFill rotWithShape="1">
          <a:blip r:embed="rId4">
            <a:alphaModFix/>
          </a:blip>
          <a:srcRect b="0" l="0" r="0" t="0"/>
          <a:stretch/>
        </p:blipFill>
        <p:spPr>
          <a:xfrm>
            <a:off x="914400" y="3264408"/>
            <a:ext cx="274320" cy="274320"/>
          </a:xfrm>
          <a:prstGeom prst="rect">
            <a:avLst/>
          </a:prstGeom>
          <a:noFill/>
          <a:ln>
            <a:noFill/>
          </a:ln>
        </p:spPr>
      </p:pic>
      <p:sp>
        <p:nvSpPr>
          <p:cNvPr id="517" name="Google Shape;517;p17"/>
          <p:cNvSpPr txBox="1"/>
          <p:nvPr/>
        </p:nvSpPr>
        <p:spPr>
          <a:xfrm>
            <a:off x="1453896"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518" name="Google Shape;518;p17"/>
          <p:cNvSpPr txBox="1"/>
          <p:nvPr/>
        </p:nvSpPr>
        <p:spPr>
          <a:xfrm>
            <a:off x="813816"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Teenager at secondary school, sixth form or heading to uni</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Grades slipping, missed deadlines, low self-esteem</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Teen has often self-identified via TikTok or friends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Parents want to act before GCSEs, A-levels or uni</a:t>
            </a:r>
            <a:endParaRPr b="0" i="0" sz="1100" u="none" cap="none" strike="noStrike">
              <a:solidFill>
                <a:schemeClr val="dk1"/>
              </a:solidFill>
              <a:latin typeface="Calibri"/>
              <a:ea typeface="Calibri"/>
              <a:cs typeface="Calibri"/>
              <a:sym typeface="Calibri"/>
            </a:endParaRPr>
          </a:p>
        </p:txBody>
      </p:sp>
      <p:sp>
        <p:nvSpPr>
          <p:cNvPr id="519" name="Google Shape;519;p17"/>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6519672" y="3127248"/>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white.png" id="521" name="Google Shape;521;p17"/>
          <p:cNvPicPr preferRelativeResize="0"/>
          <p:nvPr/>
        </p:nvPicPr>
        <p:blipFill rotWithShape="1">
          <a:blip r:embed="rId5">
            <a:alphaModFix/>
          </a:blip>
          <a:srcRect b="0" l="0" r="0" t="0"/>
          <a:stretch/>
        </p:blipFill>
        <p:spPr>
          <a:xfrm>
            <a:off x="6656832" y="3264408"/>
            <a:ext cx="274320" cy="274320"/>
          </a:xfrm>
          <a:prstGeom prst="rect">
            <a:avLst/>
          </a:prstGeom>
          <a:noFill/>
          <a:ln>
            <a:noFill/>
          </a:ln>
        </p:spPr>
      </p:pic>
      <p:sp>
        <p:nvSpPr>
          <p:cNvPr id="522" name="Google Shape;522;p17"/>
          <p:cNvSpPr txBox="1"/>
          <p:nvPr/>
        </p:nvSpPr>
        <p:spPr>
          <a:xfrm>
            <a:off x="7196328" y="3127248"/>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523" name="Google Shape;523;p17"/>
          <p:cNvSpPr txBox="1"/>
          <p:nvPr/>
        </p:nvSpPr>
        <p:spPr>
          <a:xfrm>
            <a:off x="6556248" y="3712464"/>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diagnosis in time for exam access arrangements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Help with organisation, focus and emotional regulation</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smooth transition to adult services at 18</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report the school's SENCO can use</a:t>
            </a:r>
            <a:endParaRPr b="0" i="0" sz="1100" u="none" cap="none" strike="noStrike">
              <a:solidFill>
                <a:schemeClr val="dk1"/>
              </a:solidFill>
              <a:latin typeface="Calibri"/>
              <a:ea typeface="Calibri"/>
              <a:cs typeface="Calibri"/>
              <a:sym typeface="Calibri"/>
            </a:endParaRPr>
          </a:p>
        </p:txBody>
      </p:sp>
      <p:sp>
        <p:nvSpPr>
          <p:cNvPr id="524" name="Google Shape;524;p17"/>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777240" y="4974336"/>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warning_white.png" id="526" name="Google Shape;526;p17"/>
          <p:cNvPicPr preferRelativeResize="0"/>
          <p:nvPr/>
        </p:nvPicPr>
        <p:blipFill rotWithShape="1">
          <a:blip r:embed="rId6">
            <a:alphaModFix/>
          </a:blip>
          <a:srcRect b="0" l="0" r="0" t="0"/>
          <a:stretch/>
        </p:blipFill>
        <p:spPr>
          <a:xfrm>
            <a:off x="914400" y="5111496"/>
            <a:ext cx="274320" cy="274320"/>
          </a:xfrm>
          <a:prstGeom prst="rect">
            <a:avLst/>
          </a:prstGeom>
          <a:noFill/>
          <a:ln>
            <a:noFill/>
          </a:ln>
        </p:spPr>
      </p:pic>
      <p:sp>
        <p:nvSpPr>
          <p:cNvPr id="527" name="Google Shape;527;p17"/>
          <p:cNvSpPr txBox="1"/>
          <p:nvPr/>
        </p:nvSpPr>
        <p:spPr>
          <a:xfrm>
            <a:off x="1453896"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528" name="Google Shape;528;p17"/>
          <p:cNvSpPr txBox="1"/>
          <p:nvPr/>
        </p:nvSpPr>
        <p:spPr>
          <a:xfrm>
            <a:off x="813816"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Teen reluctant or embarrassed about assessment</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Waiting lists mean missing a whole exam cycle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Worry about medication at a young age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Few clinicians assess teenagers privately</a:t>
            </a:r>
            <a:endParaRPr b="0" i="0" sz="1100" u="none" cap="none" strike="noStrike">
              <a:solidFill>
                <a:schemeClr val="dk1"/>
              </a:solidFill>
              <a:latin typeface="Calibri"/>
              <a:ea typeface="Calibri"/>
              <a:cs typeface="Calibri"/>
              <a:sym typeface="Calibri"/>
            </a:endParaRPr>
          </a:p>
        </p:txBody>
      </p:sp>
      <p:sp>
        <p:nvSpPr>
          <p:cNvPr id="529" name="Google Shape;529;p17"/>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p:nvPr/>
        </p:nvSpPr>
        <p:spPr>
          <a:xfrm>
            <a:off x="6519672" y="4974336"/>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olt_white.png" id="531" name="Google Shape;531;p17"/>
          <p:cNvPicPr preferRelativeResize="0"/>
          <p:nvPr/>
        </p:nvPicPr>
        <p:blipFill rotWithShape="1">
          <a:blip r:embed="rId7">
            <a:alphaModFix/>
          </a:blip>
          <a:srcRect b="0" l="0" r="0" t="0"/>
          <a:stretch/>
        </p:blipFill>
        <p:spPr>
          <a:xfrm>
            <a:off x="6656832" y="5111496"/>
            <a:ext cx="274320" cy="274320"/>
          </a:xfrm>
          <a:prstGeom prst="rect">
            <a:avLst/>
          </a:prstGeom>
          <a:noFill/>
          <a:ln>
            <a:noFill/>
          </a:ln>
        </p:spPr>
      </p:pic>
      <p:sp>
        <p:nvSpPr>
          <p:cNvPr id="532" name="Google Shape;532;p17"/>
          <p:cNvSpPr txBox="1"/>
          <p:nvPr/>
        </p:nvSpPr>
        <p:spPr>
          <a:xfrm>
            <a:off x="7196328" y="4974336"/>
            <a:ext cx="4343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533" name="Google Shape;533;p17"/>
          <p:cNvSpPr txBox="1"/>
          <p:nvPr/>
        </p:nvSpPr>
        <p:spPr>
          <a:xfrm>
            <a:off x="6556248" y="5559552"/>
            <a:ext cx="4846320" cy="8961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Teen-aware consultant; online option teens prefer</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Clear plan covering school, exams and next steps</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Fast, private, Manchester or online</a:t>
            </a:r>
            <a:endParaRPr b="0" i="0" sz="11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Transition plan for sixth form, university and adult care</a:t>
            </a:r>
            <a:endParaRPr b="0" i="0" sz="1100" u="none" cap="none" strike="noStrike">
              <a:solidFill>
                <a:schemeClr val="dk1"/>
              </a:solidFill>
              <a:latin typeface="Calibri"/>
              <a:ea typeface="Calibri"/>
              <a:cs typeface="Calibri"/>
              <a:sym typeface="Calibri"/>
            </a:endParaRPr>
          </a:p>
        </p:txBody>
      </p:sp>
      <p:sp>
        <p:nvSpPr>
          <p:cNvPr id="534" name="Google Shape;534;p17"/>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18"/>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541" name="Google Shape;541;p18"/>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CHILD &amp; TEEN ADHD · KEYWORDS &amp; AD GROUPS</a:t>
            </a:r>
            <a:endParaRPr b="0" i="0" sz="1250" u="none" cap="none" strike="noStrike">
              <a:solidFill>
                <a:schemeClr val="dk1"/>
              </a:solidFill>
              <a:latin typeface="Calibri"/>
              <a:ea typeface="Calibri"/>
              <a:cs typeface="Calibri"/>
              <a:sym typeface="Calibri"/>
            </a:endParaRPr>
          </a:p>
        </p:txBody>
      </p:sp>
      <p:sp>
        <p:nvSpPr>
          <p:cNvPr id="542" name="Google Shape;542;p18"/>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Four Intent-Based Ad Groups</a:t>
            </a:r>
            <a:endParaRPr b="0" i="0" sz="3300" u="none" cap="none" strike="noStrike">
              <a:solidFill>
                <a:schemeClr val="dk1"/>
              </a:solidFill>
              <a:latin typeface="Calibri"/>
              <a:ea typeface="Calibri"/>
              <a:cs typeface="Calibri"/>
              <a:sym typeface="Calibri"/>
            </a:endParaRPr>
          </a:p>
        </p:txBody>
      </p:sp>
      <p:sp>
        <p:nvSpPr>
          <p:cNvPr id="543" name="Google Shape;543;p18"/>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Child and teen searches are phrased by the parent — “my son”, “my child”, “16 year old” — so the groups follow how parents search. Exam-timing and school-report messaging sit in the teen group; Manchester and North West terms get local copy.</a:t>
            </a:r>
            <a:endParaRPr b="0" i="0" sz="1350" u="none" cap="none" strike="noStrike">
              <a:solidFill>
                <a:schemeClr val="dk1"/>
              </a:solidFill>
              <a:latin typeface="Calibri"/>
              <a:ea typeface="Calibri"/>
              <a:cs typeface="Calibri"/>
              <a:sym typeface="Calibri"/>
            </a:endParaRPr>
          </a:p>
        </p:txBody>
      </p:sp>
      <p:graphicFrame>
        <p:nvGraphicFramePr>
          <p:cNvPr id="544" name="Google Shape;544;p18"/>
          <p:cNvGraphicFramePr/>
          <p:nvPr/>
        </p:nvGraphicFramePr>
        <p:xfrm>
          <a:off x="502920" y="2542032"/>
          <a:ext cx="3000000" cy="3000000"/>
        </p:xfrm>
        <a:graphic>
          <a:graphicData uri="http://schemas.openxmlformats.org/drawingml/2006/table">
            <a:tbl>
              <a:tblPr>
                <a:noFill/>
                <a:tableStyleId>{204FECF3-62DE-486B-8169-76E5466ED5D8}</a:tableStyleId>
              </a:tblPr>
              <a:tblGrid>
                <a:gridCol w="502925"/>
                <a:gridCol w="3566150"/>
                <a:gridCol w="3383275"/>
                <a:gridCol w="914400"/>
                <a:gridCol w="1280150"/>
                <a:gridCol w="1536200"/>
              </a:tblGrid>
              <a:tr h="251450">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Ad Group</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Search Intent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KWs</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Est. Vol.*</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Bid Range</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Child ADHD Assessment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Core child intent</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5 + 28 seeds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360*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£1.52–£4.12</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2</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Parent Questions</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“How do I get my son tested”</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5 + 10 seeds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110*</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£0.76–£2.90</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3</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Teen ADHD Assessment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Teen / adolescent</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13 + 25 seeds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70 UK ≈ 7 NW†</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£2.27–£8.39</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51450">
                <a:tc>
                  <a:txBody>
                    <a:bodyPr/>
                    <a:lstStyle/>
                    <a:p>
                      <a:pPr indent="0" lvl="0" marL="0" marR="0" rtl="0" algn="ct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4</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2B2E2C"/>
                        </a:buClr>
                        <a:buSzPts val="1000"/>
                        <a:buFont typeface="Poppins"/>
                        <a:buNone/>
                      </a:pPr>
                      <a:r>
                        <a:rPr b="1" lang="en-US" sz="1000" u="none" cap="none" strike="noStrike">
                          <a:solidFill>
                            <a:srgbClr val="2B2E2C"/>
                          </a:solidFill>
                          <a:latin typeface="Poppins"/>
                          <a:ea typeface="Poppins"/>
                          <a:cs typeface="Poppins"/>
                          <a:sym typeface="Poppins"/>
                        </a:rPr>
                        <a:t>Child &amp; Teen · Manchester &amp; NW</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l">
                        <a:spcBef>
                          <a:spcPts val="0"/>
                        </a:spcBef>
                        <a:spcAft>
                          <a:spcPts val="0"/>
                        </a:spcAft>
                        <a:buClr>
                          <a:srgbClr val="6E7873"/>
                        </a:buClr>
                        <a:buSzPts val="1000"/>
                        <a:buFont typeface="Calibri"/>
                        <a:buNone/>
                      </a:pPr>
                      <a:r>
                        <a:rPr lang="en-US" sz="1000" u="none" cap="none" strike="noStrike">
                          <a:solidFill>
                            <a:srgbClr val="6E7873"/>
                          </a:solidFill>
                          <a:latin typeface="Calibri"/>
                          <a:ea typeface="Calibri"/>
                          <a:cs typeface="Calibri"/>
                          <a:sym typeface="Calibri"/>
                        </a:rPr>
                        <a:t>Local intent</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9 seeds</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2B2E2C"/>
                        </a:buClr>
                        <a:buSzPts val="1000"/>
                        <a:buFont typeface="Calibri"/>
                        <a:buNone/>
                      </a:pPr>
                      <a:r>
                        <a:rPr lang="en-US" sz="1000" u="none" cap="none" strike="noStrike">
                          <a:solidFill>
                            <a:srgbClr val="2B2E2C"/>
                          </a:solidFill>
                          <a:latin typeface="Calibri"/>
                          <a:ea typeface="Calibri"/>
                          <a:cs typeface="Calibri"/>
                          <a:sym typeface="Calibri"/>
                        </a:rPr>
                        <a:t>TBC</a:t>
                      </a:r>
                      <a:endParaRPr sz="100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1000"/>
                        <a:buFont typeface="Poppins"/>
                        <a:buNone/>
                      </a:pPr>
                      <a:r>
                        <a:rPr b="1" lang="en-US" sz="1000" u="none" cap="none" strike="noStrike">
                          <a:solidFill>
                            <a:srgbClr val="16A879"/>
                          </a:solidFill>
                          <a:latin typeface="Poppins"/>
                          <a:ea typeface="Poppins"/>
                          <a:cs typeface="Poppins"/>
                          <a:sym typeface="Poppins"/>
                        </a:rPr>
                        <a:t>—</a:t>
                      </a:r>
                      <a:endParaRPr sz="100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bl>
          </a:graphicData>
        </a:graphic>
      </p:graphicFrame>
      <p:sp>
        <p:nvSpPr>
          <p:cNvPr id="545" name="Google Shape;545;p18"/>
          <p:cNvSpPr txBox="1"/>
          <p:nvPr/>
        </p:nvSpPr>
        <p:spPr>
          <a:xfrm>
            <a:off x="502920" y="3909060"/>
            <a:ext cx="109728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 North West England monthly searches (adult-led Planner run — floor figures; modelled child demand ≈ 30% of adult).  † Teen terms from a UK-level Planner run (9 Oct); North West ≈ 10% of UK.</a:t>
            </a:r>
            <a:endParaRPr b="0" i="0" sz="950" u="none" cap="none" strike="noStrike">
              <a:solidFill>
                <a:schemeClr val="dk1"/>
              </a:solidFill>
              <a:latin typeface="Calibri"/>
              <a:ea typeface="Calibri"/>
              <a:cs typeface="Calibri"/>
              <a:sym typeface="Calibri"/>
            </a:endParaRPr>
          </a:p>
        </p:txBody>
      </p:sp>
      <p:sp>
        <p:nvSpPr>
          <p:cNvPr id="546" name="Google Shape;546;p18"/>
          <p:cNvSpPr/>
          <p:nvPr/>
        </p:nvSpPr>
        <p:spPr>
          <a:xfrm>
            <a:off x="502920" y="4343400"/>
            <a:ext cx="11183112" cy="1417320"/>
          </a:xfrm>
          <a:prstGeom prst="roundRect">
            <a:avLst>
              <a:gd fmla="val 6452"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777240" y="4572000"/>
            <a:ext cx="457200" cy="45720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s_white.png" id="548" name="Google Shape;548;p18"/>
          <p:cNvPicPr preferRelativeResize="0"/>
          <p:nvPr/>
        </p:nvPicPr>
        <p:blipFill rotWithShape="1">
          <a:blip r:embed="rId3">
            <a:alphaModFix/>
          </a:blip>
          <a:srcRect b="0" l="0" r="0" t="0"/>
          <a:stretch/>
        </p:blipFill>
        <p:spPr>
          <a:xfrm>
            <a:off x="886968" y="4681728"/>
            <a:ext cx="237744" cy="237744"/>
          </a:xfrm>
          <a:prstGeom prst="rect">
            <a:avLst/>
          </a:prstGeom>
          <a:noFill/>
          <a:ln>
            <a:noFill/>
          </a:ln>
        </p:spPr>
      </p:pic>
      <p:sp>
        <p:nvSpPr>
          <p:cNvPr id="549" name="Google Shape;549;p18"/>
          <p:cNvSpPr txBox="1"/>
          <p:nvPr/>
        </p:nvSpPr>
        <p:spPr>
          <a:xfrm>
            <a:off x="1371600" y="457200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Poppins"/>
              <a:buNone/>
            </a:pPr>
            <a:r>
              <a:rPr b="1" i="0" lang="en-US" sz="1300" u="none" cap="none" strike="noStrike">
                <a:solidFill>
                  <a:srgbClr val="FFFFFF"/>
                </a:solidFill>
                <a:latin typeface="Poppins"/>
                <a:ea typeface="Poppins"/>
                <a:cs typeface="Poppins"/>
                <a:sym typeface="Poppins"/>
              </a:rPr>
              <a:t>Why teen lives inside the child campaign</a:t>
            </a:r>
            <a:endParaRPr b="0" i="0" sz="1300" u="none" cap="none" strike="noStrike">
              <a:solidFill>
                <a:schemeClr val="dk1"/>
              </a:solidFill>
              <a:latin typeface="Calibri"/>
              <a:ea typeface="Calibri"/>
              <a:cs typeface="Calibri"/>
              <a:sym typeface="Calibri"/>
            </a:endParaRPr>
          </a:p>
        </p:txBody>
      </p:sp>
      <p:sp>
        <p:nvSpPr>
          <p:cNvPr id="550" name="Google Shape;550;p18"/>
          <p:cNvSpPr txBox="1"/>
          <p:nvPr/>
        </p:nvSpPr>
        <p:spPr>
          <a:xfrm>
            <a:off x="1371600" y="5029200"/>
            <a:ext cx="9966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7EAD7"/>
              </a:buClr>
              <a:buSzPts val="1050"/>
              <a:buFont typeface="Calibri"/>
              <a:buNone/>
            </a:pPr>
            <a:r>
              <a:rPr b="0" i="0" lang="en-US" sz="1050" u="none" cap="none" strike="noStrike">
                <a:solidFill>
                  <a:srgbClr val="A7EAD7"/>
                </a:solidFill>
                <a:latin typeface="Calibri"/>
                <a:ea typeface="Calibri"/>
                <a:cs typeface="Calibri"/>
                <a:sym typeface="Calibri"/>
              </a:rPr>
              <a:t>UK-wide, teen assessment and diagnosis wording totals only ~130 searches a month (≈ 15 in the North West), peaking in January and March–May around exams. That is too little for a separate bid strategy to learn, so the teen ad groups share the parents' budget and landing page, with exam-timing and school-report copy of their own.</a:t>
            </a:r>
            <a:endParaRPr b="0" i="0" sz="1050" u="none" cap="none" strike="noStrike">
              <a:solidFill>
                <a:schemeClr val="dk1"/>
              </a:solidFill>
              <a:latin typeface="Calibri"/>
              <a:ea typeface="Calibri"/>
              <a:cs typeface="Calibri"/>
              <a:sym typeface="Calibri"/>
            </a:endParaRPr>
          </a:p>
        </p:txBody>
      </p:sp>
      <p:sp>
        <p:nvSpPr>
          <p:cNvPr id="551" name="Google Shape;551;p18"/>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19"/>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558" name="Google Shape;558;p19"/>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CHILD &amp; TEEN ADHD · KEYWORDS &amp; AD GROUPS</a:t>
            </a:r>
            <a:endParaRPr b="0" i="0" sz="1250" u="none" cap="none" strike="noStrike">
              <a:solidFill>
                <a:schemeClr val="dk1"/>
              </a:solidFill>
              <a:latin typeface="Calibri"/>
              <a:ea typeface="Calibri"/>
              <a:cs typeface="Calibri"/>
              <a:sym typeface="Calibri"/>
            </a:endParaRPr>
          </a:p>
        </p:txBody>
      </p:sp>
      <p:sp>
        <p:nvSpPr>
          <p:cNvPr id="559" name="Google Shape;559;p19"/>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Keyword List &amp; Bids</a:t>
            </a:r>
            <a:endParaRPr b="0" i="0" sz="3300" u="none" cap="none" strike="noStrike">
              <a:solidFill>
                <a:schemeClr val="dk1"/>
              </a:solidFill>
              <a:latin typeface="Calibri"/>
              <a:ea typeface="Calibri"/>
              <a:cs typeface="Calibri"/>
              <a:sym typeface="Calibri"/>
            </a:endParaRPr>
          </a:p>
        </p:txBody>
      </p:sp>
      <p:graphicFrame>
        <p:nvGraphicFramePr>
          <p:cNvPr id="560" name="Google Shape;560;p19"/>
          <p:cNvGraphicFramePr/>
          <p:nvPr/>
        </p:nvGraphicFramePr>
        <p:xfrm>
          <a:off x="502920"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1  Child ADHD Assessment</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childhood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320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£1.52–£4.12</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paediatric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child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for children</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child adhd assessment</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 children</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test for kids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561" name="Google Shape;561;p19"/>
          <p:cNvGraphicFramePr/>
          <p:nvPr/>
        </p:nvGraphicFramePr>
        <p:xfrm>
          <a:off x="4288536"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2  Parent Questions</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get my son tested for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£0.76–£2.90</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do i get my son assessed for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get my child tested for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to get a child diagnosed with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for my daughter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how do i get my child assessed for adhd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for my son</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562" name="Google Shape;562;p19"/>
          <p:cNvGraphicFramePr/>
          <p:nvPr/>
        </p:nvGraphicFramePr>
        <p:xfrm>
          <a:off x="8074152" y="214884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3  Teen ADHD Assessment (UK vol.)</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teenager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70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£2.27–£8.39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diagnosis teenager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20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£1.46–£4.19</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teenage adhd diagnosis</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£1.16–£2.18</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diagnose adhd teenager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£1.16–£2.18</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screening teenager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M</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£1.36–£2.96</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testing for teenager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H</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adhd assessment 16 year old</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graphicFrame>
        <p:nvGraphicFramePr>
          <p:cNvPr id="563" name="Google Shape;563;p19"/>
          <p:cNvGraphicFramePr/>
          <p:nvPr/>
        </p:nvGraphicFramePr>
        <p:xfrm>
          <a:off x="502920" y="4251960"/>
          <a:ext cx="3000000" cy="3000000"/>
        </p:xfrm>
        <a:graphic>
          <a:graphicData uri="http://schemas.openxmlformats.org/drawingml/2006/table">
            <a:tbl>
              <a:tblPr>
                <a:noFill/>
                <a:tableStyleId>{204FECF3-62DE-486B-8169-76E5466ED5D8}</a:tableStyleId>
              </a:tblPr>
              <a:tblGrid>
                <a:gridCol w="1920250"/>
                <a:gridCol w="438900"/>
                <a:gridCol w="274325"/>
                <a:gridCol w="978400"/>
              </a:tblGrid>
              <a:tr h="237750">
                <a:tc gridSpan="4">
                  <a:txBody>
                    <a:bodyPr/>
                    <a:lstStyle/>
                    <a:p>
                      <a:pPr indent="0" lvl="0" marL="0" marR="0" rtl="0" algn="l">
                        <a:spcBef>
                          <a:spcPts val="0"/>
                        </a:spcBef>
                        <a:spcAft>
                          <a:spcPts val="0"/>
                        </a:spcAft>
                        <a:buClr>
                          <a:srgbClr val="FFFFFF"/>
                        </a:buClr>
                        <a:buSzPts val="1000"/>
                        <a:buFont typeface="Poppins"/>
                        <a:buNone/>
                      </a:pPr>
                      <a:r>
                        <a:rPr b="1" lang="en-US" sz="1000" u="none" cap="none" strike="noStrike">
                          <a:solidFill>
                            <a:srgbClr val="FFFFFF"/>
                          </a:solidFill>
                          <a:latin typeface="Poppins"/>
                          <a:ea typeface="Poppins"/>
                          <a:cs typeface="Poppins"/>
                          <a:sym typeface="Poppins"/>
                        </a:rPr>
                        <a:t>4  Child &amp; Teen · Manchester &amp; NW</a:t>
                      </a:r>
                      <a:endParaRPr sz="10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A2620"/>
                    </a:solidFill>
                  </a:tcPr>
                </a:tc>
                <a:tc hMerge="1"/>
                <a:tc hMerge="1"/>
                <a:tc hMerge="1"/>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child adhd assessment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private child psychiatrist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child adhd assessment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adolescent psychiatrist manchester</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child adhd assessment cheshire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child adhd assessment liverpool</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7F6"/>
                    </a:solidFill>
                  </a:tcPr>
                </a:tc>
              </a:tr>
              <a:tr h="237750">
                <a:tc>
                  <a:txBody>
                    <a:bodyPr/>
                    <a:lstStyle/>
                    <a:p>
                      <a:pPr indent="0" lvl="0" marL="0" marR="0" rtl="0" algn="l">
                        <a:spcBef>
                          <a:spcPts val="0"/>
                        </a:spcBef>
                        <a:spcAft>
                          <a:spcPts val="0"/>
                        </a:spcAft>
                        <a:buClr>
                          <a:srgbClr val="2B2E2C"/>
                        </a:buClr>
                        <a:buSzPts val="850"/>
                        <a:buFont typeface="Calibri"/>
                        <a:buNone/>
                      </a:pPr>
                      <a:r>
                        <a:rPr lang="en-US" sz="850" u="none" cap="none" strike="noStrike">
                          <a:solidFill>
                            <a:srgbClr val="2B2E2C"/>
                          </a:solidFill>
                          <a:latin typeface="Calibri"/>
                          <a:ea typeface="Calibri"/>
                          <a:cs typeface="Calibri"/>
                          <a:sym typeface="Calibri"/>
                        </a:rPr>
                        <a:t>teen adhd assessment near me</a:t>
                      </a:r>
                      <a:endParaRPr sz="85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TBC</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E7873"/>
                        </a:buClr>
                        <a:buSzPts val="800"/>
                        <a:buFont typeface="Calibri"/>
                        <a:buNone/>
                      </a:pPr>
                      <a:r>
                        <a:rPr lang="en-US" sz="800" u="none" cap="none" strike="noStrike">
                          <a:solidFill>
                            <a:srgbClr val="6E7873"/>
                          </a:solidFill>
                          <a:latin typeface="Calibri"/>
                          <a:ea typeface="Calibri"/>
                          <a:cs typeface="Calibri"/>
                          <a:sym typeface="Calibri"/>
                        </a:rPr>
                        <a:t>–</a:t>
                      </a:r>
                      <a:endParaRPr sz="800" u="none" cap="none" strike="noStrike">
                        <a:latin typeface="Calibri"/>
                        <a:ea typeface="Calibri"/>
                        <a:cs typeface="Calibri"/>
                        <a:sym typeface="Calibri"/>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6A879"/>
                        </a:buClr>
                        <a:buSzPts val="800"/>
                        <a:buFont typeface="Poppins"/>
                        <a:buNone/>
                      </a:pPr>
                      <a:r>
                        <a:rPr b="1" lang="en-US" sz="800" u="none" cap="none" strike="noStrike">
                          <a:solidFill>
                            <a:srgbClr val="16A879"/>
                          </a:solidFill>
                          <a:latin typeface="Poppins"/>
                          <a:ea typeface="Poppins"/>
                          <a:cs typeface="Poppins"/>
                          <a:sym typeface="Poppins"/>
                        </a:rPr>
                        <a:t>—</a:t>
                      </a:r>
                      <a:endParaRPr sz="800" u="none" cap="none" strike="noStrike">
                        <a:latin typeface="Poppins"/>
                        <a:ea typeface="Poppins"/>
                        <a:cs typeface="Poppins"/>
                        <a:sym typeface="Poppins"/>
                      </a:endParaRPr>
                    </a:p>
                  </a:txBody>
                  <a:tcPr marT="12700" marB="127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564" name="Google Shape;564;p19"/>
          <p:cNvSpPr txBox="1"/>
          <p:nvPr/>
        </p:nvSpPr>
        <p:spPr>
          <a:xfrm>
            <a:off x="502920" y="6199632"/>
            <a:ext cx="1115568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850"/>
              <a:buFont typeface="Calibri"/>
              <a:buNone/>
            </a:pPr>
            <a:r>
              <a:rPr b="0" i="0" lang="en-US" sz="850" u="none" cap="none" strike="noStrike">
                <a:solidFill>
                  <a:srgbClr val="6E7873"/>
                </a:solidFill>
                <a:latin typeface="Calibri"/>
                <a:ea typeface="Calibri"/>
                <a:cs typeface="Calibri"/>
                <a:sym typeface="Calibri"/>
              </a:rPr>
              <a:t>Vol. = North West England average monthly searches (Keyword Planner, Sep 2025 – Aug 2026) · H/M/L = competition · bid = Planner top-of-page low–high · TBC = still to be sized · teen group = UK-level run, North West ≈ 10%. Top terms per ad group shown.</a:t>
            </a:r>
            <a:endParaRPr b="0" i="0" sz="850" u="none" cap="none" strike="noStrike">
              <a:solidFill>
                <a:schemeClr val="dk1"/>
              </a:solidFill>
              <a:latin typeface="Calibri"/>
              <a:ea typeface="Calibri"/>
              <a:cs typeface="Calibri"/>
              <a:sym typeface="Calibri"/>
            </a:endParaRPr>
          </a:p>
        </p:txBody>
      </p:sp>
      <p:sp>
        <p:nvSpPr>
          <p:cNvPr id="565" name="Google Shape;565;p19"/>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20"/>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572" name="Google Shape;572;p20"/>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CHILD &amp; TEEN ADHD · AD COPY · SET 1 OF 2</a:t>
            </a:r>
            <a:endParaRPr b="0" i="0" sz="1250" u="none" cap="none" strike="noStrike">
              <a:solidFill>
                <a:schemeClr val="dk1"/>
              </a:solidFill>
              <a:latin typeface="Calibri"/>
              <a:ea typeface="Calibri"/>
              <a:cs typeface="Calibri"/>
              <a:sym typeface="Calibri"/>
            </a:endParaRPr>
          </a:p>
        </p:txBody>
      </p:sp>
      <p:sp>
        <p:nvSpPr>
          <p:cNvPr id="573" name="Google Shape;573;p20"/>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574" name="Google Shape;574;p20"/>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0"/>
          <p:cNvSpPr/>
          <p:nvPr/>
        </p:nvSpPr>
        <p:spPr>
          <a:xfrm>
            <a:off x="612648"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0"/>
          <p:cNvSpPr txBox="1"/>
          <p:nvPr/>
        </p:nvSpPr>
        <p:spPr>
          <a:xfrm>
            <a:off x="612648"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1</a:t>
            </a:r>
            <a:endParaRPr b="0" i="0" sz="1000" u="none" cap="none" strike="noStrike">
              <a:solidFill>
                <a:schemeClr val="dk1"/>
              </a:solidFill>
              <a:latin typeface="Calibri"/>
              <a:ea typeface="Calibri"/>
              <a:cs typeface="Calibri"/>
              <a:sym typeface="Calibri"/>
            </a:endParaRPr>
          </a:p>
        </p:txBody>
      </p:sp>
      <p:sp>
        <p:nvSpPr>
          <p:cNvPr id="577" name="Google Shape;577;p20"/>
          <p:cNvSpPr txBox="1"/>
          <p:nvPr/>
        </p:nvSpPr>
        <p:spPr>
          <a:xfrm>
            <a:off x="1005840"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1 · Child ADHD Assessment</a:t>
            </a:r>
            <a:endParaRPr b="0" i="0" sz="1200" u="none" cap="none" strike="noStrike">
              <a:solidFill>
                <a:schemeClr val="dk1"/>
              </a:solidFill>
              <a:latin typeface="Calibri"/>
              <a:ea typeface="Calibri"/>
              <a:cs typeface="Calibri"/>
              <a:sym typeface="Calibri"/>
            </a:endParaRPr>
          </a:p>
        </p:txBody>
      </p:sp>
      <p:sp>
        <p:nvSpPr>
          <p:cNvPr id="578" name="Google Shape;578;p20"/>
          <p:cNvSpPr txBox="1"/>
          <p:nvPr/>
        </p:nvSpPr>
        <p:spPr>
          <a:xfrm>
            <a:off x="612648"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579" name="Google Shape;579;p20"/>
          <p:cNvSpPr txBox="1"/>
          <p:nvPr/>
        </p:nvSpPr>
        <p:spPr>
          <a:xfrm>
            <a:off x="612648"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Child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ADHD Assessment for Children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Private Child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Consultant Child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Young DIVA-5 &amp; School Forms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Report for School &amp; GP</a:t>
            </a:r>
            <a:endParaRPr b="0" i="0" sz="1000" u="none" cap="none" strike="noStrike">
              <a:solidFill>
                <a:schemeClr val="dk1"/>
              </a:solidFill>
              <a:latin typeface="Calibri"/>
              <a:ea typeface="Calibri"/>
              <a:cs typeface="Calibri"/>
              <a:sym typeface="Calibri"/>
            </a:endParaRPr>
          </a:p>
        </p:txBody>
      </p:sp>
      <p:sp>
        <p:nvSpPr>
          <p:cNvPr id="580" name="Google Shape;580;p20"/>
          <p:cNvSpPr txBox="1"/>
          <p:nvPr/>
        </p:nvSpPr>
        <p:spPr>
          <a:xfrm>
            <a:off x="329184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Manchester Clinic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Skip Long CAMHS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Child Assessments From £890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Book Your Child's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Screens for Anxiety &amp; Mood</a:t>
            </a:r>
            <a:endParaRPr b="0" i="0" sz="1000" u="none" cap="none" strike="noStrike">
              <a:solidFill>
                <a:schemeClr val="dk1"/>
              </a:solidFill>
              <a:latin typeface="Calibri"/>
              <a:ea typeface="Calibri"/>
              <a:cs typeface="Calibri"/>
              <a:sym typeface="Calibri"/>
            </a:endParaRPr>
          </a:p>
        </p:txBody>
      </p:sp>
      <p:sp>
        <p:nvSpPr>
          <p:cNvPr id="581" name="Google Shape;581;p20"/>
          <p:cNvSpPr txBox="1"/>
          <p:nvPr/>
        </p:nvSpPr>
        <p:spPr>
          <a:xfrm>
            <a:off x="612648"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582" name="Google Shape;582;p20"/>
          <p:cNvSpPr txBox="1"/>
          <p:nvPr/>
        </p:nvSpPr>
        <p:spPr>
          <a:xfrm>
            <a:off x="612648"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Consultant psychiatrist-led ADHD assessments for children, Manchester or online. Book.</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Young DIVA-5 interview, parent and school questionnaires, plus anxiety and mood screening.</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clear written report you can share with your GP and your child's school. From £890.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Don't wait years for CAMHS. Private child ADHD assessment within weeks. Free 15-min call.</a:t>
            </a:r>
            <a:endParaRPr b="0" i="0" sz="1000" u="none" cap="none" strike="noStrike">
              <a:solidFill>
                <a:schemeClr val="dk1"/>
              </a:solidFill>
              <a:latin typeface="Calibri"/>
              <a:ea typeface="Calibri"/>
              <a:cs typeface="Calibri"/>
              <a:sym typeface="Calibri"/>
            </a:endParaRPr>
          </a:p>
        </p:txBody>
      </p:sp>
      <p:sp>
        <p:nvSpPr>
          <p:cNvPr id="583" name="Google Shape;583;p20"/>
          <p:cNvSpPr/>
          <p:nvPr/>
        </p:nvSpPr>
        <p:spPr>
          <a:xfrm>
            <a:off x="6245352"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0"/>
          <p:cNvSpPr/>
          <p:nvPr/>
        </p:nvSpPr>
        <p:spPr>
          <a:xfrm>
            <a:off x="6355080"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0"/>
          <p:cNvSpPr txBox="1"/>
          <p:nvPr/>
        </p:nvSpPr>
        <p:spPr>
          <a:xfrm>
            <a:off x="6355080"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2</a:t>
            </a:r>
            <a:endParaRPr b="0" i="0" sz="1000" u="none" cap="none" strike="noStrike">
              <a:solidFill>
                <a:schemeClr val="dk1"/>
              </a:solidFill>
              <a:latin typeface="Calibri"/>
              <a:ea typeface="Calibri"/>
              <a:cs typeface="Calibri"/>
              <a:sym typeface="Calibri"/>
            </a:endParaRPr>
          </a:p>
        </p:txBody>
      </p:sp>
      <p:sp>
        <p:nvSpPr>
          <p:cNvPr id="586" name="Google Shape;586;p20"/>
          <p:cNvSpPr txBox="1"/>
          <p:nvPr/>
        </p:nvSpPr>
        <p:spPr>
          <a:xfrm>
            <a:off x="6748272"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2 · Parent Questions</a:t>
            </a:r>
            <a:endParaRPr b="0" i="0" sz="1200" u="none" cap="none" strike="noStrike">
              <a:solidFill>
                <a:schemeClr val="dk1"/>
              </a:solidFill>
              <a:latin typeface="Calibri"/>
              <a:ea typeface="Calibri"/>
              <a:cs typeface="Calibri"/>
              <a:sym typeface="Calibri"/>
            </a:endParaRPr>
          </a:p>
        </p:txBody>
      </p:sp>
      <p:sp>
        <p:nvSpPr>
          <p:cNvPr id="587" name="Google Shape;587;p20"/>
          <p:cNvSpPr txBox="1"/>
          <p:nvPr/>
        </p:nvSpPr>
        <p:spPr>
          <a:xfrm>
            <a:off x="6355080"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588" name="Google Shape;588;p20"/>
          <p:cNvSpPr txBox="1"/>
          <p:nvPr/>
        </p:nvSpPr>
        <p:spPr>
          <a:xfrm>
            <a:off x="635508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How to Get Your Child Assessed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Get Your Child Tested for ADHD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Child ADHD Diagnosis: 3 Steps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Consultant Child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Assessment Within Weeks</a:t>
            </a:r>
            <a:endParaRPr b="0" i="0" sz="1000" u="none" cap="none" strike="noStrike">
              <a:solidFill>
                <a:schemeClr val="dk1"/>
              </a:solidFill>
              <a:latin typeface="Calibri"/>
              <a:ea typeface="Calibri"/>
              <a:cs typeface="Calibri"/>
              <a:sym typeface="Calibri"/>
            </a:endParaRPr>
          </a:p>
        </p:txBody>
      </p:sp>
      <p:sp>
        <p:nvSpPr>
          <p:cNvPr id="589" name="Google Shape;589;p20"/>
          <p:cNvSpPr txBox="1"/>
          <p:nvPr/>
        </p:nvSpPr>
        <p:spPr>
          <a:xfrm>
            <a:off x="9034272"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Report for School &amp; GP</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Manchester Clinic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Child Assessments From £890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Skip Long CAMHS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Start With a Free Call</a:t>
            </a:r>
            <a:endParaRPr b="0" i="0" sz="1000" u="none" cap="none" strike="noStrike">
              <a:solidFill>
                <a:schemeClr val="dk1"/>
              </a:solidFill>
              <a:latin typeface="Calibri"/>
              <a:ea typeface="Calibri"/>
              <a:cs typeface="Calibri"/>
              <a:sym typeface="Calibri"/>
            </a:endParaRPr>
          </a:p>
        </p:txBody>
      </p:sp>
      <p:sp>
        <p:nvSpPr>
          <p:cNvPr id="590" name="Google Shape;590;p20"/>
          <p:cNvSpPr txBox="1"/>
          <p:nvPr/>
        </p:nvSpPr>
        <p:spPr>
          <a:xfrm>
            <a:off x="6355080"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591" name="Google Shape;591;p20"/>
          <p:cNvSpPr txBox="1"/>
          <p:nvPr/>
        </p:nvSpPr>
        <p:spPr>
          <a:xfrm>
            <a:off x="6355080"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How to get your child assessed for ADHD: free call, school and parent forms, consultant.</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Worried your child has ADHD? A consultant child psychiatrist can assess in weeks. £890+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No GP referral needed. Written report for school and GP, with clear next steps. Free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child ADHD assessment, online or in Manchester. Book a free 15-minute call.</a:t>
            </a:r>
            <a:endParaRPr b="0" i="0" sz="1000" u="none" cap="none" strike="noStrike">
              <a:solidFill>
                <a:schemeClr val="dk1"/>
              </a:solidFill>
              <a:latin typeface="Calibri"/>
              <a:ea typeface="Calibri"/>
              <a:cs typeface="Calibri"/>
              <a:sym typeface="Calibri"/>
            </a:endParaRPr>
          </a:p>
        </p:txBody>
      </p:sp>
      <p:sp>
        <p:nvSpPr>
          <p:cNvPr id="592" name="Google Shape;592;p20"/>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21"/>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599" name="Google Shape;599;p21"/>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CHILD &amp; TEEN ADHD · AD COPY · SET 2 OF 2</a:t>
            </a:r>
            <a:endParaRPr b="0" i="0" sz="1250" u="none" cap="none" strike="noStrike">
              <a:solidFill>
                <a:schemeClr val="dk1"/>
              </a:solidFill>
              <a:latin typeface="Calibri"/>
              <a:ea typeface="Calibri"/>
              <a:cs typeface="Calibri"/>
              <a:sym typeface="Calibri"/>
            </a:endParaRPr>
          </a:p>
        </p:txBody>
      </p:sp>
      <p:sp>
        <p:nvSpPr>
          <p:cNvPr id="600" name="Google Shape;600;p21"/>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601" name="Google Shape;601;p21"/>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1"/>
          <p:cNvSpPr/>
          <p:nvPr/>
        </p:nvSpPr>
        <p:spPr>
          <a:xfrm>
            <a:off x="612648"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1"/>
          <p:cNvSpPr txBox="1"/>
          <p:nvPr/>
        </p:nvSpPr>
        <p:spPr>
          <a:xfrm>
            <a:off x="612648"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3</a:t>
            </a:r>
            <a:endParaRPr b="0" i="0" sz="1000" u="none" cap="none" strike="noStrike">
              <a:solidFill>
                <a:schemeClr val="dk1"/>
              </a:solidFill>
              <a:latin typeface="Calibri"/>
              <a:ea typeface="Calibri"/>
              <a:cs typeface="Calibri"/>
              <a:sym typeface="Calibri"/>
            </a:endParaRPr>
          </a:p>
        </p:txBody>
      </p:sp>
      <p:sp>
        <p:nvSpPr>
          <p:cNvPr id="604" name="Google Shape;604;p21"/>
          <p:cNvSpPr txBox="1"/>
          <p:nvPr/>
        </p:nvSpPr>
        <p:spPr>
          <a:xfrm>
            <a:off x="1005840"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3 · Teen ADHD Assessment (UK vol.)</a:t>
            </a:r>
            <a:endParaRPr b="0" i="0" sz="1200" u="none" cap="none" strike="noStrike">
              <a:solidFill>
                <a:schemeClr val="dk1"/>
              </a:solidFill>
              <a:latin typeface="Calibri"/>
              <a:ea typeface="Calibri"/>
              <a:cs typeface="Calibri"/>
              <a:sym typeface="Calibri"/>
            </a:endParaRPr>
          </a:p>
        </p:txBody>
      </p:sp>
      <p:sp>
        <p:nvSpPr>
          <p:cNvPr id="605" name="Google Shape;605;p21"/>
          <p:cNvSpPr txBox="1"/>
          <p:nvPr/>
        </p:nvSpPr>
        <p:spPr>
          <a:xfrm>
            <a:off x="612648"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606" name="Google Shape;606;p21"/>
          <p:cNvSpPr txBox="1"/>
          <p:nvPr/>
        </p:nvSpPr>
        <p:spPr>
          <a:xfrm>
            <a:off x="612648"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Teen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ADHD Assessment for Teenagers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Private Teen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Adolescent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Consultant Child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Help Before GCSEs &amp; A-Levels</a:t>
            </a:r>
            <a:endParaRPr b="0" i="0" sz="1000" u="none" cap="none" strike="noStrike">
              <a:solidFill>
                <a:schemeClr val="dk1"/>
              </a:solidFill>
              <a:latin typeface="Calibri"/>
              <a:ea typeface="Calibri"/>
              <a:cs typeface="Calibri"/>
              <a:sym typeface="Calibri"/>
            </a:endParaRPr>
          </a:p>
        </p:txBody>
      </p:sp>
      <p:sp>
        <p:nvSpPr>
          <p:cNvPr id="607" name="Google Shape;607;p21"/>
          <p:cNvSpPr txBox="1"/>
          <p:nvPr/>
        </p:nvSpPr>
        <p:spPr>
          <a:xfrm>
            <a:off x="329184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Report for School &amp; SENCO</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Manchester Clinic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Teen Assessments From £890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Skip Long CAMHS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Book Your Teen's Assessment</a:t>
            </a:r>
            <a:endParaRPr b="0" i="0" sz="1000" u="none" cap="none" strike="noStrike">
              <a:solidFill>
                <a:schemeClr val="dk1"/>
              </a:solidFill>
              <a:latin typeface="Calibri"/>
              <a:ea typeface="Calibri"/>
              <a:cs typeface="Calibri"/>
              <a:sym typeface="Calibri"/>
            </a:endParaRPr>
          </a:p>
        </p:txBody>
      </p:sp>
      <p:sp>
        <p:nvSpPr>
          <p:cNvPr id="608" name="Google Shape;608;p21"/>
          <p:cNvSpPr txBox="1"/>
          <p:nvPr/>
        </p:nvSpPr>
        <p:spPr>
          <a:xfrm>
            <a:off x="612648"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609" name="Google Shape;609;p21"/>
          <p:cNvSpPr txBox="1"/>
          <p:nvPr/>
        </p:nvSpPr>
        <p:spPr>
          <a:xfrm>
            <a:off x="612648"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ADHD assessment for teenagers with a consultant psychiatrist, online or Manchester. £890+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Get a diagnosis in time for exam access arrangements. Report written for school and GP.</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teen-aware assessment: Young DIVA-5, school questionnaires and a clear plan for school.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Don't lose another exam year to a waiting list. Private assessment in weeks. Free call.</a:t>
            </a:r>
            <a:endParaRPr b="0" i="0" sz="1000" u="none" cap="none" strike="noStrike">
              <a:solidFill>
                <a:schemeClr val="dk1"/>
              </a:solidFill>
              <a:latin typeface="Calibri"/>
              <a:ea typeface="Calibri"/>
              <a:cs typeface="Calibri"/>
              <a:sym typeface="Calibri"/>
            </a:endParaRPr>
          </a:p>
        </p:txBody>
      </p:sp>
      <p:sp>
        <p:nvSpPr>
          <p:cNvPr id="610" name="Google Shape;610;p21"/>
          <p:cNvSpPr/>
          <p:nvPr/>
        </p:nvSpPr>
        <p:spPr>
          <a:xfrm>
            <a:off x="6245352"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1"/>
          <p:cNvSpPr/>
          <p:nvPr/>
        </p:nvSpPr>
        <p:spPr>
          <a:xfrm>
            <a:off x="6355080" y="2157984"/>
            <a:ext cx="274320" cy="27432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1"/>
          <p:cNvSpPr txBox="1"/>
          <p:nvPr/>
        </p:nvSpPr>
        <p:spPr>
          <a:xfrm>
            <a:off x="6355080" y="21579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4</a:t>
            </a:r>
            <a:endParaRPr b="0" i="0" sz="1000" u="none" cap="none" strike="noStrike">
              <a:solidFill>
                <a:schemeClr val="dk1"/>
              </a:solidFill>
              <a:latin typeface="Calibri"/>
              <a:ea typeface="Calibri"/>
              <a:cs typeface="Calibri"/>
              <a:sym typeface="Calibri"/>
            </a:endParaRPr>
          </a:p>
        </p:txBody>
      </p:sp>
      <p:sp>
        <p:nvSpPr>
          <p:cNvPr id="613" name="Google Shape;613;p21"/>
          <p:cNvSpPr txBox="1"/>
          <p:nvPr/>
        </p:nvSpPr>
        <p:spPr>
          <a:xfrm>
            <a:off x="6748272" y="2103120"/>
            <a:ext cx="4846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AD GROUP 4 · Child &amp; Teen · Manchester &amp; NW</a:t>
            </a:r>
            <a:endParaRPr b="0" i="0" sz="1200" u="none" cap="none" strike="noStrike">
              <a:solidFill>
                <a:schemeClr val="dk1"/>
              </a:solidFill>
              <a:latin typeface="Calibri"/>
              <a:ea typeface="Calibri"/>
              <a:cs typeface="Calibri"/>
              <a:sym typeface="Calibri"/>
            </a:endParaRPr>
          </a:p>
        </p:txBody>
      </p:sp>
      <p:sp>
        <p:nvSpPr>
          <p:cNvPr id="614" name="Google Shape;614;p21"/>
          <p:cNvSpPr txBox="1"/>
          <p:nvPr/>
        </p:nvSpPr>
        <p:spPr>
          <a:xfrm>
            <a:off x="6355080" y="260604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HEADLINES (15 · ≤30 chars)</a:t>
            </a:r>
            <a:endParaRPr b="0" i="0" sz="1000" u="none" cap="none" strike="noStrike">
              <a:solidFill>
                <a:schemeClr val="dk1"/>
              </a:solidFill>
              <a:latin typeface="Calibri"/>
              <a:ea typeface="Calibri"/>
              <a:cs typeface="Calibri"/>
              <a:sym typeface="Calibri"/>
            </a:endParaRPr>
          </a:p>
        </p:txBody>
      </p:sp>
      <p:sp>
        <p:nvSpPr>
          <p:cNvPr id="615" name="Google Shape;615;p21"/>
          <p:cNvSpPr txBox="1"/>
          <p:nvPr/>
        </p:nvSpPr>
        <p:spPr>
          <a:xfrm>
            <a:off x="6355080"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 Child ADHD Tests in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 Child Psychiatrist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 Teen ADHD Tests in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4. Child ADHD Clinic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5. Free 15-Minute Consultation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6. 6 Oxford Place,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7. GMC Registered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8. Online Across the North West</a:t>
            </a:r>
            <a:endParaRPr b="0" i="0" sz="1000" u="none" cap="none" strike="noStrike">
              <a:solidFill>
                <a:schemeClr val="dk1"/>
              </a:solidFill>
              <a:latin typeface="Calibri"/>
              <a:ea typeface="Calibri"/>
              <a:cs typeface="Calibri"/>
              <a:sym typeface="Calibri"/>
            </a:endParaRPr>
          </a:p>
        </p:txBody>
      </p:sp>
      <p:sp>
        <p:nvSpPr>
          <p:cNvPr id="616" name="Google Shape;616;p21"/>
          <p:cNvSpPr txBox="1"/>
          <p:nvPr/>
        </p:nvSpPr>
        <p:spPr>
          <a:xfrm>
            <a:off x="9034272" y="2880360"/>
            <a:ext cx="265176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9. Report for School &amp; GP</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10. Child Assessments From £890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11. Skip Long CAMHS Wait Times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12. NICE-Compliant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13. Rated 5.0 on Google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14. Book a Manchester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15. Refocus The Brain Hub</a:t>
            </a:r>
            <a:endParaRPr b="0" i="0" sz="1000" u="none" cap="none" strike="noStrike">
              <a:solidFill>
                <a:schemeClr val="dk1"/>
              </a:solidFill>
              <a:latin typeface="Calibri"/>
              <a:ea typeface="Calibri"/>
              <a:cs typeface="Calibri"/>
              <a:sym typeface="Calibri"/>
            </a:endParaRPr>
          </a:p>
        </p:txBody>
      </p:sp>
      <p:sp>
        <p:nvSpPr>
          <p:cNvPr id="617" name="Google Shape;617;p21"/>
          <p:cNvSpPr txBox="1"/>
          <p:nvPr/>
        </p:nvSpPr>
        <p:spPr>
          <a:xfrm>
            <a:off x="6355080" y="452628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DESCRIPTIONS (4 · ≤90 chars)</a:t>
            </a:r>
            <a:endParaRPr b="0" i="0" sz="1000" u="none" cap="none" strike="noStrike">
              <a:solidFill>
                <a:schemeClr val="dk1"/>
              </a:solidFill>
              <a:latin typeface="Calibri"/>
              <a:ea typeface="Calibri"/>
              <a:cs typeface="Calibri"/>
              <a:sym typeface="Calibri"/>
            </a:endParaRPr>
          </a:p>
        </p:txBody>
      </p:sp>
      <p:sp>
        <p:nvSpPr>
          <p:cNvPr id="618" name="Google Shape;618;p21"/>
          <p:cNvSpPr txBox="1"/>
          <p:nvPr/>
        </p:nvSpPr>
        <p:spPr>
          <a:xfrm>
            <a:off x="6355080" y="4800600"/>
            <a:ext cx="52578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child and teen ADHD assessments in Manchester city centre or online across the NW.</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Consultant child psychiatrist at 6 Oxford Place, Manchester. Assessment in weeks. £890+</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Serving Greater Manchester, Cheshire, Liverpool and Lancashire. In person or video call.</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NICE-compliant assessment with a written report for school and GP. No referral needed.</a:t>
            </a:r>
            <a:endParaRPr b="0" i="0" sz="1000" u="none" cap="none" strike="noStrike">
              <a:solidFill>
                <a:schemeClr val="dk1"/>
              </a:solidFill>
              <a:latin typeface="Calibri"/>
              <a:ea typeface="Calibri"/>
              <a:cs typeface="Calibri"/>
              <a:sym typeface="Calibri"/>
            </a:endParaRPr>
          </a:p>
        </p:txBody>
      </p:sp>
      <p:sp>
        <p:nvSpPr>
          <p:cNvPr id="619" name="Google Shape;619;p21"/>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22"/>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Protect</a:t>
            </a:r>
            <a:endParaRPr b="0" i="0" sz="1500" u="none" cap="none" strike="noStrike">
              <a:solidFill>
                <a:schemeClr val="dk1"/>
              </a:solidFill>
              <a:latin typeface="Calibri"/>
              <a:ea typeface="Calibri"/>
              <a:cs typeface="Calibri"/>
              <a:sym typeface="Calibri"/>
            </a:endParaRPr>
          </a:p>
        </p:txBody>
      </p:sp>
      <p:sp>
        <p:nvSpPr>
          <p:cNvPr id="626" name="Google Shape;626;p22"/>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CAMPAIGN PROTECTION · CHILD &amp; TEEN ADHD</a:t>
            </a:r>
            <a:endParaRPr b="0" i="0" sz="1250" u="none" cap="none" strike="noStrike">
              <a:solidFill>
                <a:schemeClr val="dk1"/>
              </a:solidFill>
              <a:latin typeface="Calibri"/>
              <a:ea typeface="Calibri"/>
              <a:cs typeface="Calibri"/>
              <a:sym typeface="Calibri"/>
            </a:endParaRPr>
          </a:p>
        </p:txBody>
      </p:sp>
      <p:sp>
        <p:nvSpPr>
          <p:cNvPr id="627" name="Google Shape;627;p22"/>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Negative Keywords</a:t>
            </a:r>
            <a:endParaRPr b="0" i="0" sz="3300" u="none" cap="none" strike="noStrike">
              <a:solidFill>
                <a:schemeClr val="dk1"/>
              </a:solidFill>
              <a:latin typeface="Calibri"/>
              <a:ea typeface="Calibri"/>
              <a:cs typeface="Calibri"/>
              <a:sym typeface="Calibri"/>
            </a:endParaRPr>
          </a:p>
        </p:txBody>
      </p:sp>
      <p:sp>
        <p:nvSpPr>
          <p:cNvPr id="628" name="Google Shape;628;p22"/>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The child &amp; teen list removes NHS and CAMHS pathway searches, bargain hunting, symptom and parenting research, therapy-only intent and anything about toddlers or adults — keeping spend on parents ready to book a private assessment.</a:t>
            </a:r>
            <a:endParaRPr b="0" i="0" sz="1350" u="none" cap="none" strike="noStrike">
              <a:solidFill>
                <a:schemeClr val="dk1"/>
              </a:solidFill>
              <a:latin typeface="Calibri"/>
              <a:ea typeface="Calibri"/>
              <a:cs typeface="Calibri"/>
              <a:sym typeface="Calibri"/>
            </a:endParaRPr>
          </a:p>
        </p:txBody>
      </p:sp>
      <p:sp>
        <p:nvSpPr>
          <p:cNvPr id="629" name="Google Shape;629;p22"/>
          <p:cNvSpPr/>
          <p:nvPr/>
        </p:nvSpPr>
        <p:spPr>
          <a:xfrm>
            <a:off x="502920" y="2615184"/>
            <a:ext cx="6537960" cy="3611880"/>
          </a:xfrm>
          <a:prstGeom prst="roundRect">
            <a:avLst>
              <a:gd fmla="val 2532"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777240" y="2852928"/>
            <a:ext cx="512064" cy="512064"/>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an_white.png" id="631" name="Google Shape;631;p22"/>
          <p:cNvPicPr preferRelativeResize="0"/>
          <p:nvPr/>
        </p:nvPicPr>
        <p:blipFill rotWithShape="1">
          <a:blip r:embed="rId3">
            <a:alphaModFix/>
          </a:blip>
          <a:srcRect b="0" l="0" r="0" t="0"/>
          <a:stretch/>
        </p:blipFill>
        <p:spPr>
          <a:xfrm>
            <a:off x="905256" y="2980944"/>
            <a:ext cx="256032" cy="256032"/>
          </a:xfrm>
          <a:prstGeom prst="rect">
            <a:avLst/>
          </a:prstGeom>
          <a:noFill/>
          <a:ln>
            <a:noFill/>
          </a:ln>
        </p:spPr>
      </p:pic>
      <p:sp>
        <p:nvSpPr>
          <p:cNvPr id="632" name="Google Shape;632;p22"/>
          <p:cNvSpPr txBox="1"/>
          <p:nvPr/>
        </p:nvSpPr>
        <p:spPr>
          <a:xfrm>
            <a:off x="1417320" y="2852928"/>
            <a:ext cx="41148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600"/>
              <a:buFont typeface="Poppins"/>
              <a:buNone/>
            </a:pPr>
            <a:r>
              <a:rPr b="1" i="0" lang="en-US" sz="1600" u="none" cap="none" strike="noStrike">
                <a:solidFill>
                  <a:srgbClr val="2B2E2C"/>
                </a:solidFill>
                <a:latin typeface="Poppins"/>
                <a:ea typeface="Poppins"/>
                <a:cs typeface="Poppins"/>
                <a:sym typeface="Poppins"/>
              </a:rPr>
              <a:t>Broad Match Negatives</a:t>
            </a:r>
            <a:endParaRPr b="0" i="0" sz="1600" u="none" cap="none" strike="noStrike">
              <a:solidFill>
                <a:schemeClr val="dk1"/>
              </a:solidFill>
              <a:latin typeface="Calibri"/>
              <a:ea typeface="Calibri"/>
              <a:cs typeface="Calibri"/>
              <a:sym typeface="Calibri"/>
            </a:endParaRPr>
          </a:p>
        </p:txBody>
      </p:sp>
      <p:sp>
        <p:nvSpPr>
          <p:cNvPr id="633" name="Google Shape;633;p22"/>
          <p:cNvSpPr txBox="1"/>
          <p:nvPr/>
        </p:nvSpPr>
        <p:spPr>
          <a:xfrm>
            <a:off x="5577840" y="2852928"/>
            <a:ext cx="11887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300"/>
              <a:buFont typeface="Poppins"/>
              <a:buNone/>
            </a:pPr>
            <a:r>
              <a:rPr b="1" i="0" lang="en-US" sz="1300" u="none" cap="none" strike="noStrike">
                <a:solidFill>
                  <a:srgbClr val="16A879"/>
                </a:solidFill>
                <a:latin typeface="Poppins"/>
                <a:ea typeface="Poppins"/>
                <a:cs typeface="Poppins"/>
                <a:sym typeface="Poppins"/>
              </a:rPr>
              <a:t>32 terms</a:t>
            </a:r>
            <a:endParaRPr b="0" i="0" sz="1300" u="none" cap="none" strike="noStrike">
              <a:solidFill>
                <a:schemeClr val="dk1"/>
              </a:solidFill>
              <a:latin typeface="Calibri"/>
              <a:ea typeface="Calibri"/>
              <a:cs typeface="Calibri"/>
              <a:sym typeface="Calibri"/>
            </a:endParaRPr>
          </a:p>
        </p:txBody>
      </p:sp>
      <p:sp>
        <p:nvSpPr>
          <p:cNvPr id="634" name="Google Shape;634;p22"/>
          <p:cNvSpPr/>
          <p:nvPr/>
        </p:nvSpPr>
        <p:spPr>
          <a:xfrm>
            <a:off x="79552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2"/>
          <p:cNvSpPr txBox="1"/>
          <p:nvPr/>
        </p:nvSpPr>
        <p:spPr>
          <a:xfrm>
            <a:off x="79552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free</a:t>
            </a:r>
            <a:endParaRPr b="0" i="0" sz="920" u="none" cap="none" strike="noStrike">
              <a:solidFill>
                <a:schemeClr val="dk1"/>
              </a:solidFill>
              <a:latin typeface="Calibri"/>
              <a:ea typeface="Calibri"/>
              <a:cs typeface="Calibri"/>
              <a:sym typeface="Calibri"/>
            </a:endParaRPr>
          </a:p>
        </p:txBody>
      </p:sp>
      <p:sp>
        <p:nvSpPr>
          <p:cNvPr id="636" name="Google Shape;636;p22"/>
          <p:cNvSpPr/>
          <p:nvPr/>
        </p:nvSpPr>
        <p:spPr>
          <a:xfrm>
            <a:off x="200710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2"/>
          <p:cNvSpPr txBox="1"/>
          <p:nvPr/>
        </p:nvSpPr>
        <p:spPr>
          <a:xfrm>
            <a:off x="200710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cheap</a:t>
            </a:r>
            <a:endParaRPr b="0" i="0" sz="920" u="none" cap="none" strike="noStrike">
              <a:solidFill>
                <a:schemeClr val="dk1"/>
              </a:solidFill>
              <a:latin typeface="Calibri"/>
              <a:ea typeface="Calibri"/>
              <a:cs typeface="Calibri"/>
              <a:sym typeface="Calibri"/>
            </a:endParaRPr>
          </a:p>
        </p:txBody>
      </p:sp>
      <p:sp>
        <p:nvSpPr>
          <p:cNvPr id="638" name="Google Shape;638;p22"/>
          <p:cNvSpPr/>
          <p:nvPr/>
        </p:nvSpPr>
        <p:spPr>
          <a:xfrm>
            <a:off x="321868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2"/>
          <p:cNvSpPr txBox="1"/>
          <p:nvPr/>
        </p:nvSpPr>
        <p:spPr>
          <a:xfrm>
            <a:off x="321868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cheapest</a:t>
            </a:r>
            <a:endParaRPr b="0" i="0" sz="920" u="none" cap="none" strike="noStrike">
              <a:solidFill>
                <a:schemeClr val="dk1"/>
              </a:solidFill>
              <a:latin typeface="Calibri"/>
              <a:ea typeface="Calibri"/>
              <a:cs typeface="Calibri"/>
              <a:sym typeface="Calibri"/>
            </a:endParaRPr>
          </a:p>
        </p:txBody>
      </p:sp>
      <p:sp>
        <p:nvSpPr>
          <p:cNvPr id="640" name="Google Shape;640;p22"/>
          <p:cNvSpPr/>
          <p:nvPr/>
        </p:nvSpPr>
        <p:spPr>
          <a:xfrm>
            <a:off x="443026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2"/>
          <p:cNvSpPr txBox="1"/>
          <p:nvPr/>
        </p:nvSpPr>
        <p:spPr>
          <a:xfrm>
            <a:off x="443026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affordable</a:t>
            </a:r>
            <a:endParaRPr b="0" i="0" sz="920" u="none" cap="none" strike="noStrike">
              <a:solidFill>
                <a:schemeClr val="dk1"/>
              </a:solidFill>
              <a:latin typeface="Calibri"/>
              <a:ea typeface="Calibri"/>
              <a:cs typeface="Calibri"/>
              <a:sym typeface="Calibri"/>
            </a:endParaRPr>
          </a:p>
        </p:txBody>
      </p:sp>
      <p:sp>
        <p:nvSpPr>
          <p:cNvPr id="642" name="Google Shape;642;p22"/>
          <p:cNvSpPr/>
          <p:nvPr/>
        </p:nvSpPr>
        <p:spPr>
          <a:xfrm>
            <a:off x="5641848" y="351129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2"/>
          <p:cNvSpPr txBox="1"/>
          <p:nvPr/>
        </p:nvSpPr>
        <p:spPr>
          <a:xfrm>
            <a:off x="5641848" y="351129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nhs</a:t>
            </a:r>
            <a:endParaRPr b="0" i="0" sz="920" u="none" cap="none" strike="noStrike">
              <a:solidFill>
                <a:schemeClr val="dk1"/>
              </a:solidFill>
              <a:latin typeface="Calibri"/>
              <a:ea typeface="Calibri"/>
              <a:cs typeface="Calibri"/>
              <a:sym typeface="Calibri"/>
            </a:endParaRPr>
          </a:p>
        </p:txBody>
      </p:sp>
      <p:sp>
        <p:nvSpPr>
          <p:cNvPr id="644" name="Google Shape;644;p22"/>
          <p:cNvSpPr/>
          <p:nvPr/>
        </p:nvSpPr>
        <p:spPr>
          <a:xfrm>
            <a:off x="79552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2"/>
          <p:cNvSpPr txBox="1"/>
          <p:nvPr/>
        </p:nvSpPr>
        <p:spPr>
          <a:xfrm>
            <a:off x="79552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camhs</a:t>
            </a:r>
            <a:endParaRPr b="0" i="0" sz="920" u="none" cap="none" strike="noStrike">
              <a:solidFill>
                <a:schemeClr val="dk1"/>
              </a:solidFill>
              <a:latin typeface="Calibri"/>
              <a:ea typeface="Calibri"/>
              <a:cs typeface="Calibri"/>
              <a:sym typeface="Calibri"/>
            </a:endParaRPr>
          </a:p>
        </p:txBody>
      </p:sp>
      <p:sp>
        <p:nvSpPr>
          <p:cNvPr id="646" name="Google Shape;646;p22"/>
          <p:cNvSpPr/>
          <p:nvPr/>
        </p:nvSpPr>
        <p:spPr>
          <a:xfrm>
            <a:off x="200710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2"/>
          <p:cNvSpPr txBox="1"/>
          <p:nvPr/>
        </p:nvSpPr>
        <p:spPr>
          <a:xfrm>
            <a:off x="200710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symptoms</a:t>
            </a:r>
            <a:endParaRPr b="0" i="0" sz="920" u="none" cap="none" strike="noStrike">
              <a:solidFill>
                <a:schemeClr val="dk1"/>
              </a:solidFill>
              <a:latin typeface="Calibri"/>
              <a:ea typeface="Calibri"/>
              <a:cs typeface="Calibri"/>
              <a:sym typeface="Calibri"/>
            </a:endParaRPr>
          </a:p>
        </p:txBody>
      </p:sp>
      <p:sp>
        <p:nvSpPr>
          <p:cNvPr id="648" name="Google Shape;648;p22"/>
          <p:cNvSpPr/>
          <p:nvPr/>
        </p:nvSpPr>
        <p:spPr>
          <a:xfrm>
            <a:off x="321868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2"/>
          <p:cNvSpPr txBox="1"/>
          <p:nvPr/>
        </p:nvSpPr>
        <p:spPr>
          <a:xfrm>
            <a:off x="321868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signs</a:t>
            </a:r>
            <a:endParaRPr b="0" i="0" sz="920" u="none" cap="none" strike="noStrike">
              <a:solidFill>
                <a:schemeClr val="dk1"/>
              </a:solidFill>
              <a:latin typeface="Calibri"/>
              <a:ea typeface="Calibri"/>
              <a:cs typeface="Calibri"/>
              <a:sym typeface="Calibri"/>
            </a:endParaRPr>
          </a:p>
        </p:txBody>
      </p:sp>
      <p:sp>
        <p:nvSpPr>
          <p:cNvPr id="650" name="Google Shape;650;p22"/>
          <p:cNvSpPr/>
          <p:nvPr/>
        </p:nvSpPr>
        <p:spPr>
          <a:xfrm>
            <a:off x="443026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2"/>
          <p:cNvSpPr txBox="1"/>
          <p:nvPr/>
        </p:nvSpPr>
        <p:spPr>
          <a:xfrm>
            <a:off x="443026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medication</a:t>
            </a:r>
            <a:endParaRPr b="0" i="0" sz="920" u="none" cap="none" strike="noStrike">
              <a:solidFill>
                <a:schemeClr val="dk1"/>
              </a:solidFill>
              <a:latin typeface="Calibri"/>
              <a:ea typeface="Calibri"/>
              <a:cs typeface="Calibri"/>
              <a:sym typeface="Calibri"/>
            </a:endParaRPr>
          </a:p>
        </p:txBody>
      </p:sp>
      <p:sp>
        <p:nvSpPr>
          <p:cNvPr id="652" name="Google Shape;652;p22"/>
          <p:cNvSpPr/>
          <p:nvPr/>
        </p:nvSpPr>
        <p:spPr>
          <a:xfrm>
            <a:off x="5641848" y="388620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2"/>
          <p:cNvSpPr txBox="1"/>
          <p:nvPr/>
        </p:nvSpPr>
        <p:spPr>
          <a:xfrm>
            <a:off x="5641848" y="388620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treatment</a:t>
            </a:r>
            <a:endParaRPr b="0" i="0" sz="920" u="none" cap="none" strike="noStrike">
              <a:solidFill>
                <a:schemeClr val="dk1"/>
              </a:solidFill>
              <a:latin typeface="Calibri"/>
              <a:ea typeface="Calibri"/>
              <a:cs typeface="Calibri"/>
              <a:sym typeface="Calibri"/>
            </a:endParaRPr>
          </a:p>
        </p:txBody>
      </p:sp>
      <p:sp>
        <p:nvSpPr>
          <p:cNvPr id="654" name="Google Shape;654;p22"/>
          <p:cNvSpPr/>
          <p:nvPr/>
        </p:nvSpPr>
        <p:spPr>
          <a:xfrm>
            <a:off x="79552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2"/>
          <p:cNvSpPr txBox="1"/>
          <p:nvPr/>
        </p:nvSpPr>
        <p:spPr>
          <a:xfrm>
            <a:off x="79552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therapy</a:t>
            </a:r>
            <a:endParaRPr b="0" i="0" sz="920" u="none" cap="none" strike="noStrike">
              <a:solidFill>
                <a:schemeClr val="dk1"/>
              </a:solidFill>
              <a:latin typeface="Calibri"/>
              <a:ea typeface="Calibri"/>
              <a:cs typeface="Calibri"/>
              <a:sym typeface="Calibri"/>
            </a:endParaRPr>
          </a:p>
        </p:txBody>
      </p:sp>
      <p:sp>
        <p:nvSpPr>
          <p:cNvPr id="656" name="Google Shape;656;p22"/>
          <p:cNvSpPr/>
          <p:nvPr/>
        </p:nvSpPr>
        <p:spPr>
          <a:xfrm>
            <a:off x="200710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2"/>
          <p:cNvSpPr txBox="1"/>
          <p:nvPr/>
        </p:nvSpPr>
        <p:spPr>
          <a:xfrm>
            <a:off x="200710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adult</a:t>
            </a:r>
            <a:endParaRPr b="0" i="0" sz="920" u="none" cap="none" strike="noStrike">
              <a:solidFill>
                <a:schemeClr val="dk1"/>
              </a:solidFill>
              <a:latin typeface="Calibri"/>
              <a:ea typeface="Calibri"/>
              <a:cs typeface="Calibri"/>
              <a:sym typeface="Calibri"/>
            </a:endParaRPr>
          </a:p>
        </p:txBody>
      </p:sp>
      <p:sp>
        <p:nvSpPr>
          <p:cNvPr id="658" name="Google Shape;658;p22"/>
          <p:cNvSpPr/>
          <p:nvPr/>
        </p:nvSpPr>
        <p:spPr>
          <a:xfrm>
            <a:off x="321868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2"/>
          <p:cNvSpPr txBox="1"/>
          <p:nvPr/>
        </p:nvSpPr>
        <p:spPr>
          <a:xfrm>
            <a:off x="321868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adults</a:t>
            </a:r>
            <a:endParaRPr b="0" i="0" sz="920" u="none" cap="none" strike="noStrike">
              <a:solidFill>
                <a:schemeClr val="dk1"/>
              </a:solidFill>
              <a:latin typeface="Calibri"/>
              <a:ea typeface="Calibri"/>
              <a:cs typeface="Calibri"/>
              <a:sym typeface="Calibri"/>
            </a:endParaRPr>
          </a:p>
        </p:txBody>
      </p:sp>
      <p:sp>
        <p:nvSpPr>
          <p:cNvPr id="660" name="Google Shape;660;p22"/>
          <p:cNvSpPr/>
          <p:nvPr/>
        </p:nvSpPr>
        <p:spPr>
          <a:xfrm>
            <a:off x="443026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
          <p:cNvSpPr txBox="1"/>
          <p:nvPr/>
        </p:nvSpPr>
        <p:spPr>
          <a:xfrm>
            <a:off x="443026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women</a:t>
            </a:r>
            <a:endParaRPr b="0" i="0" sz="920" u="none" cap="none" strike="noStrike">
              <a:solidFill>
                <a:schemeClr val="dk1"/>
              </a:solidFill>
              <a:latin typeface="Calibri"/>
              <a:ea typeface="Calibri"/>
              <a:cs typeface="Calibri"/>
              <a:sym typeface="Calibri"/>
            </a:endParaRPr>
          </a:p>
        </p:txBody>
      </p:sp>
      <p:sp>
        <p:nvSpPr>
          <p:cNvPr id="662" name="Google Shape;662;p22"/>
          <p:cNvSpPr/>
          <p:nvPr/>
        </p:nvSpPr>
        <p:spPr>
          <a:xfrm>
            <a:off x="5641848" y="4261104"/>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2"/>
          <p:cNvSpPr txBox="1"/>
          <p:nvPr/>
        </p:nvSpPr>
        <p:spPr>
          <a:xfrm>
            <a:off x="5641848" y="4261104"/>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woman</a:t>
            </a:r>
            <a:endParaRPr b="0" i="0" sz="920" u="none" cap="none" strike="noStrike">
              <a:solidFill>
                <a:schemeClr val="dk1"/>
              </a:solidFill>
              <a:latin typeface="Calibri"/>
              <a:ea typeface="Calibri"/>
              <a:cs typeface="Calibri"/>
              <a:sym typeface="Calibri"/>
            </a:endParaRPr>
          </a:p>
        </p:txBody>
      </p:sp>
      <p:sp>
        <p:nvSpPr>
          <p:cNvPr id="664" name="Google Shape;664;p22"/>
          <p:cNvSpPr/>
          <p:nvPr/>
        </p:nvSpPr>
        <p:spPr>
          <a:xfrm>
            <a:off x="79552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2"/>
          <p:cNvSpPr txBox="1"/>
          <p:nvPr/>
        </p:nvSpPr>
        <p:spPr>
          <a:xfrm>
            <a:off x="79552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female</a:t>
            </a:r>
            <a:endParaRPr b="0" i="0" sz="920" u="none" cap="none" strike="noStrike">
              <a:solidFill>
                <a:schemeClr val="dk1"/>
              </a:solidFill>
              <a:latin typeface="Calibri"/>
              <a:ea typeface="Calibri"/>
              <a:cs typeface="Calibri"/>
              <a:sym typeface="Calibri"/>
            </a:endParaRPr>
          </a:p>
        </p:txBody>
      </p:sp>
      <p:sp>
        <p:nvSpPr>
          <p:cNvPr id="666" name="Google Shape;666;p22"/>
          <p:cNvSpPr/>
          <p:nvPr/>
        </p:nvSpPr>
        <p:spPr>
          <a:xfrm>
            <a:off x="200710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2"/>
          <p:cNvSpPr txBox="1"/>
          <p:nvPr/>
        </p:nvSpPr>
        <p:spPr>
          <a:xfrm>
            <a:off x="200710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quiz</a:t>
            </a:r>
            <a:endParaRPr b="0" i="0" sz="920" u="none" cap="none" strike="noStrike">
              <a:solidFill>
                <a:schemeClr val="dk1"/>
              </a:solidFill>
              <a:latin typeface="Calibri"/>
              <a:ea typeface="Calibri"/>
              <a:cs typeface="Calibri"/>
              <a:sym typeface="Calibri"/>
            </a:endParaRPr>
          </a:p>
        </p:txBody>
      </p:sp>
      <p:sp>
        <p:nvSpPr>
          <p:cNvPr id="668" name="Google Shape;668;p22"/>
          <p:cNvSpPr/>
          <p:nvPr/>
        </p:nvSpPr>
        <p:spPr>
          <a:xfrm>
            <a:off x="321868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2"/>
          <p:cNvSpPr txBox="1"/>
          <p:nvPr/>
        </p:nvSpPr>
        <p:spPr>
          <a:xfrm>
            <a:off x="321868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checklist</a:t>
            </a:r>
            <a:endParaRPr b="0" i="0" sz="920" u="none" cap="none" strike="noStrike">
              <a:solidFill>
                <a:schemeClr val="dk1"/>
              </a:solidFill>
              <a:latin typeface="Calibri"/>
              <a:ea typeface="Calibri"/>
              <a:cs typeface="Calibri"/>
              <a:sym typeface="Calibri"/>
            </a:endParaRPr>
          </a:p>
        </p:txBody>
      </p:sp>
      <p:sp>
        <p:nvSpPr>
          <p:cNvPr id="670" name="Google Shape;670;p22"/>
          <p:cNvSpPr/>
          <p:nvPr/>
        </p:nvSpPr>
        <p:spPr>
          <a:xfrm>
            <a:off x="443026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2"/>
          <p:cNvSpPr txBox="1"/>
          <p:nvPr/>
        </p:nvSpPr>
        <p:spPr>
          <a:xfrm>
            <a:off x="443026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questionnaire</a:t>
            </a:r>
            <a:endParaRPr b="0" i="0" sz="920" u="none" cap="none" strike="noStrike">
              <a:solidFill>
                <a:schemeClr val="dk1"/>
              </a:solidFill>
              <a:latin typeface="Calibri"/>
              <a:ea typeface="Calibri"/>
              <a:cs typeface="Calibri"/>
              <a:sym typeface="Calibri"/>
            </a:endParaRPr>
          </a:p>
        </p:txBody>
      </p:sp>
      <p:sp>
        <p:nvSpPr>
          <p:cNvPr id="672" name="Google Shape;672;p22"/>
          <p:cNvSpPr/>
          <p:nvPr/>
        </p:nvSpPr>
        <p:spPr>
          <a:xfrm>
            <a:off x="5641848" y="4636008"/>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2"/>
          <p:cNvSpPr txBox="1"/>
          <p:nvPr/>
        </p:nvSpPr>
        <p:spPr>
          <a:xfrm>
            <a:off x="5641848" y="4636008"/>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jobs</a:t>
            </a:r>
            <a:endParaRPr b="0" i="0" sz="920" u="none" cap="none" strike="noStrike">
              <a:solidFill>
                <a:schemeClr val="dk1"/>
              </a:solidFill>
              <a:latin typeface="Calibri"/>
              <a:ea typeface="Calibri"/>
              <a:cs typeface="Calibri"/>
              <a:sym typeface="Calibri"/>
            </a:endParaRPr>
          </a:p>
        </p:txBody>
      </p:sp>
      <p:sp>
        <p:nvSpPr>
          <p:cNvPr id="674" name="Google Shape;674;p22"/>
          <p:cNvSpPr/>
          <p:nvPr/>
        </p:nvSpPr>
        <p:spPr>
          <a:xfrm>
            <a:off x="79552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2"/>
          <p:cNvSpPr txBox="1"/>
          <p:nvPr/>
        </p:nvSpPr>
        <p:spPr>
          <a:xfrm>
            <a:off x="79552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course</a:t>
            </a:r>
            <a:endParaRPr b="0" i="0" sz="920" u="none" cap="none" strike="noStrike">
              <a:solidFill>
                <a:schemeClr val="dk1"/>
              </a:solidFill>
              <a:latin typeface="Calibri"/>
              <a:ea typeface="Calibri"/>
              <a:cs typeface="Calibri"/>
              <a:sym typeface="Calibri"/>
            </a:endParaRPr>
          </a:p>
        </p:txBody>
      </p:sp>
      <p:sp>
        <p:nvSpPr>
          <p:cNvPr id="676" name="Google Shape;676;p22"/>
          <p:cNvSpPr/>
          <p:nvPr/>
        </p:nvSpPr>
        <p:spPr>
          <a:xfrm>
            <a:off x="200710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2"/>
          <p:cNvSpPr txBox="1"/>
          <p:nvPr/>
        </p:nvSpPr>
        <p:spPr>
          <a:xfrm>
            <a:off x="200710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training</a:t>
            </a:r>
            <a:endParaRPr b="0" i="0" sz="920" u="none" cap="none" strike="noStrike">
              <a:solidFill>
                <a:schemeClr val="dk1"/>
              </a:solidFill>
              <a:latin typeface="Calibri"/>
              <a:ea typeface="Calibri"/>
              <a:cs typeface="Calibri"/>
              <a:sym typeface="Calibri"/>
            </a:endParaRPr>
          </a:p>
        </p:txBody>
      </p:sp>
      <p:sp>
        <p:nvSpPr>
          <p:cNvPr id="678" name="Google Shape;678;p22"/>
          <p:cNvSpPr/>
          <p:nvPr/>
        </p:nvSpPr>
        <p:spPr>
          <a:xfrm>
            <a:off x="321868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txBox="1"/>
          <p:nvPr/>
        </p:nvSpPr>
        <p:spPr>
          <a:xfrm>
            <a:off x="321868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reddit</a:t>
            </a:r>
            <a:endParaRPr b="0" i="0" sz="920" u="none" cap="none" strike="noStrike">
              <a:solidFill>
                <a:schemeClr val="dk1"/>
              </a:solidFill>
              <a:latin typeface="Calibri"/>
              <a:ea typeface="Calibri"/>
              <a:cs typeface="Calibri"/>
              <a:sym typeface="Calibri"/>
            </a:endParaRPr>
          </a:p>
        </p:txBody>
      </p:sp>
      <p:sp>
        <p:nvSpPr>
          <p:cNvPr id="680" name="Google Shape;680;p22"/>
          <p:cNvSpPr/>
          <p:nvPr/>
        </p:nvSpPr>
        <p:spPr>
          <a:xfrm>
            <a:off x="443026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txBox="1"/>
          <p:nvPr/>
        </p:nvSpPr>
        <p:spPr>
          <a:xfrm>
            <a:off x="443026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london</a:t>
            </a:r>
            <a:endParaRPr b="0" i="0" sz="920" u="none" cap="none" strike="noStrike">
              <a:solidFill>
                <a:schemeClr val="dk1"/>
              </a:solidFill>
              <a:latin typeface="Calibri"/>
              <a:ea typeface="Calibri"/>
              <a:cs typeface="Calibri"/>
              <a:sym typeface="Calibri"/>
            </a:endParaRPr>
          </a:p>
        </p:txBody>
      </p:sp>
      <p:sp>
        <p:nvSpPr>
          <p:cNvPr id="682" name="Google Shape;682;p22"/>
          <p:cNvSpPr/>
          <p:nvPr/>
        </p:nvSpPr>
        <p:spPr>
          <a:xfrm>
            <a:off x="5641848" y="5010912"/>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txBox="1"/>
          <p:nvPr/>
        </p:nvSpPr>
        <p:spPr>
          <a:xfrm>
            <a:off x="5641848" y="5010912"/>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toddler</a:t>
            </a:r>
            <a:endParaRPr b="0" i="0" sz="920" u="none" cap="none" strike="noStrike">
              <a:solidFill>
                <a:schemeClr val="dk1"/>
              </a:solidFill>
              <a:latin typeface="Calibri"/>
              <a:ea typeface="Calibri"/>
              <a:cs typeface="Calibri"/>
              <a:sym typeface="Calibri"/>
            </a:endParaRPr>
          </a:p>
        </p:txBody>
      </p:sp>
      <p:sp>
        <p:nvSpPr>
          <p:cNvPr id="684" name="Google Shape;684;p22"/>
          <p:cNvSpPr/>
          <p:nvPr/>
        </p:nvSpPr>
        <p:spPr>
          <a:xfrm>
            <a:off x="79552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2"/>
          <p:cNvSpPr txBox="1"/>
          <p:nvPr/>
        </p:nvSpPr>
        <p:spPr>
          <a:xfrm>
            <a:off x="79552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aba</a:t>
            </a:r>
            <a:endParaRPr b="0" i="0" sz="920" u="none" cap="none" strike="noStrike">
              <a:solidFill>
                <a:schemeClr val="dk1"/>
              </a:solidFill>
              <a:latin typeface="Calibri"/>
              <a:ea typeface="Calibri"/>
              <a:cs typeface="Calibri"/>
              <a:sym typeface="Calibri"/>
            </a:endParaRPr>
          </a:p>
        </p:txBody>
      </p:sp>
      <p:sp>
        <p:nvSpPr>
          <p:cNvPr id="686" name="Google Shape;686;p22"/>
          <p:cNvSpPr/>
          <p:nvPr/>
        </p:nvSpPr>
        <p:spPr>
          <a:xfrm>
            <a:off x="200710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2"/>
          <p:cNvSpPr txBox="1"/>
          <p:nvPr/>
        </p:nvSpPr>
        <p:spPr>
          <a:xfrm>
            <a:off x="200710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ehcp</a:t>
            </a:r>
            <a:endParaRPr b="0" i="0" sz="920" u="none" cap="none" strike="noStrike">
              <a:solidFill>
                <a:schemeClr val="dk1"/>
              </a:solidFill>
              <a:latin typeface="Calibri"/>
              <a:ea typeface="Calibri"/>
              <a:cs typeface="Calibri"/>
              <a:sym typeface="Calibri"/>
            </a:endParaRPr>
          </a:p>
        </p:txBody>
      </p:sp>
      <p:sp>
        <p:nvSpPr>
          <p:cNvPr id="688" name="Google Shape;688;p22"/>
          <p:cNvSpPr/>
          <p:nvPr/>
        </p:nvSpPr>
        <p:spPr>
          <a:xfrm>
            <a:off x="321868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2"/>
          <p:cNvSpPr txBox="1"/>
          <p:nvPr/>
        </p:nvSpPr>
        <p:spPr>
          <a:xfrm>
            <a:off x="321868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tribunal</a:t>
            </a:r>
            <a:endParaRPr b="0" i="0" sz="920" u="none" cap="none" strike="noStrike">
              <a:solidFill>
                <a:schemeClr val="dk1"/>
              </a:solidFill>
              <a:latin typeface="Calibri"/>
              <a:ea typeface="Calibri"/>
              <a:cs typeface="Calibri"/>
              <a:sym typeface="Calibri"/>
            </a:endParaRPr>
          </a:p>
        </p:txBody>
      </p:sp>
      <p:sp>
        <p:nvSpPr>
          <p:cNvPr id="690" name="Google Shape;690;p22"/>
          <p:cNvSpPr/>
          <p:nvPr/>
        </p:nvSpPr>
        <p:spPr>
          <a:xfrm>
            <a:off x="443026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2"/>
          <p:cNvSpPr txBox="1"/>
          <p:nvPr/>
        </p:nvSpPr>
        <p:spPr>
          <a:xfrm>
            <a:off x="443026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nursery</a:t>
            </a:r>
            <a:endParaRPr b="0" i="0" sz="920" u="none" cap="none" strike="noStrike">
              <a:solidFill>
                <a:schemeClr val="dk1"/>
              </a:solidFill>
              <a:latin typeface="Calibri"/>
              <a:ea typeface="Calibri"/>
              <a:cs typeface="Calibri"/>
              <a:sym typeface="Calibri"/>
            </a:endParaRPr>
          </a:p>
        </p:txBody>
      </p:sp>
      <p:sp>
        <p:nvSpPr>
          <p:cNvPr id="692" name="Google Shape;692;p22"/>
          <p:cNvSpPr/>
          <p:nvPr/>
        </p:nvSpPr>
        <p:spPr>
          <a:xfrm>
            <a:off x="5641848" y="5385816"/>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txBox="1"/>
          <p:nvPr/>
        </p:nvSpPr>
        <p:spPr>
          <a:xfrm>
            <a:off x="5641848" y="5385816"/>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careadhd</a:t>
            </a:r>
            <a:endParaRPr b="0" i="0" sz="920" u="none" cap="none" strike="noStrike">
              <a:solidFill>
                <a:schemeClr val="dk1"/>
              </a:solidFill>
              <a:latin typeface="Calibri"/>
              <a:ea typeface="Calibri"/>
              <a:cs typeface="Calibri"/>
              <a:sym typeface="Calibri"/>
            </a:endParaRPr>
          </a:p>
        </p:txBody>
      </p:sp>
      <p:sp>
        <p:nvSpPr>
          <p:cNvPr id="694" name="Google Shape;694;p22"/>
          <p:cNvSpPr/>
          <p:nvPr/>
        </p:nvSpPr>
        <p:spPr>
          <a:xfrm>
            <a:off x="795528" y="576072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2"/>
          <p:cNvSpPr txBox="1"/>
          <p:nvPr/>
        </p:nvSpPr>
        <p:spPr>
          <a:xfrm>
            <a:off x="795528" y="576072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adhd360</a:t>
            </a:r>
            <a:endParaRPr b="0" i="0" sz="920" u="none" cap="none" strike="noStrike">
              <a:solidFill>
                <a:schemeClr val="dk1"/>
              </a:solidFill>
              <a:latin typeface="Calibri"/>
              <a:ea typeface="Calibri"/>
              <a:cs typeface="Calibri"/>
              <a:sym typeface="Calibri"/>
            </a:endParaRPr>
          </a:p>
        </p:txBody>
      </p:sp>
      <p:sp>
        <p:nvSpPr>
          <p:cNvPr id="696" name="Google Shape;696;p22"/>
          <p:cNvSpPr/>
          <p:nvPr/>
        </p:nvSpPr>
        <p:spPr>
          <a:xfrm>
            <a:off x="2007108" y="5760720"/>
            <a:ext cx="1115568" cy="292608"/>
          </a:xfrm>
          <a:prstGeom prst="roundRect">
            <a:avLst>
              <a:gd fmla="val 3125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2"/>
          <p:cNvSpPr txBox="1"/>
          <p:nvPr/>
        </p:nvSpPr>
        <p:spPr>
          <a:xfrm>
            <a:off x="2007108" y="5760720"/>
            <a:ext cx="111556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myself</a:t>
            </a:r>
            <a:endParaRPr b="0" i="0" sz="920" u="none" cap="none" strike="noStrike">
              <a:solidFill>
                <a:schemeClr val="dk1"/>
              </a:solidFill>
              <a:latin typeface="Calibri"/>
              <a:ea typeface="Calibri"/>
              <a:cs typeface="Calibri"/>
              <a:sym typeface="Calibri"/>
            </a:endParaRPr>
          </a:p>
        </p:txBody>
      </p:sp>
      <p:sp>
        <p:nvSpPr>
          <p:cNvPr id="698" name="Google Shape;698;p22"/>
          <p:cNvSpPr/>
          <p:nvPr/>
        </p:nvSpPr>
        <p:spPr>
          <a:xfrm>
            <a:off x="7269480" y="2615184"/>
            <a:ext cx="4416552" cy="3611880"/>
          </a:xfrm>
          <a:prstGeom prst="roundRect">
            <a:avLst>
              <a:gd fmla="val 2532"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2"/>
          <p:cNvSpPr/>
          <p:nvPr/>
        </p:nvSpPr>
        <p:spPr>
          <a:xfrm>
            <a:off x="7525512" y="2852928"/>
            <a:ext cx="512064" cy="512064"/>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an_dark.png" id="700" name="Google Shape;700;p22"/>
          <p:cNvPicPr preferRelativeResize="0"/>
          <p:nvPr/>
        </p:nvPicPr>
        <p:blipFill rotWithShape="1">
          <a:blip r:embed="rId4">
            <a:alphaModFix/>
          </a:blip>
          <a:srcRect b="0" l="0" r="0" t="0"/>
          <a:stretch/>
        </p:blipFill>
        <p:spPr>
          <a:xfrm>
            <a:off x="7653528" y="2980944"/>
            <a:ext cx="256032" cy="256032"/>
          </a:xfrm>
          <a:prstGeom prst="rect">
            <a:avLst/>
          </a:prstGeom>
          <a:noFill/>
          <a:ln>
            <a:noFill/>
          </a:ln>
        </p:spPr>
      </p:pic>
      <p:sp>
        <p:nvSpPr>
          <p:cNvPr id="701" name="Google Shape;701;p22"/>
          <p:cNvSpPr txBox="1"/>
          <p:nvPr/>
        </p:nvSpPr>
        <p:spPr>
          <a:xfrm>
            <a:off x="8138160" y="2852928"/>
            <a:ext cx="34747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Phrase Match Negatives</a:t>
            </a:r>
            <a:endParaRPr b="0" i="0" sz="1600" u="none" cap="none" strike="noStrike">
              <a:solidFill>
                <a:schemeClr val="dk1"/>
              </a:solidFill>
              <a:latin typeface="Calibri"/>
              <a:ea typeface="Calibri"/>
              <a:cs typeface="Calibri"/>
              <a:sym typeface="Calibri"/>
            </a:endParaRPr>
          </a:p>
        </p:txBody>
      </p:sp>
      <p:sp>
        <p:nvSpPr>
          <p:cNvPr id="702" name="Google Shape;702;p22"/>
          <p:cNvSpPr txBox="1"/>
          <p:nvPr/>
        </p:nvSpPr>
        <p:spPr>
          <a:xfrm>
            <a:off x="7589520" y="3511296"/>
            <a:ext cx="3931920" cy="2651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"right to choose"</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"self test"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"online test"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"how to help"</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"how to deal with"</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"parenting tips"</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"home remedies"</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"without medication"</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"adhd medication"</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"speech therapy"</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"educational psychologist"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"behaviour support"</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"2 year old"</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"3 year old"</a:t>
            </a:r>
            <a:endParaRPr b="0" i="0" sz="95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FFFFFF"/>
              </a:buClr>
              <a:buSzPts val="950"/>
              <a:buFont typeface="Calibri"/>
              <a:buChar char="•"/>
            </a:pPr>
            <a:r>
              <a:rPr b="0" i="0" lang="en-US" sz="950" u="none" cap="none" strike="noStrike">
                <a:solidFill>
                  <a:srgbClr val="FFFFFF"/>
                </a:solidFill>
                <a:latin typeface="Calibri"/>
                <a:ea typeface="Calibri"/>
                <a:cs typeface="Calibri"/>
                <a:sym typeface="Calibri"/>
              </a:rPr>
              <a:t>"mental health team"</a:t>
            </a:r>
            <a:endParaRPr b="0" i="0" sz="950" u="none" cap="none" strike="noStrike">
              <a:solidFill>
                <a:schemeClr val="dk1"/>
              </a:solidFill>
              <a:latin typeface="Calibri"/>
              <a:ea typeface="Calibri"/>
              <a:cs typeface="Calibri"/>
              <a:sym typeface="Calibri"/>
            </a:endParaRPr>
          </a:p>
        </p:txBody>
      </p:sp>
      <p:sp>
        <p:nvSpPr>
          <p:cNvPr id="703" name="Google Shape;703;p22"/>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23"/>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PMax</a:t>
            </a:r>
            <a:endParaRPr b="0" i="0" sz="1500" u="none" cap="none" strike="noStrike">
              <a:solidFill>
                <a:schemeClr val="dk1"/>
              </a:solidFill>
              <a:latin typeface="Calibri"/>
              <a:ea typeface="Calibri"/>
              <a:cs typeface="Calibri"/>
              <a:sym typeface="Calibri"/>
            </a:endParaRPr>
          </a:p>
        </p:txBody>
      </p:sp>
      <p:sp>
        <p:nvSpPr>
          <p:cNvPr id="710" name="Google Shape;710;p23"/>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PHASE 2 · PERFORMANCE MAX</a:t>
            </a:r>
            <a:endParaRPr b="0" i="0" sz="1250" u="none" cap="none" strike="noStrike">
              <a:solidFill>
                <a:schemeClr val="dk1"/>
              </a:solidFill>
              <a:latin typeface="Calibri"/>
              <a:ea typeface="Calibri"/>
              <a:cs typeface="Calibri"/>
              <a:sym typeface="Calibri"/>
            </a:endParaRPr>
          </a:p>
        </p:txBody>
      </p:sp>
      <p:sp>
        <p:nvSpPr>
          <p:cNvPr id="711" name="Google Shape;711;p23"/>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Performance Max — Asset Groups</a:t>
            </a:r>
            <a:endParaRPr b="0" i="0" sz="3300" u="none" cap="none" strike="noStrike">
              <a:solidFill>
                <a:schemeClr val="dk1"/>
              </a:solidFill>
              <a:latin typeface="Calibri"/>
              <a:ea typeface="Calibri"/>
              <a:cs typeface="Calibri"/>
              <a:sym typeface="Calibri"/>
            </a:endParaRPr>
          </a:p>
        </p:txBody>
      </p:sp>
      <p:sp>
        <p:nvSpPr>
          <p:cNvPr id="712" name="Google Shape;712;p23"/>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Once Search is delivering, we layer in Performance Max to reach qualified prospects across YouTube, Discover, Gmail, Maps and Display. Each campaign gets its own PMax campaign with two asset groups — one per persona — within Google's health-advertising rules.</a:t>
            </a:r>
            <a:endParaRPr b="0" i="0" sz="1350" u="none" cap="none" strike="noStrike">
              <a:solidFill>
                <a:schemeClr val="dk1"/>
              </a:solidFill>
              <a:latin typeface="Calibri"/>
              <a:ea typeface="Calibri"/>
              <a:cs typeface="Calibri"/>
              <a:sym typeface="Calibri"/>
            </a:endParaRPr>
          </a:p>
        </p:txBody>
      </p:sp>
      <p:sp>
        <p:nvSpPr>
          <p:cNvPr id="713" name="Google Shape;713;p23"/>
          <p:cNvSpPr/>
          <p:nvPr/>
        </p:nvSpPr>
        <p:spPr>
          <a:xfrm>
            <a:off x="502920" y="2606040"/>
            <a:ext cx="5440680" cy="2148840"/>
          </a:xfrm>
          <a:prstGeom prst="roundRect">
            <a:avLst>
              <a:gd fmla="val 425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3"/>
          <p:cNvSpPr/>
          <p:nvPr/>
        </p:nvSpPr>
        <p:spPr>
          <a:xfrm>
            <a:off x="777240" y="2834640"/>
            <a:ext cx="457200" cy="457200"/>
          </a:xfrm>
          <a:prstGeom prst="ellipse">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5" name="Google Shape;715;p23"/>
          <p:cNvPicPr preferRelativeResize="0"/>
          <p:nvPr/>
        </p:nvPicPr>
        <p:blipFill rotWithShape="1">
          <a:blip r:embed="rId3">
            <a:alphaModFix/>
          </a:blip>
          <a:srcRect b="0" l="0" r="0" t="0"/>
          <a:stretch/>
        </p:blipFill>
        <p:spPr>
          <a:xfrm>
            <a:off x="886968" y="2944368"/>
            <a:ext cx="237744" cy="237744"/>
          </a:xfrm>
          <a:prstGeom prst="rect">
            <a:avLst/>
          </a:prstGeom>
          <a:noFill/>
          <a:ln>
            <a:noFill/>
          </a:ln>
        </p:spPr>
      </p:pic>
      <p:sp>
        <p:nvSpPr>
          <p:cNvPr id="716" name="Google Shape;716;p23"/>
          <p:cNvSpPr txBox="1"/>
          <p:nvPr/>
        </p:nvSpPr>
        <p:spPr>
          <a:xfrm>
            <a:off x="1371600" y="2834640"/>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600"/>
              <a:buFont typeface="Poppins"/>
              <a:buNone/>
            </a:pPr>
            <a:r>
              <a:rPr b="1" i="0" lang="en-US" sz="1600" u="none" cap="none" strike="noStrike">
                <a:solidFill>
                  <a:srgbClr val="2B2E2C"/>
                </a:solidFill>
                <a:latin typeface="Poppins"/>
                <a:ea typeface="Poppins"/>
                <a:cs typeface="Poppins"/>
                <a:sym typeface="Poppins"/>
              </a:rPr>
              <a:t>Adult ADHD</a:t>
            </a:r>
            <a:endParaRPr b="0" i="0" sz="1600" u="none" cap="none" strike="noStrike">
              <a:solidFill>
                <a:schemeClr val="dk1"/>
              </a:solidFill>
              <a:latin typeface="Calibri"/>
              <a:ea typeface="Calibri"/>
              <a:cs typeface="Calibri"/>
              <a:sym typeface="Calibri"/>
            </a:endParaRPr>
          </a:p>
        </p:txBody>
      </p:sp>
      <p:sp>
        <p:nvSpPr>
          <p:cNvPr id="717" name="Google Shape;717;p23"/>
          <p:cNvSpPr txBox="1"/>
          <p:nvPr/>
        </p:nvSpPr>
        <p:spPr>
          <a:xfrm>
            <a:off x="4434840" y="2834640"/>
            <a:ext cx="12801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2 asset groups</a:t>
            </a:r>
            <a:endParaRPr b="0" i="0" sz="1050" u="none" cap="none" strike="noStrike">
              <a:solidFill>
                <a:schemeClr val="dk1"/>
              </a:solidFill>
              <a:latin typeface="Calibri"/>
              <a:ea typeface="Calibri"/>
              <a:cs typeface="Calibri"/>
              <a:sym typeface="Calibri"/>
            </a:endParaRPr>
          </a:p>
        </p:txBody>
      </p:sp>
      <p:sp>
        <p:nvSpPr>
          <p:cNvPr id="718" name="Google Shape;718;p23"/>
          <p:cNvSpPr/>
          <p:nvPr/>
        </p:nvSpPr>
        <p:spPr>
          <a:xfrm>
            <a:off x="813816" y="3483864"/>
            <a:ext cx="402336" cy="402336"/>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_white.png" id="719" name="Google Shape;719;p23"/>
          <p:cNvPicPr preferRelativeResize="0"/>
          <p:nvPr/>
        </p:nvPicPr>
        <p:blipFill rotWithShape="1">
          <a:blip r:embed="rId4">
            <a:alphaModFix/>
          </a:blip>
          <a:srcRect b="0" l="0" r="0" t="0"/>
          <a:stretch/>
        </p:blipFill>
        <p:spPr>
          <a:xfrm>
            <a:off x="914400" y="3584448"/>
            <a:ext cx="201168" cy="201168"/>
          </a:xfrm>
          <a:prstGeom prst="rect">
            <a:avLst/>
          </a:prstGeom>
          <a:noFill/>
          <a:ln>
            <a:noFill/>
          </a:ln>
        </p:spPr>
      </p:pic>
      <p:sp>
        <p:nvSpPr>
          <p:cNvPr id="720" name="Google Shape;720;p23"/>
          <p:cNvSpPr txBox="1"/>
          <p:nvPr/>
        </p:nvSpPr>
        <p:spPr>
          <a:xfrm>
            <a:off x="1371600" y="3429000"/>
            <a:ext cx="42976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850"/>
              <a:buFont typeface="Poppins"/>
              <a:buNone/>
            </a:pPr>
            <a:r>
              <a:rPr b="1" i="0" lang="en-US" sz="850" u="none" cap="none" strike="noStrike">
                <a:solidFill>
                  <a:srgbClr val="16A879"/>
                </a:solidFill>
                <a:latin typeface="Poppins"/>
                <a:ea typeface="Poppins"/>
                <a:cs typeface="Poppins"/>
                <a:sym typeface="Poppins"/>
              </a:rPr>
              <a:t>ASSET GROUP A</a:t>
            </a:r>
            <a:endParaRPr b="0" i="0" sz="850" u="none" cap="none" strike="noStrike">
              <a:solidFill>
                <a:schemeClr val="dk1"/>
              </a:solidFill>
              <a:latin typeface="Calibri"/>
              <a:ea typeface="Calibri"/>
              <a:cs typeface="Calibri"/>
              <a:sym typeface="Calibri"/>
            </a:endParaRPr>
          </a:p>
        </p:txBody>
      </p:sp>
      <p:sp>
        <p:nvSpPr>
          <p:cNvPr id="721" name="Google Shape;721;p23"/>
          <p:cNvSpPr txBox="1"/>
          <p:nvPr/>
        </p:nvSpPr>
        <p:spPr>
          <a:xfrm>
            <a:off x="1371600" y="3593592"/>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250"/>
              <a:buFont typeface="Poppins"/>
              <a:buNone/>
            </a:pPr>
            <a:r>
              <a:rPr b="1" i="0" lang="en-US" sz="1250" u="none" cap="none" strike="noStrike">
                <a:solidFill>
                  <a:srgbClr val="2B2E2C"/>
                </a:solidFill>
                <a:latin typeface="Poppins"/>
                <a:ea typeface="Poppins"/>
                <a:cs typeface="Poppins"/>
                <a:sym typeface="Poppins"/>
              </a:rPr>
              <a:t>Stuck Professional</a:t>
            </a:r>
            <a:endParaRPr b="0" i="0" sz="1250" u="none" cap="none" strike="noStrike">
              <a:solidFill>
                <a:schemeClr val="dk1"/>
              </a:solidFill>
              <a:latin typeface="Calibri"/>
              <a:ea typeface="Calibri"/>
              <a:cs typeface="Calibri"/>
              <a:sym typeface="Calibri"/>
            </a:endParaRPr>
          </a:p>
        </p:txBody>
      </p:sp>
      <p:sp>
        <p:nvSpPr>
          <p:cNvPr id="722" name="Google Shape;722;p23"/>
          <p:cNvSpPr txBox="1"/>
          <p:nvPr/>
        </p:nvSpPr>
        <p:spPr>
          <a:xfrm>
            <a:off x="1371600" y="3813048"/>
            <a:ext cx="429768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Self-referred · consultant-led · online or Manchester</a:t>
            </a:r>
            <a:endParaRPr b="0" i="0" sz="950" u="none" cap="none" strike="noStrike">
              <a:solidFill>
                <a:schemeClr val="dk1"/>
              </a:solidFill>
              <a:latin typeface="Calibri"/>
              <a:ea typeface="Calibri"/>
              <a:cs typeface="Calibri"/>
              <a:sym typeface="Calibri"/>
            </a:endParaRPr>
          </a:p>
        </p:txBody>
      </p:sp>
      <p:sp>
        <p:nvSpPr>
          <p:cNvPr id="723" name="Google Shape;723;p23"/>
          <p:cNvSpPr/>
          <p:nvPr/>
        </p:nvSpPr>
        <p:spPr>
          <a:xfrm>
            <a:off x="813816" y="4105656"/>
            <a:ext cx="402336" cy="402336"/>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award_white.png" id="724" name="Google Shape;724;p23"/>
          <p:cNvPicPr preferRelativeResize="0"/>
          <p:nvPr/>
        </p:nvPicPr>
        <p:blipFill rotWithShape="1">
          <a:blip r:embed="rId5">
            <a:alphaModFix/>
          </a:blip>
          <a:srcRect b="0" l="0" r="0" t="0"/>
          <a:stretch/>
        </p:blipFill>
        <p:spPr>
          <a:xfrm>
            <a:off x="914400" y="4206240"/>
            <a:ext cx="201168" cy="201168"/>
          </a:xfrm>
          <a:prstGeom prst="rect">
            <a:avLst/>
          </a:prstGeom>
          <a:noFill/>
          <a:ln>
            <a:noFill/>
          </a:ln>
        </p:spPr>
      </p:pic>
      <p:sp>
        <p:nvSpPr>
          <p:cNvPr id="725" name="Google Shape;725;p23"/>
          <p:cNvSpPr txBox="1"/>
          <p:nvPr/>
        </p:nvSpPr>
        <p:spPr>
          <a:xfrm>
            <a:off x="1371600" y="4050792"/>
            <a:ext cx="42976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850"/>
              <a:buFont typeface="Poppins"/>
              <a:buNone/>
            </a:pPr>
            <a:r>
              <a:rPr b="1" i="0" lang="en-US" sz="850" u="none" cap="none" strike="noStrike">
                <a:solidFill>
                  <a:srgbClr val="16A879"/>
                </a:solidFill>
                <a:latin typeface="Poppins"/>
                <a:ea typeface="Poppins"/>
                <a:cs typeface="Poppins"/>
                <a:sym typeface="Poppins"/>
              </a:rPr>
              <a:t>ASSET GROUP B</a:t>
            </a:r>
            <a:endParaRPr b="0" i="0" sz="850" u="none" cap="none" strike="noStrike">
              <a:solidFill>
                <a:schemeClr val="dk1"/>
              </a:solidFill>
              <a:latin typeface="Calibri"/>
              <a:ea typeface="Calibri"/>
              <a:cs typeface="Calibri"/>
              <a:sym typeface="Calibri"/>
            </a:endParaRPr>
          </a:p>
        </p:txBody>
      </p:sp>
      <p:sp>
        <p:nvSpPr>
          <p:cNvPr id="726" name="Google Shape;726;p23"/>
          <p:cNvSpPr txBox="1"/>
          <p:nvPr/>
        </p:nvSpPr>
        <p:spPr>
          <a:xfrm>
            <a:off x="1371600" y="4215384"/>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250"/>
              <a:buFont typeface="Poppins"/>
              <a:buNone/>
            </a:pPr>
            <a:r>
              <a:rPr b="1" i="0" lang="en-US" sz="1250" u="none" cap="none" strike="noStrike">
                <a:solidFill>
                  <a:srgbClr val="2B2E2C"/>
                </a:solidFill>
                <a:latin typeface="Poppins"/>
                <a:ea typeface="Poppins"/>
                <a:cs typeface="Poppins"/>
                <a:sym typeface="Poppins"/>
              </a:rPr>
              <a:t>Woman Joining the Dots</a:t>
            </a:r>
            <a:endParaRPr b="0" i="0" sz="1250" u="none" cap="none" strike="noStrike">
              <a:solidFill>
                <a:schemeClr val="dk1"/>
              </a:solidFill>
              <a:latin typeface="Calibri"/>
              <a:ea typeface="Calibri"/>
              <a:cs typeface="Calibri"/>
              <a:sym typeface="Calibri"/>
            </a:endParaRPr>
          </a:p>
        </p:txBody>
      </p:sp>
      <p:sp>
        <p:nvSpPr>
          <p:cNvPr id="727" name="Google Shape;727;p23"/>
          <p:cNvSpPr txBox="1"/>
          <p:nvPr/>
        </p:nvSpPr>
        <p:spPr>
          <a:xfrm>
            <a:off x="1371600" y="4434840"/>
            <a:ext cx="429768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Women · late diagnosis · perimenopause pathway</a:t>
            </a:r>
            <a:endParaRPr b="0" i="0" sz="950" u="none" cap="none" strike="noStrike">
              <a:solidFill>
                <a:schemeClr val="dk1"/>
              </a:solidFill>
              <a:latin typeface="Calibri"/>
              <a:ea typeface="Calibri"/>
              <a:cs typeface="Calibri"/>
              <a:sym typeface="Calibri"/>
            </a:endParaRPr>
          </a:p>
        </p:txBody>
      </p:sp>
      <p:sp>
        <p:nvSpPr>
          <p:cNvPr id="728" name="Google Shape;728;p23"/>
          <p:cNvSpPr/>
          <p:nvPr/>
        </p:nvSpPr>
        <p:spPr>
          <a:xfrm>
            <a:off x="6245352" y="2606040"/>
            <a:ext cx="5440680" cy="2148840"/>
          </a:xfrm>
          <a:prstGeom prst="roundRect">
            <a:avLst>
              <a:gd fmla="val 425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3"/>
          <p:cNvSpPr/>
          <p:nvPr/>
        </p:nvSpPr>
        <p:spPr>
          <a:xfrm>
            <a:off x="6519672" y="2834640"/>
            <a:ext cx="457200" cy="457200"/>
          </a:xfrm>
          <a:prstGeom prst="ellipse">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0" name="Google Shape;730;p23"/>
          <p:cNvPicPr preferRelativeResize="0"/>
          <p:nvPr/>
        </p:nvPicPr>
        <p:blipFill rotWithShape="1">
          <a:blip r:embed="rId6">
            <a:alphaModFix/>
          </a:blip>
          <a:srcRect b="0" l="0" r="0" t="0"/>
          <a:stretch/>
        </p:blipFill>
        <p:spPr>
          <a:xfrm>
            <a:off x="6629400" y="2944368"/>
            <a:ext cx="237744" cy="237744"/>
          </a:xfrm>
          <a:prstGeom prst="rect">
            <a:avLst/>
          </a:prstGeom>
          <a:noFill/>
          <a:ln>
            <a:noFill/>
          </a:ln>
        </p:spPr>
      </p:pic>
      <p:sp>
        <p:nvSpPr>
          <p:cNvPr id="731" name="Google Shape;731;p23"/>
          <p:cNvSpPr txBox="1"/>
          <p:nvPr/>
        </p:nvSpPr>
        <p:spPr>
          <a:xfrm>
            <a:off x="7114032" y="2834640"/>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600"/>
              <a:buFont typeface="Poppins"/>
              <a:buNone/>
            </a:pPr>
            <a:r>
              <a:rPr b="1" i="0" lang="en-US" sz="1600" u="none" cap="none" strike="noStrike">
                <a:solidFill>
                  <a:srgbClr val="2B2E2C"/>
                </a:solidFill>
                <a:latin typeface="Poppins"/>
                <a:ea typeface="Poppins"/>
                <a:cs typeface="Poppins"/>
                <a:sym typeface="Poppins"/>
              </a:rPr>
              <a:t>Child &amp; Teen ADHD</a:t>
            </a:r>
            <a:endParaRPr b="0" i="0" sz="1600" u="none" cap="none" strike="noStrike">
              <a:solidFill>
                <a:schemeClr val="dk1"/>
              </a:solidFill>
              <a:latin typeface="Calibri"/>
              <a:ea typeface="Calibri"/>
              <a:cs typeface="Calibri"/>
              <a:sym typeface="Calibri"/>
            </a:endParaRPr>
          </a:p>
        </p:txBody>
      </p:sp>
      <p:sp>
        <p:nvSpPr>
          <p:cNvPr id="732" name="Google Shape;732;p23"/>
          <p:cNvSpPr txBox="1"/>
          <p:nvPr/>
        </p:nvSpPr>
        <p:spPr>
          <a:xfrm>
            <a:off x="10177272" y="2834640"/>
            <a:ext cx="12801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2 asset groups</a:t>
            </a:r>
            <a:endParaRPr b="0" i="0" sz="1050" u="none" cap="none" strike="noStrike">
              <a:solidFill>
                <a:schemeClr val="dk1"/>
              </a:solidFill>
              <a:latin typeface="Calibri"/>
              <a:ea typeface="Calibri"/>
              <a:cs typeface="Calibri"/>
              <a:sym typeface="Calibri"/>
            </a:endParaRPr>
          </a:p>
        </p:txBody>
      </p:sp>
      <p:sp>
        <p:nvSpPr>
          <p:cNvPr id="733" name="Google Shape;733;p23"/>
          <p:cNvSpPr/>
          <p:nvPr/>
        </p:nvSpPr>
        <p:spPr>
          <a:xfrm>
            <a:off x="6556248" y="3483864"/>
            <a:ext cx="402336" cy="402336"/>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mile_white.png" id="734" name="Google Shape;734;p23"/>
          <p:cNvPicPr preferRelativeResize="0"/>
          <p:nvPr/>
        </p:nvPicPr>
        <p:blipFill rotWithShape="1">
          <a:blip r:embed="rId7">
            <a:alphaModFix/>
          </a:blip>
          <a:srcRect b="0" l="0" r="0" t="0"/>
          <a:stretch/>
        </p:blipFill>
        <p:spPr>
          <a:xfrm>
            <a:off x="6656832" y="3584448"/>
            <a:ext cx="201168" cy="201168"/>
          </a:xfrm>
          <a:prstGeom prst="rect">
            <a:avLst/>
          </a:prstGeom>
          <a:noFill/>
          <a:ln>
            <a:noFill/>
          </a:ln>
        </p:spPr>
      </p:pic>
      <p:sp>
        <p:nvSpPr>
          <p:cNvPr id="735" name="Google Shape;735;p23"/>
          <p:cNvSpPr txBox="1"/>
          <p:nvPr/>
        </p:nvSpPr>
        <p:spPr>
          <a:xfrm>
            <a:off x="7114032" y="3429000"/>
            <a:ext cx="42976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850"/>
              <a:buFont typeface="Poppins"/>
              <a:buNone/>
            </a:pPr>
            <a:r>
              <a:rPr b="1" i="0" lang="en-US" sz="850" u="none" cap="none" strike="noStrike">
                <a:solidFill>
                  <a:srgbClr val="16A879"/>
                </a:solidFill>
                <a:latin typeface="Poppins"/>
                <a:ea typeface="Poppins"/>
                <a:cs typeface="Poppins"/>
                <a:sym typeface="Poppins"/>
              </a:rPr>
              <a:t>ASSET GROUP A</a:t>
            </a:r>
            <a:endParaRPr b="0" i="0" sz="850" u="none" cap="none" strike="noStrike">
              <a:solidFill>
                <a:schemeClr val="dk1"/>
              </a:solidFill>
              <a:latin typeface="Calibri"/>
              <a:ea typeface="Calibri"/>
              <a:cs typeface="Calibri"/>
              <a:sym typeface="Calibri"/>
            </a:endParaRPr>
          </a:p>
        </p:txBody>
      </p:sp>
      <p:sp>
        <p:nvSpPr>
          <p:cNvPr id="736" name="Google Shape;736;p23"/>
          <p:cNvSpPr txBox="1"/>
          <p:nvPr/>
        </p:nvSpPr>
        <p:spPr>
          <a:xfrm>
            <a:off x="7114032" y="3593592"/>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250"/>
              <a:buFont typeface="Poppins"/>
              <a:buNone/>
            </a:pPr>
            <a:r>
              <a:rPr b="1" i="0" lang="en-US" sz="1250" u="none" cap="none" strike="noStrike">
                <a:solidFill>
                  <a:srgbClr val="2B2E2C"/>
                </a:solidFill>
                <a:latin typeface="Poppins"/>
                <a:ea typeface="Poppins"/>
                <a:cs typeface="Poppins"/>
                <a:sym typeface="Poppins"/>
              </a:rPr>
              <a:t>Worried Parent</a:t>
            </a:r>
            <a:endParaRPr b="0" i="0" sz="1250" u="none" cap="none" strike="noStrike">
              <a:solidFill>
                <a:schemeClr val="dk1"/>
              </a:solidFill>
              <a:latin typeface="Calibri"/>
              <a:ea typeface="Calibri"/>
              <a:cs typeface="Calibri"/>
              <a:sym typeface="Calibri"/>
            </a:endParaRPr>
          </a:p>
        </p:txBody>
      </p:sp>
      <p:sp>
        <p:nvSpPr>
          <p:cNvPr id="737" name="Google Shape;737;p23"/>
          <p:cNvSpPr txBox="1"/>
          <p:nvPr/>
        </p:nvSpPr>
        <p:spPr>
          <a:xfrm>
            <a:off x="7114032" y="3813048"/>
            <a:ext cx="429768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Primary-age · school concerns · CAMHS alternative</a:t>
            </a:r>
            <a:endParaRPr b="0" i="0" sz="950" u="none" cap="none" strike="noStrike">
              <a:solidFill>
                <a:schemeClr val="dk1"/>
              </a:solidFill>
              <a:latin typeface="Calibri"/>
              <a:ea typeface="Calibri"/>
              <a:cs typeface="Calibri"/>
              <a:sym typeface="Calibri"/>
            </a:endParaRPr>
          </a:p>
        </p:txBody>
      </p:sp>
      <p:sp>
        <p:nvSpPr>
          <p:cNvPr id="738" name="Google Shape;738;p23"/>
          <p:cNvSpPr/>
          <p:nvPr/>
        </p:nvSpPr>
        <p:spPr>
          <a:xfrm>
            <a:off x="6556248" y="4105656"/>
            <a:ext cx="402336" cy="402336"/>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users_white.png" id="739" name="Google Shape;739;p23"/>
          <p:cNvPicPr preferRelativeResize="0"/>
          <p:nvPr/>
        </p:nvPicPr>
        <p:blipFill rotWithShape="1">
          <a:blip r:embed="rId8">
            <a:alphaModFix/>
          </a:blip>
          <a:srcRect b="0" l="0" r="0" t="0"/>
          <a:stretch/>
        </p:blipFill>
        <p:spPr>
          <a:xfrm>
            <a:off x="6656832" y="4206240"/>
            <a:ext cx="201168" cy="201168"/>
          </a:xfrm>
          <a:prstGeom prst="rect">
            <a:avLst/>
          </a:prstGeom>
          <a:noFill/>
          <a:ln>
            <a:noFill/>
          </a:ln>
        </p:spPr>
      </p:pic>
      <p:sp>
        <p:nvSpPr>
          <p:cNvPr id="740" name="Google Shape;740;p23"/>
          <p:cNvSpPr txBox="1"/>
          <p:nvPr/>
        </p:nvSpPr>
        <p:spPr>
          <a:xfrm>
            <a:off x="7114032" y="4050792"/>
            <a:ext cx="42976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850"/>
              <a:buFont typeface="Poppins"/>
              <a:buNone/>
            </a:pPr>
            <a:r>
              <a:rPr b="1" i="0" lang="en-US" sz="850" u="none" cap="none" strike="noStrike">
                <a:solidFill>
                  <a:srgbClr val="16A879"/>
                </a:solidFill>
                <a:latin typeface="Poppins"/>
                <a:ea typeface="Poppins"/>
                <a:cs typeface="Poppins"/>
                <a:sym typeface="Poppins"/>
              </a:rPr>
              <a:t>ASSET GROUP B</a:t>
            </a:r>
            <a:endParaRPr b="0" i="0" sz="850" u="none" cap="none" strike="noStrike">
              <a:solidFill>
                <a:schemeClr val="dk1"/>
              </a:solidFill>
              <a:latin typeface="Calibri"/>
              <a:ea typeface="Calibri"/>
              <a:cs typeface="Calibri"/>
              <a:sym typeface="Calibri"/>
            </a:endParaRPr>
          </a:p>
        </p:txBody>
      </p:sp>
      <p:sp>
        <p:nvSpPr>
          <p:cNvPr id="741" name="Google Shape;741;p23"/>
          <p:cNvSpPr txBox="1"/>
          <p:nvPr/>
        </p:nvSpPr>
        <p:spPr>
          <a:xfrm>
            <a:off x="7114032" y="4215384"/>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250"/>
              <a:buFont typeface="Poppins"/>
              <a:buNone/>
            </a:pPr>
            <a:r>
              <a:rPr b="1" i="0" lang="en-US" sz="1250" u="none" cap="none" strike="noStrike">
                <a:solidFill>
                  <a:srgbClr val="2B2E2C"/>
                </a:solidFill>
                <a:latin typeface="Poppins"/>
                <a:ea typeface="Poppins"/>
                <a:cs typeface="Poppins"/>
                <a:sym typeface="Poppins"/>
              </a:rPr>
              <a:t>Exam-Year Parent</a:t>
            </a:r>
            <a:endParaRPr b="0" i="0" sz="1250" u="none" cap="none" strike="noStrike">
              <a:solidFill>
                <a:schemeClr val="dk1"/>
              </a:solidFill>
              <a:latin typeface="Calibri"/>
              <a:ea typeface="Calibri"/>
              <a:cs typeface="Calibri"/>
              <a:sym typeface="Calibri"/>
            </a:endParaRPr>
          </a:p>
        </p:txBody>
      </p:sp>
      <p:sp>
        <p:nvSpPr>
          <p:cNvPr id="742" name="Google Shape;742;p23"/>
          <p:cNvSpPr txBox="1"/>
          <p:nvPr/>
        </p:nvSpPr>
        <p:spPr>
          <a:xfrm>
            <a:off x="7114032" y="4434840"/>
            <a:ext cx="429768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Teens · exams &amp; access arrangements · transition</a:t>
            </a:r>
            <a:endParaRPr b="0" i="0" sz="950" u="none" cap="none" strike="noStrike">
              <a:solidFill>
                <a:schemeClr val="dk1"/>
              </a:solidFill>
              <a:latin typeface="Calibri"/>
              <a:ea typeface="Calibri"/>
              <a:cs typeface="Calibri"/>
              <a:sym typeface="Calibri"/>
            </a:endParaRPr>
          </a:p>
        </p:txBody>
      </p:sp>
      <p:sp>
        <p:nvSpPr>
          <p:cNvPr id="743" name="Google Shape;743;p23"/>
          <p:cNvSpPr/>
          <p:nvPr/>
        </p:nvSpPr>
        <p:spPr>
          <a:xfrm>
            <a:off x="502920" y="4937760"/>
            <a:ext cx="5440680" cy="1298448"/>
          </a:xfrm>
          <a:prstGeom prst="roundRect">
            <a:avLst>
              <a:gd fmla="val 7042"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3"/>
          <p:cNvSpPr/>
          <p:nvPr/>
        </p:nvSpPr>
        <p:spPr>
          <a:xfrm>
            <a:off x="777240" y="5138928"/>
            <a:ext cx="457200" cy="45720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layers_white.png" id="745" name="Google Shape;745;p23"/>
          <p:cNvPicPr preferRelativeResize="0"/>
          <p:nvPr/>
        </p:nvPicPr>
        <p:blipFill rotWithShape="1">
          <a:blip r:embed="rId9">
            <a:alphaModFix/>
          </a:blip>
          <a:srcRect b="0" l="0" r="0" t="0"/>
          <a:stretch/>
        </p:blipFill>
        <p:spPr>
          <a:xfrm>
            <a:off x="886968" y="5248656"/>
            <a:ext cx="237744" cy="237744"/>
          </a:xfrm>
          <a:prstGeom prst="rect">
            <a:avLst/>
          </a:prstGeom>
          <a:noFill/>
          <a:ln>
            <a:noFill/>
          </a:ln>
        </p:spPr>
      </p:pic>
      <p:sp>
        <p:nvSpPr>
          <p:cNvPr id="746" name="Google Shape;746;p23"/>
          <p:cNvSpPr txBox="1"/>
          <p:nvPr/>
        </p:nvSpPr>
        <p:spPr>
          <a:xfrm>
            <a:off x="1371600" y="5138928"/>
            <a:ext cx="4389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00"/>
              <a:buFont typeface="Poppins"/>
              <a:buNone/>
            </a:pPr>
            <a:r>
              <a:rPr b="1" i="0" lang="en-US" sz="1300" u="none" cap="none" strike="noStrike">
                <a:solidFill>
                  <a:srgbClr val="2B2E2C"/>
                </a:solidFill>
                <a:latin typeface="Poppins"/>
                <a:ea typeface="Poppins"/>
                <a:cs typeface="Poppins"/>
                <a:sym typeface="Poppins"/>
              </a:rPr>
              <a:t>Asset Checklist (per group)</a:t>
            </a:r>
            <a:endParaRPr b="0" i="0" sz="1300" u="none" cap="none" strike="noStrike">
              <a:solidFill>
                <a:schemeClr val="dk1"/>
              </a:solidFill>
              <a:latin typeface="Calibri"/>
              <a:ea typeface="Calibri"/>
              <a:cs typeface="Calibri"/>
              <a:sym typeface="Calibri"/>
            </a:endParaRPr>
          </a:p>
        </p:txBody>
      </p:sp>
      <p:sp>
        <p:nvSpPr>
          <p:cNvPr id="747" name="Google Shape;747;p23"/>
          <p:cNvSpPr txBox="1"/>
          <p:nvPr/>
        </p:nvSpPr>
        <p:spPr>
          <a:xfrm>
            <a:off x="822960" y="5623560"/>
            <a:ext cx="49377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15 headlines (≤30) · 5 long (≤90) · 5 descriptions · images 1.91:1, 1:1 &amp; 4:5 (+ logos) · 1+ YouTube video · CTA: Book Now</a:t>
            </a:r>
            <a:endParaRPr b="0" i="0" sz="950" u="none" cap="none" strike="noStrike">
              <a:solidFill>
                <a:schemeClr val="dk1"/>
              </a:solidFill>
              <a:latin typeface="Calibri"/>
              <a:ea typeface="Calibri"/>
              <a:cs typeface="Calibri"/>
              <a:sym typeface="Calibri"/>
            </a:endParaRPr>
          </a:p>
        </p:txBody>
      </p:sp>
      <p:sp>
        <p:nvSpPr>
          <p:cNvPr id="748" name="Google Shape;748;p23"/>
          <p:cNvSpPr/>
          <p:nvPr/>
        </p:nvSpPr>
        <p:spPr>
          <a:xfrm>
            <a:off x="6245352" y="4937760"/>
            <a:ext cx="5440680" cy="1298448"/>
          </a:xfrm>
          <a:prstGeom prst="roundRect">
            <a:avLst>
              <a:gd fmla="val 7042"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3"/>
          <p:cNvSpPr/>
          <p:nvPr/>
        </p:nvSpPr>
        <p:spPr>
          <a:xfrm>
            <a:off x="6519672" y="5138928"/>
            <a:ext cx="457200" cy="457200"/>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hield_dark.png" id="750" name="Google Shape;750;p23"/>
          <p:cNvPicPr preferRelativeResize="0"/>
          <p:nvPr/>
        </p:nvPicPr>
        <p:blipFill rotWithShape="1">
          <a:blip r:embed="rId10">
            <a:alphaModFix/>
          </a:blip>
          <a:srcRect b="0" l="0" r="0" t="0"/>
          <a:stretch/>
        </p:blipFill>
        <p:spPr>
          <a:xfrm>
            <a:off x="6629400" y="5248656"/>
            <a:ext cx="237744" cy="237744"/>
          </a:xfrm>
          <a:prstGeom prst="rect">
            <a:avLst/>
          </a:prstGeom>
          <a:noFill/>
          <a:ln>
            <a:noFill/>
          </a:ln>
        </p:spPr>
      </p:pic>
      <p:sp>
        <p:nvSpPr>
          <p:cNvPr id="751" name="Google Shape;751;p23"/>
          <p:cNvSpPr txBox="1"/>
          <p:nvPr/>
        </p:nvSpPr>
        <p:spPr>
          <a:xfrm>
            <a:off x="7114032" y="5138928"/>
            <a:ext cx="4389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Poppins"/>
              <a:buNone/>
            </a:pPr>
            <a:r>
              <a:rPr b="1" i="0" lang="en-US" sz="1300" u="none" cap="none" strike="noStrike">
                <a:solidFill>
                  <a:srgbClr val="FFFFFF"/>
                </a:solidFill>
                <a:latin typeface="Poppins"/>
                <a:ea typeface="Poppins"/>
                <a:cs typeface="Poppins"/>
                <a:sym typeface="Poppins"/>
              </a:rPr>
              <a:t>Creative &amp; Policy Compliance</a:t>
            </a:r>
            <a:endParaRPr b="0" i="0" sz="1300" u="none" cap="none" strike="noStrike">
              <a:solidFill>
                <a:schemeClr val="dk1"/>
              </a:solidFill>
              <a:latin typeface="Calibri"/>
              <a:ea typeface="Calibri"/>
              <a:cs typeface="Calibri"/>
              <a:sym typeface="Calibri"/>
            </a:endParaRPr>
          </a:p>
        </p:txBody>
      </p:sp>
      <p:sp>
        <p:nvSpPr>
          <p:cNvPr id="752" name="Google Shape;752;p23"/>
          <p:cNvSpPr txBox="1"/>
          <p:nvPr/>
        </p:nvSpPr>
        <p:spPr>
          <a:xfrm>
            <a:off x="6565392" y="5596128"/>
            <a:ext cx="493776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7EAD7"/>
              </a:buClr>
              <a:buSzPts val="900"/>
              <a:buFont typeface="Calibri"/>
              <a:buNone/>
            </a:pPr>
            <a:r>
              <a:rPr b="0" i="0" lang="en-US" sz="900" u="none" cap="none" strike="noStrike">
                <a:solidFill>
                  <a:srgbClr val="A7EAD7"/>
                </a:solidFill>
                <a:latin typeface="Calibri"/>
                <a:ea typeface="Calibri"/>
                <a:cs typeface="Calibri"/>
                <a:sym typeface="Calibri"/>
              </a:rPr>
              <a:t>No remarketing or custom segments based on a health condition (Google personalised-ads policy) — search themes + first-party enquirer lists only · no cure or outcome claims · no under-18 targeting; parents are the audience · patient imagery only with written consent</a:t>
            </a:r>
            <a:endParaRPr b="0" i="0" sz="900" u="none" cap="none" strike="noStrike">
              <a:solidFill>
                <a:schemeClr val="dk1"/>
              </a:solidFill>
              <a:latin typeface="Calibri"/>
              <a:ea typeface="Calibri"/>
              <a:cs typeface="Calibri"/>
              <a:sym typeface="Calibri"/>
            </a:endParaRPr>
          </a:p>
        </p:txBody>
      </p:sp>
      <p:sp>
        <p:nvSpPr>
          <p:cNvPr id="753" name="Google Shape;753;p23"/>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24"/>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760" name="Google Shape;760;p24"/>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A (ADULT ADHD)</a:t>
            </a:r>
            <a:endParaRPr b="0" i="0" sz="1250" u="none" cap="none" strike="noStrike">
              <a:solidFill>
                <a:schemeClr val="dk1"/>
              </a:solidFill>
              <a:latin typeface="Calibri"/>
              <a:ea typeface="Calibri"/>
              <a:cs typeface="Calibri"/>
              <a:sym typeface="Calibri"/>
            </a:endParaRPr>
          </a:p>
        </p:txBody>
      </p:sp>
      <p:sp>
        <p:nvSpPr>
          <p:cNvPr id="761" name="Google Shape;761;p24"/>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Stuck Professional</a:t>
            </a:r>
            <a:endParaRPr b="0" i="0" sz="3300" u="none" cap="none" strike="noStrike">
              <a:solidFill>
                <a:schemeClr val="dk1"/>
              </a:solidFill>
              <a:latin typeface="Calibri"/>
              <a:ea typeface="Calibri"/>
              <a:cs typeface="Calibri"/>
              <a:sym typeface="Calibri"/>
            </a:endParaRPr>
          </a:p>
        </p:txBody>
      </p:sp>
      <p:sp>
        <p:nvSpPr>
          <p:cNvPr id="762" name="Google Shape;762;p24"/>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txBox="1"/>
          <p:nvPr/>
        </p:nvSpPr>
        <p:spPr>
          <a:xfrm>
            <a:off x="685800" y="2103120"/>
            <a:ext cx="5029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764" name="Google Shape;764;p24"/>
          <p:cNvSpPr txBox="1"/>
          <p:nvPr/>
        </p:nvSpPr>
        <p:spPr>
          <a:xfrm>
            <a:off x="594360" y="2606040"/>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765" name="Google Shape;765;p24"/>
          <p:cNvSpPr txBox="1"/>
          <p:nvPr/>
        </p:nvSpPr>
        <p:spPr>
          <a:xfrm>
            <a:off x="59436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Private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Diagnosed Within Weeks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Consultant Psychiatrist-Led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Manchester or Online</a:t>
            </a:r>
            <a:endParaRPr b="0" i="0" sz="1000" u="none" cap="none" strike="noStrike">
              <a:solidFill>
                <a:schemeClr val="dk1"/>
              </a:solidFill>
              <a:latin typeface="Calibri"/>
              <a:ea typeface="Calibri"/>
              <a:cs typeface="Calibri"/>
              <a:sym typeface="Calibri"/>
            </a:endParaRPr>
          </a:p>
        </p:txBody>
      </p:sp>
      <p:sp>
        <p:nvSpPr>
          <p:cNvPr id="766" name="Google Shape;766;p24"/>
          <p:cNvSpPr txBox="1"/>
          <p:nvPr/>
        </p:nvSpPr>
        <p:spPr>
          <a:xfrm>
            <a:off x="324612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No GP Referral Needed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NICE-Compliant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767" name="Google Shape;767;p24"/>
          <p:cNvSpPr txBox="1"/>
          <p:nvPr/>
        </p:nvSpPr>
        <p:spPr>
          <a:xfrm>
            <a:off x="594360" y="3767328"/>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768" name="Google Shape;768;p24"/>
          <p:cNvSpPr txBox="1"/>
          <p:nvPr/>
        </p:nvSpPr>
        <p:spPr>
          <a:xfrm>
            <a:off x="594360" y="4005072"/>
            <a:ext cx="521208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Get a private ADHD diagnosis from a consultant psychiatrist within weeks, not years.</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NICE-compliant assessment with a written report your GP and employer will accept.</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Online or at our Manchester clinic. Clear pricing from £850 and a free 15-minute call.</a:t>
            </a:r>
            <a:endParaRPr b="0" i="0" sz="1000" u="none" cap="none" strike="noStrike">
              <a:solidFill>
                <a:schemeClr val="dk1"/>
              </a:solidFill>
              <a:latin typeface="Calibri"/>
              <a:ea typeface="Calibri"/>
              <a:cs typeface="Calibri"/>
              <a:sym typeface="Calibri"/>
            </a:endParaRPr>
          </a:p>
        </p:txBody>
      </p:sp>
      <p:sp>
        <p:nvSpPr>
          <p:cNvPr id="769" name="Google Shape;769;p24"/>
          <p:cNvSpPr txBox="1"/>
          <p:nvPr/>
        </p:nvSpPr>
        <p:spPr>
          <a:xfrm>
            <a:off x="594360" y="4901184"/>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770" name="Google Shape;770;p24"/>
          <p:cNvSpPr txBox="1"/>
          <p:nvPr/>
        </p:nvSpPr>
        <p:spPr>
          <a:xfrm>
            <a:off x="594360" y="5138928"/>
            <a:ext cx="5212080" cy="7315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Stop waiting. Book your ADHD assessment today.</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Consultant-led ADHD assessment, Manchester or online. Free consultation.</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No referral needed. Written report for your GP. From £850.</a:t>
            </a:r>
            <a:endParaRPr b="0" i="0" sz="1000" u="none" cap="none" strike="noStrike">
              <a:solidFill>
                <a:schemeClr val="dk1"/>
              </a:solidFill>
              <a:latin typeface="Calibri"/>
              <a:ea typeface="Calibri"/>
              <a:cs typeface="Calibri"/>
              <a:sym typeface="Calibri"/>
            </a:endParaRPr>
          </a:p>
        </p:txBody>
      </p:sp>
      <p:sp>
        <p:nvSpPr>
          <p:cNvPr id="771" name="Google Shape;771;p24"/>
          <p:cNvSpPr/>
          <p:nvPr/>
        </p:nvSpPr>
        <p:spPr>
          <a:xfrm>
            <a:off x="502920" y="5897880"/>
            <a:ext cx="5440680" cy="365760"/>
          </a:xfrm>
          <a:prstGeom prst="roundRect">
            <a:avLst>
              <a:gd fmla="val 15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txBox="1"/>
          <p:nvPr/>
        </p:nvSpPr>
        <p:spPr>
          <a:xfrm>
            <a:off x="685800" y="58978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00"/>
              <a:buFont typeface="Poppins"/>
              <a:buNone/>
            </a:pPr>
            <a:r>
              <a:rPr b="1" i="0" lang="en-US" sz="1200" u="none" cap="none" strike="noStrike">
                <a:solidFill>
                  <a:srgbClr val="16A879"/>
                </a:solidFill>
                <a:latin typeface="Poppins"/>
                <a:ea typeface="Poppins"/>
                <a:cs typeface="Poppins"/>
                <a:sym typeface="Poppins"/>
              </a:rPr>
              <a:t>Business: </a:t>
            </a:r>
            <a:r>
              <a:rPr b="0" i="0" lang="en-US" sz="1200" u="none" cap="none" strike="noStrike">
                <a:solidFill>
                  <a:srgbClr val="2B2E2C"/>
                </a:solidFill>
                <a:latin typeface="Calibri"/>
                <a:ea typeface="Calibri"/>
                <a:cs typeface="Calibri"/>
                <a:sym typeface="Calibri"/>
              </a:rPr>
              <a:t>Refocus The Brain Hub    </a:t>
            </a:r>
            <a:r>
              <a:rPr b="1" i="0" lang="en-US" sz="1200" u="none" cap="none" strike="noStrike">
                <a:solidFill>
                  <a:srgbClr val="16A879"/>
                </a:solidFill>
                <a:latin typeface="Poppins"/>
                <a:ea typeface="Poppins"/>
                <a:cs typeface="Poppins"/>
                <a:sym typeface="Poppins"/>
              </a:rPr>
              <a:t>CTA: </a:t>
            </a:r>
            <a:r>
              <a:rPr b="0" i="0" lang="en-US" sz="1200" u="none" cap="none" strike="noStrike">
                <a:solidFill>
                  <a:srgbClr val="2B2E2C"/>
                </a:solidFill>
                <a:latin typeface="Calibri"/>
                <a:ea typeface="Calibri"/>
                <a:cs typeface="Calibri"/>
                <a:sym typeface="Calibri"/>
              </a:rPr>
              <a:t>Book Now</a:t>
            </a:r>
            <a:endParaRPr b="0" i="0" sz="1200" u="none" cap="none" strike="noStrike">
              <a:solidFill>
                <a:schemeClr val="dk1"/>
              </a:solidFill>
              <a:latin typeface="Calibri"/>
              <a:ea typeface="Calibri"/>
              <a:cs typeface="Calibri"/>
              <a:sym typeface="Calibri"/>
            </a:endParaRPr>
          </a:p>
        </p:txBody>
      </p:sp>
      <p:sp>
        <p:nvSpPr>
          <p:cNvPr id="773" name="Google Shape;773;p24"/>
          <p:cNvSpPr txBox="1"/>
          <p:nvPr/>
        </p:nvSpPr>
        <p:spPr>
          <a:xfrm>
            <a:off x="6245352" y="2103120"/>
            <a:ext cx="5440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CREATIVE ASSETS — licensed stock, cropped to Google sizes</a:t>
            </a:r>
            <a:endParaRPr b="0" i="0" sz="1050" u="none" cap="none" strike="noStrike">
              <a:solidFill>
                <a:schemeClr val="dk1"/>
              </a:solidFill>
              <a:latin typeface="Calibri"/>
              <a:ea typeface="Calibri"/>
              <a:cs typeface="Calibri"/>
              <a:sym typeface="Calibri"/>
            </a:endParaRPr>
          </a:p>
        </p:txBody>
      </p:sp>
      <p:pic>
        <p:nvPicPr>
          <p:cNvPr descr="/home/claude/refocus_hub_outputs/pmax_images/A_Adult_StuckProfessional/A1_landscape_man-thinking-laptop_1200x628.jpg" id="774" name="Google Shape;774;p24"/>
          <p:cNvPicPr preferRelativeResize="0"/>
          <p:nvPr/>
        </p:nvPicPr>
        <p:blipFill rotWithShape="1">
          <a:blip r:embed="rId3">
            <a:alphaModFix/>
          </a:blip>
          <a:srcRect b="0" l="0" r="0" t="0"/>
          <a:stretch/>
        </p:blipFill>
        <p:spPr>
          <a:xfrm>
            <a:off x="6245352" y="2423160"/>
            <a:ext cx="3154680" cy="1481328"/>
          </a:xfrm>
          <a:prstGeom prst="rect">
            <a:avLst/>
          </a:prstGeom>
          <a:noFill/>
          <a:ln>
            <a:noFill/>
          </a:ln>
        </p:spPr>
      </p:pic>
      <p:sp>
        <p:nvSpPr>
          <p:cNvPr id="775" name="Google Shape;775;p24"/>
          <p:cNvSpPr/>
          <p:nvPr/>
        </p:nvSpPr>
        <p:spPr>
          <a:xfrm>
            <a:off x="6336792"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4"/>
          <p:cNvSpPr txBox="1"/>
          <p:nvPr/>
        </p:nvSpPr>
        <p:spPr>
          <a:xfrm>
            <a:off x="6336792"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1.91:1</a:t>
            </a:r>
            <a:endParaRPr b="0" i="0" sz="750" u="none" cap="none" strike="noStrike">
              <a:solidFill>
                <a:schemeClr val="dk1"/>
              </a:solidFill>
              <a:latin typeface="Calibri"/>
              <a:ea typeface="Calibri"/>
              <a:cs typeface="Calibri"/>
              <a:sym typeface="Calibri"/>
            </a:endParaRPr>
          </a:p>
        </p:txBody>
      </p:sp>
      <p:pic>
        <p:nvPicPr>
          <p:cNvPr descr="/home/claude/refocus_hub_outputs/pmax_images/A_Adult_StuckProfessional/A5_square_video-consultation_1200x1200.jpg" id="777" name="Google Shape;777;p24"/>
          <p:cNvPicPr preferRelativeResize="0"/>
          <p:nvPr/>
        </p:nvPicPr>
        <p:blipFill rotWithShape="1">
          <a:blip r:embed="rId4">
            <a:alphaModFix/>
          </a:blip>
          <a:srcRect b="0" l="0" r="0" t="0"/>
          <a:stretch/>
        </p:blipFill>
        <p:spPr>
          <a:xfrm>
            <a:off x="9555480" y="2423160"/>
            <a:ext cx="1481328" cy="1481328"/>
          </a:xfrm>
          <a:prstGeom prst="rect">
            <a:avLst/>
          </a:prstGeom>
          <a:noFill/>
          <a:ln>
            <a:noFill/>
          </a:ln>
        </p:spPr>
      </p:pic>
      <p:sp>
        <p:nvSpPr>
          <p:cNvPr id="778" name="Google Shape;778;p24"/>
          <p:cNvSpPr/>
          <p:nvPr/>
        </p:nvSpPr>
        <p:spPr>
          <a:xfrm>
            <a:off x="9646920"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4"/>
          <p:cNvSpPr txBox="1"/>
          <p:nvPr/>
        </p:nvSpPr>
        <p:spPr>
          <a:xfrm>
            <a:off x="9646920"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1:1</a:t>
            </a:r>
            <a:endParaRPr b="0" i="0" sz="750" u="none" cap="none" strike="noStrike">
              <a:solidFill>
                <a:schemeClr val="dk1"/>
              </a:solidFill>
              <a:latin typeface="Calibri"/>
              <a:ea typeface="Calibri"/>
              <a:cs typeface="Calibri"/>
              <a:sym typeface="Calibri"/>
            </a:endParaRPr>
          </a:p>
        </p:txBody>
      </p:sp>
      <p:pic>
        <p:nvPicPr>
          <p:cNvPr descr="/home/claude/refocus_hub_outputs/pmax_images/A_Adult_StuckProfessional/A4_portrait_professional-coffee_960x1200.jpg" id="780" name="Google Shape;780;p24"/>
          <p:cNvPicPr preferRelativeResize="0"/>
          <p:nvPr/>
        </p:nvPicPr>
        <p:blipFill rotWithShape="1">
          <a:blip r:embed="rId5">
            <a:alphaModFix/>
          </a:blip>
          <a:srcRect b="0" l="0" r="0" t="0"/>
          <a:stretch/>
        </p:blipFill>
        <p:spPr>
          <a:xfrm>
            <a:off x="9555480" y="4069080"/>
            <a:ext cx="1481328" cy="1847088"/>
          </a:xfrm>
          <a:prstGeom prst="rect">
            <a:avLst/>
          </a:prstGeom>
          <a:noFill/>
          <a:ln>
            <a:noFill/>
          </a:ln>
        </p:spPr>
      </p:pic>
      <p:sp>
        <p:nvSpPr>
          <p:cNvPr id="781" name="Google Shape;781;p24"/>
          <p:cNvSpPr/>
          <p:nvPr/>
        </p:nvSpPr>
        <p:spPr>
          <a:xfrm>
            <a:off x="9646920" y="562356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4"/>
          <p:cNvSpPr txBox="1"/>
          <p:nvPr/>
        </p:nvSpPr>
        <p:spPr>
          <a:xfrm>
            <a:off x="9646920" y="562356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4:5</a:t>
            </a:r>
            <a:endParaRPr b="0" i="0" sz="750" u="none" cap="none" strike="noStrike">
              <a:solidFill>
                <a:schemeClr val="dk1"/>
              </a:solidFill>
              <a:latin typeface="Calibri"/>
              <a:ea typeface="Calibri"/>
              <a:cs typeface="Calibri"/>
              <a:sym typeface="Calibri"/>
            </a:endParaRPr>
          </a:p>
        </p:txBody>
      </p:sp>
      <p:sp>
        <p:nvSpPr>
          <p:cNvPr id="783" name="Google Shape;783;p24"/>
          <p:cNvSpPr/>
          <p:nvPr/>
        </p:nvSpPr>
        <p:spPr>
          <a:xfrm>
            <a:off x="6245352" y="4023360"/>
            <a:ext cx="3154680" cy="896112"/>
          </a:xfrm>
          <a:prstGeom prst="roundRect">
            <a:avLst>
              <a:gd fmla="val 8163"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4"/>
          <p:cNvSpPr/>
          <p:nvPr/>
        </p:nvSpPr>
        <p:spPr>
          <a:xfrm>
            <a:off x="6382512" y="4114800"/>
            <a:ext cx="347472" cy="347472"/>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globe_white.png" id="785" name="Google Shape;785;p24"/>
          <p:cNvPicPr preferRelativeResize="0"/>
          <p:nvPr/>
        </p:nvPicPr>
        <p:blipFill rotWithShape="1">
          <a:blip r:embed="rId6">
            <a:alphaModFix/>
          </a:blip>
          <a:srcRect b="0" l="0" r="0" t="0"/>
          <a:stretch/>
        </p:blipFill>
        <p:spPr>
          <a:xfrm>
            <a:off x="6464808" y="4197096"/>
            <a:ext cx="182880" cy="182880"/>
          </a:xfrm>
          <a:prstGeom prst="rect">
            <a:avLst/>
          </a:prstGeom>
          <a:noFill/>
          <a:ln>
            <a:noFill/>
          </a:ln>
        </p:spPr>
      </p:pic>
      <p:sp>
        <p:nvSpPr>
          <p:cNvPr id="786" name="Google Shape;786;p24"/>
          <p:cNvSpPr txBox="1"/>
          <p:nvPr/>
        </p:nvSpPr>
        <p:spPr>
          <a:xfrm>
            <a:off x="6812280" y="408736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00"/>
              <a:buFont typeface="Poppins"/>
              <a:buNone/>
            </a:pPr>
            <a:r>
              <a:rPr b="1" i="0" lang="en-US" sz="1100" u="none" cap="none" strike="noStrike">
                <a:solidFill>
                  <a:srgbClr val="2B2E2C"/>
                </a:solidFill>
                <a:latin typeface="Poppins"/>
                <a:ea typeface="Poppins"/>
                <a:cs typeface="Poppins"/>
                <a:sym typeface="Poppins"/>
              </a:rPr>
              <a:t>VIDEO 16:9 · YouTube</a:t>
            </a:r>
            <a:endParaRPr b="0" i="0" sz="1100" u="none" cap="none" strike="noStrike">
              <a:solidFill>
                <a:schemeClr val="dk1"/>
              </a:solidFill>
              <a:latin typeface="Calibri"/>
              <a:ea typeface="Calibri"/>
              <a:cs typeface="Calibri"/>
              <a:sym typeface="Calibri"/>
            </a:endParaRPr>
          </a:p>
        </p:txBody>
      </p:sp>
      <p:sp>
        <p:nvSpPr>
          <p:cNvPr id="787" name="Google Shape;787;p24"/>
          <p:cNvSpPr txBox="1"/>
          <p:nvPr/>
        </p:nvSpPr>
        <p:spPr>
          <a:xfrm>
            <a:off x="6382512" y="4443984"/>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consultant intro, “how it works in 3 steps”, online option, soft CTA ‘Book a free consultation’. Calm, clear, respectful tone.</a:t>
            </a:r>
            <a:endParaRPr b="0" i="0" sz="800" u="none" cap="none" strike="noStrike">
              <a:solidFill>
                <a:schemeClr val="dk1"/>
              </a:solidFill>
              <a:latin typeface="Calibri"/>
              <a:ea typeface="Calibri"/>
              <a:cs typeface="Calibri"/>
              <a:sym typeface="Calibri"/>
            </a:endParaRPr>
          </a:p>
        </p:txBody>
      </p:sp>
      <p:sp>
        <p:nvSpPr>
          <p:cNvPr id="788" name="Google Shape;788;p24"/>
          <p:cNvSpPr/>
          <p:nvPr/>
        </p:nvSpPr>
        <p:spPr>
          <a:xfrm>
            <a:off x="6245352" y="5029200"/>
            <a:ext cx="3154680" cy="1234440"/>
          </a:xfrm>
          <a:prstGeom prst="roundRect">
            <a:avLst>
              <a:gd fmla="val 7407"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4"/>
          <p:cNvSpPr/>
          <p:nvPr/>
        </p:nvSpPr>
        <p:spPr>
          <a:xfrm>
            <a:off x="6382512" y="5120640"/>
            <a:ext cx="347472" cy="347472"/>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dark.png" id="790" name="Google Shape;790;p24"/>
          <p:cNvPicPr preferRelativeResize="0"/>
          <p:nvPr/>
        </p:nvPicPr>
        <p:blipFill rotWithShape="1">
          <a:blip r:embed="rId7">
            <a:alphaModFix/>
          </a:blip>
          <a:srcRect b="0" l="0" r="0" t="0"/>
          <a:stretch/>
        </p:blipFill>
        <p:spPr>
          <a:xfrm>
            <a:off x="6464808" y="5202936"/>
            <a:ext cx="182880" cy="182880"/>
          </a:xfrm>
          <a:prstGeom prst="rect">
            <a:avLst/>
          </a:prstGeom>
          <a:noFill/>
          <a:ln>
            <a:noFill/>
          </a:ln>
        </p:spPr>
      </p:pic>
      <p:sp>
        <p:nvSpPr>
          <p:cNvPr id="791" name="Google Shape;791;p24"/>
          <p:cNvSpPr txBox="1"/>
          <p:nvPr/>
        </p:nvSpPr>
        <p:spPr>
          <a:xfrm>
            <a:off x="6812280" y="509320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Audience Signals</a:t>
            </a:r>
            <a:endParaRPr b="0" i="0" sz="1100" u="none" cap="none" strike="noStrike">
              <a:solidFill>
                <a:schemeClr val="dk1"/>
              </a:solidFill>
              <a:latin typeface="Calibri"/>
              <a:ea typeface="Calibri"/>
              <a:cs typeface="Calibri"/>
              <a:sym typeface="Calibri"/>
            </a:endParaRPr>
          </a:p>
        </p:txBody>
      </p:sp>
      <p:sp>
        <p:nvSpPr>
          <p:cNvPr id="792" name="Google Shape;792;p24"/>
          <p:cNvSpPr txBox="1"/>
          <p:nvPr/>
        </p:nvSpPr>
        <p:spPr>
          <a:xfrm>
            <a:off x="6382512" y="5468112"/>
            <a:ext cx="2926080" cy="7772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Search themes: private adhd assessment, adult adhd diagnosis, adhd assessment manchester</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First-party: past enquirers &amp; consultation bookers (no condition-based segments)</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Demographics: 25–45, North West England, all genders</a:t>
            </a:r>
            <a:endParaRPr b="0" i="0" sz="800" u="none" cap="none" strike="noStrike">
              <a:solidFill>
                <a:schemeClr val="dk1"/>
              </a:solidFill>
              <a:latin typeface="Calibri"/>
              <a:ea typeface="Calibri"/>
              <a:cs typeface="Calibri"/>
              <a:sym typeface="Calibri"/>
            </a:endParaRPr>
          </a:p>
        </p:txBody>
      </p:sp>
      <p:sp>
        <p:nvSpPr>
          <p:cNvPr id="793" name="Google Shape;793;p24"/>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25"/>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800" name="Google Shape;800;p25"/>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B (ADULT ADHD)</a:t>
            </a:r>
            <a:endParaRPr b="0" i="0" sz="1250" u="none" cap="none" strike="noStrike">
              <a:solidFill>
                <a:schemeClr val="dk1"/>
              </a:solidFill>
              <a:latin typeface="Calibri"/>
              <a:ea typeface="Calibri"/>
              <a:cs typeface="Calibri"/>
              <a:sym typeface="Calibri"/>
            </a:endParaRPr>
          </a:p>
        </p:txBody>
      </p:sp>
      <p:sp>
        <p:nvSpPr>
          <p:cNvPr id="801" name="Google Shape;801;p25"/>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Woman Joining the Dots</a:t>
            </a:r>
            <a:endParaRPr b="0" i="0" sz="3300" u="none" cap="none" strike="noStrike">
              <a:solidFill>
                <a:schemeClr val="dk1"/>
              </a:solidFill>
              <a:latin typeface="Calibri"/>
              <a:ea typeface="Calibri"/>
              <a:cs typeface="Calibri"/>
              <a:sym typeface="Calibri"/>
            </a:endParaRPr>
          </a:p>
        </p:txBody>
      </p:sp>
      <p:sp>
        <p:nvSpPr>
          <p:cNvPr id="802" name="Google Shape;802;p25"/>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5"/>
          <p:cNvSpPr txBox="1"/>
          <p:nvPr/>
        </p:nvSpPr>
        <p:spPr>
          <a:xfrm>
            <a:off x="685800" y="2103120"/>
            <a:ext cx="5029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804" name="Google Shape;804;p25"/>
          <p:cNvSpPr txBox="1"/>
          <p:nvPr/>
        </p:nvSpPr>
        <p:spPr>
          <a:xfrm>
            <a:off x="594360" y="2606040"/>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805" name="Google Shape;805;p25"/>
          <p:cNvSpPr txBox="1"/>
          <p:nvPr/>
        </p:nvSpPr>
        <p:spPr>
          <a:xfrm>
            <a:off x="59436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ADHD Assessment for Women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Late ADHD Diagnosis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ADHD &amp; Perimenopause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Female Consultant-Led</a:t>
            </a:r>
            <a:endParaRPr b="0" i="0" sz="1000" u="none" cap="none" strike="noStrike">
              <a:solidFill>
                <a:schemeClr val="dk1"/>
              </a:solidFill>
              <a:latin typeface="Calibri"/>
              <a:ea typeface="Calibri"/>
              <a:cs typeface="Calibri"/>
              <a:sym typeface="Calibri"/>
            </a:endParaRPr>
          </a:p>
        </p:txBody>
      </p:sp>
      <p:sp>
        <p:nvSpPr>
          <p:cNvPr id="806" name="Google Shape;806;p25"/>
          <p:cNvSpPr txBox="1"/>
          <p:nvPr/>
        </p:nvSpPr>
        <p:spPr>
          <a:xfrm>
            <a:off x="324612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Online or Manchester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Understood at Last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From £850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807" name="Google Shape;807;p25"/>
          <p:cNvSpPr txBox="1"/>
          <p:nvPr/>
        </p:nvSpPr>
        <p:spPr>
          <a:xfrm>
            <a:off x="594360" y="3767328"/>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808" name="Google Shape;808;p25"/>
          <p:cNvSpPr txBox="1"/>
          <p:nvPr/>
        </p:nvSpPr>
        <p:spPr>
          <a:xfrm>
            <a:off x="594360" y="4005072"/>
            <a:ext cx="521208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ADHD in women is often missed for decades — get assessed by a clinician who understands.</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Our ADHD and perimenopause pathway looks at symptoms and hormones together.</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Private, online and fitted around family life. Written report for your GP.</a:t>
            </a:r>
            <a:endParaRPr b="0" i="0" sz="1000" u="none" cap="none" strike="noStrike">
              <a:solidFill>
                <a:schemeClr val="dk1"/>
              </a:solidFill>
              <a:latin typeface="Calibri"/>
              <a:ea typeface="Calibri"/>
              <a:cs typeface="Calibri"/>
              <a:sym typeface="Calibri"/>
            </a:endParaRPr>
          </a:p>
        </p:txBody>
      </p:sp>
      <p:sp>
        <p:nvSpPr>
          <p:cNvPr id="809" name="Google Shape;809;p25"/>
          <p:cNvSpPr txBox="1"/>
          <p:nvPr/>
        </p:nvSpPr>
        <p:spPr>
          <a:xfrm>
            <a:off x="594360" y="4901184"/>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810" name="Google Shape;810;p25"/>
          <p:cNvSpPr txBox="1"/>
          <p:nvPr/>
        </p:nvSpPr>
        <p:spPr>
          <a:xfrm>
            <a:off x="594360" y="5138928"/>
            <a:ext cx="5212080" cy="7315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Masked for years? Get clarity. Book a free call.</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Female consultant psychiatrist. ADHD assessment for women, from £850.</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late diagnosis is still a diagnosis. Start today.</a:t>
            </a:r>
            <a:endParaRPr b="0" i="0" sz="1000" u="none" cap="none" strike="noStrike">
              <a:solidFill>
                <a:schemeClr val="dk1"/>
              </a:solidFill>
              <a:latin typeface="Calibri"/>
              <a:ea typeface="Calibri"/>
              <a:cs typeface="Calibri"/>
              <a:sym typeface="Calibri"/>
            </a:endParaRPr>
          </a:p>
        </p:txBody>
      </p:sp>
      <p:sp>
        <p:nvSpPr>
          <p:cNvPr id="811" name="Google Shape;811;p25"/>
          <p:cNvSpPr/>
          <p:nvPr/>
        </p:nvSpPr>
        <p:spPr>
          <a:xfrm>
            <a:off x="502920" y="5897880"/>
            <a:ext cx="5440680" cy="365760"/>
          </a:xfrm>
          <a:prstGeom prst="roundRect">
            <a:avLst>
              <a:gd fmla="val 15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5"/>
          <p:cNvSpPr txBox="1"/>
          <p:nvPr/>
        </p:nvSpPr>
        <p:spPr>
          <a:xfrm>
            <a:off x="685800" y="58978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00"/>
              <a:buFont typeface="Poppins"/>
              <a:buNone/>
            </a:pPr>
            <a:r>
              <a:rPr b="1" i="0" lang="en-US" sz="1200" u="none" cap="none" strike="noStrike">
                <a:solidFill>
                  <a:srgbClr val="16A879"/>
                </a:solidFill>
                <a:latin typeface="Poppins"/>
                <a:ea typeface="Poppins"/>
                <a:cs typeface="Poppins"/>
                <a:sym typeface="Poppins"/>
              </a:rPr>
              <a:t>Business: </a:t>
            </a:r>
            <a:r>
              <a:rPr b="0" i="0" lang="en-US" sz="1200" u="none" cap="none" strike="noStrike">
                <a:solidFill>
                  <a:srgbClr val="2B2E2C"/>
                </a:solidFill>
                <a:latin typeface="Calibri"/>
                <a:ea typeface="Calibri"/>
                <a:cs typeface="Calibri"/>
                <a:sym typeface="Calibri"/>
              </a:rPr>
              <a:t>Refocus The Brain Hub    </a:t>
            </a:r>
            <a:r>
              <a:rPr b="1" i="0" lang="en-US" sz="1200" u="none" cap="none" strike="noStrike">
                <a:solidFill>
                  <a:srgbClr val="16A879"/>
                </a:solidFill>
                <a:latin typeface="Poppins"/>
                <a:ea typeface="Poppins"/>
                <a:cs typeface="Poppins"/>
                <a:sym typeface="Poppins"/>
              </a:rPr>
              <a:t>CTA: </a:t>
            </a:r>
            <a:r>
              <a:rPr b="0" i="0" lang="en-US" sz="1200" u="none" cap="none" strike="noStrike">
                <a:solidFill>
                  <a:srgbClr val="2B2E2C"/>
                </a:solidFill>
                <a:latin typeface="Calibri"/>
                <a:ea typeface="Calibri"/>
                <a:cs typeface="Calibri"/>
                <a:sym typeface="Calibri"/>
              </a:rPr>
              <a:t>Book Now</a:t>
            </a:r>
            <a:endParaRPr b="0" i="0" sz="1200" u="none" cap="none" strike="noStrike">
              <a:solidFill>
                <a:schemeClr val="dk1"/>
              </a:solidFill>
              <a:latin typeface="Calibri"/>
              <a:ea typeface="Calibri"/>
              <a:cs typeface="Calibri"/>
              <a:sym typeface="Calibri"/>
            </a:endParaRPr>
          </a:p>
        </p:txBody>
      </p:sp>
      <p:sp>
        <p:nvSpPr>
          <p:cNvPr id="813" name="Google Shape;813;p25"/>
          <p:cNvSpPr txBox="1"/>
          <p:nvPr/>
        </p:nvSpPr>
        <p:spPr>
          <a:xfrm>
            <a:off x="6245352" y="2103120"/>
            <a:ext cx="5440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CREATIVE ASSETS — licensed stock, cropped to Google sizes</a:t>
            </a:r>
            <a:endParaRPr b="0" i="0" sz="1050" u="none" cap="none" strike="noStrike">
              <a:solidFill>
                <a:schemeClr val="dk1"/>
              </a:solidFill>
              <a:latin typeface="Calibri"/>
              <a:ea typeface="Calibri"/>
              <a:cs typeface="Calibri"/>
              <a:sym typeface="Calibri"/>
            </a:endParaRPr>
          </a:p>
        </p:txBody>
      </p:sp>
      <p:pic>
        <p:nvPicPr>
          <p:cNvPr descr="/home/claude/refocus_hub_outputs/pmax_images/B_Adult_WomanJoiningTheDots/B1_landscape_kitchen-mug_1200x628.jpg" id="814" name="Google Shape;814;p25"/>
          <p:cNvPicPr preferRelativeResize="0"/>
          <p:nvPr/>
        </p:nvPicPr>
        <p:blipFill rotWithShape="1">
          <a:blip r:embed="rId3">
            <a:alphaModFix/>
          </a:blip>
          <a:srcRect b="0" l="0" r="0" t="0"/>
          <a:stretch/>
        </p:blipFill>
        <p:spPr>
          <a:xfrm>
            <a:off x="6245352" y="2423160"/>
            <a:ext cx="3154680" cy="1481328"/>
          </a:xfrm>
          <a:prstGeom prst="rect">
            <a:avLst/>
          </a:prstGeom>
          <a:noFill/>
          <a:ln>
            <a:noFill/>
          </a:ln>
        </p:spPr>
      </p:pic>
      <p:sp>
        <p:nvSpPr>
          <p:cNvPr id="815" name="Google Shape;815;p25"/>
          <p:cNvSpPr/>
          <p:nvPr/>
        </p:nvSpPr>
        <p:spPr>
          <a:xfrm>
            <a:off x="6336792"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5"/>
          <p:cNvSpPr txBox="1"/>
          <p:nvPr/>
        </p:nvSpPr>
        <p:spPr>
          <a:xfrm>
            <a:off x="6336792"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1.91:1</a:t>
            </a:r>
            <a:endParaRPr b="0" i="0" sz="750" u="none" cap="none" strike="noStrike">
              <a:solidFill>
                <a:schemeClr val="dk1"/>
              </a:solidFill>
              <a:latin typeface="Calibri"/>
              <a:ea typeface="Calibri"/>
              <a:cs typeface="Calibri"/>
              <a:sym typeface="Calibri"/>
            </a:endParaRPr>
          </a:p>
        </p:txBody>
      </p:sp>
      <p:pic>
        <p:nvPicPr>
          <p:cNvPr descr="/home/claude/refocus_hub_outputs/pmax_images/B_Adult_WomanJoiningTheDots/B2_square_sofa-notebook_1200x1200.jpg" id="817" name="Google Shape;817;p25"/>
          <p:cNvPicPr preferRelativeResize="0"/>
          <p:nvPr/>
        </p:nvPicPr>
        <p:blipFill rotWithShape="1">
          <a:blip r:embed="rId4">
            <a:alphaModFix/>
          </a:blip>
          <a:srcRect b="0" l="0" r="0" t="0"/>
          <a:stretch/>
        </p:blipFill>
        <p:spPr>
          <a:xfrm>
            <a:off x="9555480" y="2423160"/>
            <a:ext cx="1481328" cy="1481328"/>
          </a:xfrm>
          <a:prstGeom prst="rect">
            <a:avLst/>
          </a:prstGeom>
          <a:noFill/>
          <a:ln>
            <a:noFill/>
          </a:ln>
        </p:spPr>
      </p:pic>
      <p:sp>
        <p:nvSpPr>
          <p:cNvPr id="818" name="Google Shape;818;p25"/>
          <p:cNvSpPr/>
          <p:nvPr/>
        </p:nvSpPr>
        <p:spPr>
          <a:xfrm>
            <a:off x="9646920"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5"/>
          <p:cNvSpPr txBox="1"/>
          <p:nvPr/>
        </p:nvSpPr>
        <p:spPr>
          <a:xfrm>
            <a:off x="9646920"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1:1</a:t>
            </a:r>
            <a:endParaRPr b="0" i="0" sz="750" u="none" cap="none" strike="noStrike">
              <a:solidFill>
                <a:schemeClr val="dk1"/>
              </a:solidFill>
              <a:latin typeface="Calibri"/>
              <a:ea typeface="Calibri"/>
              <a:cs typeface="Calibri"/>
              <a:sym typeface="Calibri"/>
            </a:endParaRPr>
          </a:p>
        </p:txBody>
      </p:sp>
      <p:pic>
        <p:nvPicPr>
          <p:cNvPr descr="/home/claude/refocus_hub_outputs/pmax_images/B_Adult_WomanJoiningTheDots/B3_portrait_outdoors-autumn_960x1200.jpg" id="820" name="Google Shape;820;p25"/>
          <p:cNvPicPr preferRelativeResize="0"/>
          <p:nvPr/>
        </p:nvPicPr>
        <p:blipFill rotWithShape="1">
          <a:blip r:embed="rId5">
            <a:alphaModFix/>
          </a:blip>
          <a:srcRect b="0" l="0" r="0" t="0"/>
          <a:stretch/>
        </p:blipFill>
        <p:spPr>
          <a:xfrm>
            <a:off x="9555480" y="4069080"/>
            <a:ext cx="1481328" cy="1847088"/>
          </a:xfrm>
          <a:prstGeom prst="rect">
            <a:avLst/>
          </a:prstGeom>
          <a:noFill/>
          <a:ln>
            <a:noFill/>
          </a:ln>
        </p:spPr>
      </p:pic>
      <p:sp>
        <p:nvSpPr>
          <p:cNvPr id="821" name="Google Shape;821;p25"/>
          <p:cNvSpPr/>
          <p:nvPr/>
        </p:nvSpPr>
        <p:spPr>
          <a:xfrm>
            <a:off x="9646920" y="562356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5"/>
          <p:cNvSpPr txBox="1"/>
          <p:nvPr/>
        </p:nvSpPr>
        <p:spPr>
          <a:xfrm>
            <a:off x="9646920" y="562356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4:5</a:t>
            </a:r>
            <a:endParaRPr b="0" i="0" sz="750" u="none" cap="none" strike="noStrike">
              <a:solidFill>
                <a:schemeClr val="dk1"/>
              </a:solidFill>
              <a:latin typeface="Calibri"/>
              <a:ea typeface="Calibri"/>
              <a:cs typeface="Calibri"/>
              <a:sym typeface="Calibri"/>
            </a:endParaRPr>
          </a:p>
        </p:txBody>
      </p:sp>
      <p:sp>
        <p:nvSpPr>
          <p:cNvPr id="823" name="Google Shape;823;p25"/>
          <p:cNvSpPr/>
          <p:nvPr/>
        </p:nvSpPr>
        <p:spPr>
          <a:xfrm>
            <a:off x="6245352" y="4023360"/>
            <a:ext cx="3154680" cy="896112"/>
          </a:xfrm>
          <a:prstGeom prst="roundRect">
            <a:avLst>
              <a:gd fmla="val 8163"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5"/>
          <p:cNvSpPr/>
          <p:nvPr/>
        </p:nvSpPr>
        <p:spPr>
          <a:xfrm>
            <a:off x="6382512" y="4114800"/>
            <a:ext cx="347472" cy="347472"/>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globe_white.png" id="825" name="Google Shape;825;p25"/>
          <p:cNvPicPr preferRelativeResize="0"/>
          <p:nvPr/>
        </p:nvPicPr>
        <p:blipFill rotWithShape="1">
          <a:blip r:embed="rId6">
            <a:alphaModFix/>
          </a:blip>
          <a:srcRect b="0" l="0" r="0" t="0"/>
          <a:stretch/>
        </p:blipFill>
        <p:spPr>
          <a:xfrm>
            <a:off x="6464808" y="4197096"/>
            <a:ext cx="182880" cy="182880"/>
          </a:xfrm>
          <a:prstGeom prst="rect">
            <a:avLst/>
          </a:prstGeom>
          <a:noFill/>
          <a:ln>
            <a:noFill/>
          </a:ln>
        </p:spPr>
      </p:pic>
      <p:sp>
        <p:nvSpPr>
          <p:cNvPr id="826" name="Google Shape;826;p25"/>
          <p:cNvSpPr txBox="1"/>
          <p:nvPr/>
        </p:nvSpPr>
        <p:spPr>
          <a:xfrm>
            <a:off x="6812280" y="408736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00"/>
              <a:buFont typeface="Poppins"/>
              <a:buNone/>
            </a:pPr>
            <a:r>
              <a:rPr b="1" i="0" lang="en-US" sz="1100" u="none" cap="none" strike="noStrike">
                <a:solidFill>
                  <a:srgbClr val="2B2E2C"/>
                </a:solidFill>
                <a:latin typeface="Poppins"/>
                <a:ea typeface="Poppins"/>
                <a:cs typeface="Poppins"/>
                <a:sym typeface="Poppins"/>
              </a:rPr>
              <a:t>VIDEO 16:9 · YouTube</a:t>
            </a:r>
            <a:endParaRPr b="0" i="0" sz="1100" u="none" cap="none" strike="noStrike">
              <a:solidFill>
                <a:schemeClr val="dk1"/>
              </a:solidFill>
              <a:latin typeface="Calibri"/>
              <a:ea typeface="Calibri"/>
              <a:cs typeface="Calibri"/>
              <a:sym typeface="Calibri"/>
            </a:endParaRPr>
          </a:p>
        </p:txBody>
      </p:sp>
      <p:sp>
        <p:nvSpPr>
          <p:cNvPr id="827" name="Google Shape;827;p25"/>
          <p:cNvSpPr txBox="1"/>
          <p:nvPr/>
        </p:nvSpPr>
        <p:spPr>
          <a:xfrm>
            <a:off x="6382512" y="4443984"/>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woman-to-camera story of late diagnosis, consultant explains the women's pathway, CTA ‘Book a free consultation’. Warm, validating tone.</a:t>
            </a:r>
            <a:endParaRPr b="0" i="0" sz="800" u="none" cap="none" strike="noStrike">
              <a:solidFill>
                <a:schemeClr val="dk1"/>
              </a:solidFill>
              <a:latin typeface="Calibri"/>
              <a:ea typeface="Calibri"/>
              <a:cs typeface="Calibri"/>
              <a:sym typeface="Calibri"/>
            </a:endParaRPr>
          </a:p>
        </p:txBody>
      </p:sp>
      <p:sp>
        <p:nvSpPr>
          <p:cNvPr id="828" name="Google Shape;828;p25"/>
          <p:cNvSpPr/>
          <p:nvPr/>
        </p:nvSpPr>
        <p:spPr>
          <a:xfrm>
            <a:off x="6245352" y="5029200"/>
            <a:ext cx="3154680" cy="1234440"/>
          </a:xfrm>
          <a:prstGeom prst="roundRect">
            <a:avLst>
              <a:gd fmla="val 7407"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5"/>
          <p:cNvSpPr/>
          <p:nvPr/>
        </p:nvSpPr>
        <p:spPr>
          <a:xfrm>
            <a:off x="6382512" y="5120640"/>
            <a:ext cx="347472" cy="347472"/>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dark.png" id="830" name="Google Shape;830;p25"/>
          <p:cNvPicPr preferRelativeResize="0"/>
          <p:nvPr/>
        </p:nvPicPr>
        <p:blipFill rotWithShape="1">
          <a:blip r:embed="rId7">
            <a:alphaModFix/>
          </a:blip>
          <a:srcRect b="0" l="0" r="0" t="0"/>
          <a:stretch/>
        </p:blipFill>
        <p:spPr>
          <a:xfrm>
            <a:off x="6464808" y="5202936"/>
            <a:ext cx="182880" cy="182880"/>
          </a:xfrm>
          <a:prstGeom prst="rect">
            <a:avLst/>
          </a:prstGeom>
          <a:noFill/>
          <a:ln>
            <a:noFill/>
          </a:ln>
        </p:spPr>
      </p:pic>
      <p:sp>
        <p:nvSpPr>
          <p:cNvPr id="831" name="Google Shape;831;p25"/>
          <p:cNvSpPr txBox="1"/>
          <p:nvPr/>
        </p:nvSpPr>
        <p:spPr>
          <a:xfrm>
            <a:off x="6812280" y="509320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Audience Signals</a:t>
            </a:r>
            <a:endParaRPr b="0" i="0" sz="1100" u="none" cap="none" strike="noStrike">
              <a:solidFill>
                <a:schemeClr val="dk1"/>
              </a:solidFill>
              <a:latin typeface="Calibri"/>
              <a:ea typeface="Calibri"/>
              <a:cs typeface="Calibri"/>
              <a:sym typeface="Calibri"/>
            </a:endParaRPr>
          </a:p>
        </p:txBody>
      </p:sp>
      <p:sp>
        <p:nvSpPr>
          <p:cNvPr id="832" name="Google Shape;832;p25"/>
          <p:cNvSpPr txBox="1"/>
          <p:nvPr/>
        </p:nvSpPr>
        <p:spPr>
          <a:xfrm>
            <a:off x="6382512" y="5468112"/>
            <a:ext cx="2926080" cy="7772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Search themes: adhd in women, adhd assessment for women, late adhd diagnosis</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First-party: enquirers &amp; women's pathway page visitors (no condition-based segments)</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Demographics: women 35–54, North West England</a:t>
            </a:r>
            <a:endParaRPr b="0" i="0" sz="800" u="none" cap="none" strike="noStrike">
              <a:solidFill>
                <a:schemeClr val="dk1"/>
              </a:solidFill>
              <a:latin typeface="Calibri"/>
              <a:ea typeface="Calibri"/>
              <a:cs typeface="Calibri"/>
              <a:sym typeface="Calibri"/>
            </a:endParaRPr>
          </a:p>
        </p:txBody>
      </p:sp>
      <p:sp>
        <p:nvSpPr>
          <p:cNvPr id="833" name="Google Shape;833;p25"/>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26"/>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840" name="Google Shape;840;p26"/>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A (CHILD &amp; TEEN)</a:t>
            </a:r>
            <a:endParaRPr b="0" i="0" sz="1250" u="none" cap="none" strike="noStrike">
              <a:solidFill>
                <a:schemeClr val="dk1"/>
              </a:solidFill>
              <a:latin typeface="Calibri"/>
              <a:ea typeface="Calibri"/>
              <a:cs typeface="Calibri"/>
              <a:sym typeface="Calibri"/>
            </a:endParaRPr>
          </a:p>
        </p:txBody>
      </p:sp>
      <p:sp>
        <p:nvSpPr>
          <p:cNvPr id="841" name="Google Shape;841;p26"/>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Worried Parent</a:t>
            </a:r>
            <a:endParaRPr b="0" i="0" sz="3300" u="none" cap="none" strike="noStrike">
              <a:solidFill>
                <a:schemeClr val="dk1"/>
              </a:solidFill>
              <a:latin typeface="Calibri"/>
              <a:ea typeface="Calibri"/>
              <a:cs typeface="Calibri"/>
              <a:sym typeface="Calibri"/>
            </a:endParaRPr>
          </a:p>
        </p:txBody>
      </p:sp>
      <p:sp>
        <p:nvSpPr>
          <p:cNvPr id="842" name="Google Shape;842;p26"/>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6"/>
          <p:cNvSpPr txBox="1"/>
          <p:nvPr/>
        </p:nvSpPr>
        <p:spPr>
          <a:xfrm>
            <a:off x="685800" y="2103120"/>
            <a:ext cx="5029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844" name="Google Shape;844;p26"/>
          <p:cNvSpPr txBox="1"/>
          <p:nvPr/>
        </p:nvSpPr>
        <p:spPr>
          <a:xfrm>
            <a:off x="594360" y="2606040"/>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845" name="Google Shape;845;p26"/>
          <p:cNvSpPr txBox="1"/>
          <p:nvPr/>
        </p:nvSpPr>
        <p:spPr>
          <a:xfrm>
            <a:off x="59436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Child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Skip the CAMHS Wait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Consultant Child Psychiatrist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Report for School &amp; GP</a:t>
            </a:r>
            <a:endParaRPr b="0" i="0" sz="1000" u="none" cap="none" strike="noStrike">
              <a:solidFill>
                <a:schemeClr val="dk1"/>
              </a:solidFill>
              <a:latin typeface="Calibri"/>
              <a:ea typeface="Calibri"/>
              <a:cs typeface="Calibri"/>
              <a:sym typeface="Calibri"/>
            </a:endParaRPr>
          </a:p>
        </p:txBody>
      </p:sp>
      <p:sp>
        <p:nvSpPr>
          <p:cNvPr id="846" name="Google Shape;846;p26"/>
          <p:cNvSpPr txBox="1"/>
          <p:nvPr/>
        </p:nvSpPr>
        <p:spPr>
          <a:xfrm>
            <a:off x="324612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Manchester or Online</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Anxiety &amp; Mood Screened</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From £890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847" name="Google Shape;847;p26"/>
          <p:cNvSpPr txBox="1"/>
          <p:nvPr/>
        </p:nvSpPr>
        <p:spPr>
          <a:xfrm>
            <a:off x="594360" y="3767328"/>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848" name="Google Shape;848;p26"/>
          <p:cNvSpPr txBox="1"/>
          <p:nvPr/>
        </p:nvSpPr>
        <p:spPr>
          <a:xfrm>
            <a:off x="594360" y="4005072"/>
            <a:ext cx="521208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private ADHD assessment for your child within weeks, led by a consultant psychiatrist.</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Young DIVA-5 interview, school questionnaires and screening for anxiety and mood.</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clear written report you can share with your GP and your child's school.</a:t>
            </a:r>
            <a:endParaRPr b="0" i="0" sz="1000" u="none" cap="none" strike="noStrike">
              <a:solidFill>
                <a:schemeClr val="dk1"/>
              </a:solidFill>
              <a:latin typeface="Calibri"/>
              <a:ea typeface="Calibri"/>
              <a:cs typeface="Calibri"/>
              <a:sym typeface="Calibri"/>
            </a:endParaRPr>
          </a:p>
        </p:txBody>
      </p:sp>
      <p:sp>
        <p:nvSpPr>
          <p:cNvPr id="849" name="Google Shape;849;p26"/>
          <p:cNvSpPr txBox="1"/>
          <p:nvPr/>
        </p:nvSpPr>
        <p:spPr>
          <a:xfrm>
            <a:off x="594360" y="4901184"/>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850" name="Google Shape;850;p26"/>
          <p:cNvSpPr txBox="1"/>
          <p:nvPr/>
        </p:nvSpPr>
        <p:spPr>
          <a:xfrm>
            <a:off x="594360" y="5138928"/>
            <a:ext cx="5212080" cy="7315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Worried about your child? Book a free call today.</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Child ADHD assessment, Manchester or online. From £890.</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Answers for you, support for school. Start today.</a:t>
            </a:r>
            <a:endParaRPr b="0" i="0" sz="1000" u="none" cap="none" strike="noStrike">
              <a:solidFill>
                <a:schemeClr val="dk1"/>
              </a:solidFill>
              <a:latin typeface="Calibri"/>
              <a:ea typeface="Calibri"/>
              <a:cs typeface="Calibri"/>
              <a:sym typeface="Calibri"/>
            </a:endParaRPr>
          </a:p>
        </p:txBody>
      </p:sp>
      <p:sp>
        <p:nvSpPr>
          <p:cNvPr id="851" name="Google Shape;851;p26"/>
          <p:cNvSpPr/>
          <p:nvPr/>
        </p:nvSpPr>
        <p:spPr>
          <a:xfrm>
            <a:off x="502920" y="5897880"/>
            <a:ext cx="5440680" cy="365760"/>
          </a:xfrm>
          <a:prstGeom prst="roundRect">
            <a:avLst>
              <a:gd fmla="val 15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6"/>
          <p:cNvSpPr txBox="1"/>
          <p:nvPr/>
        </p:nvSpPr>
        <p:spPr>
          <a:xfrm>
            <a:off x="685800" y="58978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00"/>
              <a:buFont typeface="Poppins"/>
              <a:buNone/>
            </a:pPr>
            <a:r>
              <a:rPr b="1" i="0" lang="en-US" sz="1200" u="none" cap="none" strike="noStrike">
                <a:solidFill>
                  <a:srgbClr val="16A879"/>
                </a:solidFill>
                <a:latin typeface="Poppins"/>
                <a:ea typeface="Poppins"/>
                <a:cs typeface="Poppins"/>
                <a:sym typeface="Poppins"/>
              </a:rPr>
              <a:t>Business: </a:t>
            </a:r>
            <a:r>
              <a:rPr b="0" i="0" lang="en-US" sz="1200" u="none" cap="none" strike="noStrike">
                <a:solidFill>
                  <a:srgbClr val="2B2E2C"/>
                </a:solidFill>
                <a:latin typeface="Calibri"/>
                <a:ea typeface="Calibri"/>
                <a:cs typeface="Calibri"/>
                <a:sym typeface="Calibri"/>
              </a:rPr>
              <a:t>Refocus The Brain Hub    </a:t>
            </a:r>
            <a:r>
              <a:rPr b="1" i="0" lang="en-US" sz="1200" u="none" cap="none" strike="noStrike">
                <a:solidFill>
                  <a:srgbClr val="16A879"/>
                </a:solidFill>
                <a:latin typeface="Poppins"/>
                <a:ea typeface="Poppins"/>
                <a:cs typeface="Poppins"/>
                <a:sym typeface="Poppins"/>
              </a:rPr>
              <a:t>CTA: </a:t>
            </a:r>
            <a:r>
              <a:rPr b="0" i="0" lang="en-US" sz="1200" u="none" cap="none" strike="noStrike">
                <a:solidFill>
                  <a:srgbClr val="2B2E2C"/>
                </a:solidFill>
                <a:latin typeface="Calibri"/>
                <a:ea typeface="Calibri"/>
                <a:cs typeface="Calibri"/>
                <a:sym typeface="Calibri"/>
              </a:rPr>
              <a:t>Book Now</a:t>
            </a:r>
            <a:endParaRPr b="0" i="0" sz="1200" u="none" cap="none" strike="noStrike">
              <a:solidFill>
                <a:schemeClr val="dk1"/>
              </a:solidFill>
              <a:latin typeface="Calibri"/>
              <a:ea typeface="Calibri"/>
              <a:cs typeface="Calibri"/>
              <a:sym typeface="Calibri"/>
            </a:endParaRPr>
          </a:p>
        </p:txBody>
      </p:sp>
      <p:sp>
        <p:nvSpPr>
          <p:cNvPr id="853" name="Google Shape;853;p26"/>
          <p:cNvSpPr txBox="1"/>
          <p:nvPr/>
        </p:nvSpPr>
        <p:spPr>
          <a:xfrm>
            <a:off x="6245352" y="2103120"/>
            <a:ext cx="5440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CREATIVE ASSETS — licensed stock, cropped to Google sizes</a:t>
            </a:r>
            <a:endParaRPr b="0" i="0" sz="1050" u="none" cap="none" strike="noStrike">
              <a:solidFill>
                <a:schemeClr val="dk1"/>
              </a:solidFill>
              <a:latin typeface="Calibri"/>
              <a:ea typeface="Calibri"/>
              <a:cs typeface="Calibri"/>
              <a:sym typeface="Calibri"/>
            </a:endParaRPr>
          </a:p>
        </p:txBody>
      </p:sp>
      <p:pic>
        <p:nvPicPr>
          <p:cNvPr descr="/home/claude/refocus_hub_outputs/pmax_images/C_Child_WorriedParent/C1_landscape_family-breakfast_1200x628.jpg" id="854" name="Google Shape;854;p26"/>
          <p:cNvPicPr preferRelativeResize="0"/>
          <p:nvPr/>
        </p:nvPicPr>
        <p:blipFill rotWithShape="1">
          <a:blip r:embed="rId3">
            <a:alphaModFix/>
          </a:blip>
          <a:srcRect b="0" l="0" r="0" t="0"/>
          <a:stretch/>
        </p:blipFill>
        <p:spPr>
          <a:xfrm>
            <a:off x="6245352" y="2423160"/>
            <a:ext cx="3154680" cy="1481328"/>
          </a:xfrm>
          <a:prstGeom prst="rect">
            <a:avLst/>
          </a:prstGeom>
          <a:noFill/>
          <a:ln>
            <a:noFill/>
          </a:ln>
        </p:spPr>
      </p:pic>
      <p:sp>
        <p:nvSpPr>
          <p:cNvPr id="855" name="Google Shape;855;p26"/>
          <p:cNvSpPr/>
          <p:nvPr/>
        </p:nvSpPr>
        <p:spPr>
          <a:xfrm>
            <a:off x="6336792"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6"/>
          <p:cNvSpPr txBox="1"/>
          <p:nvPr/>
        </p:nvSpPr>
        <p:spPr>
          <a:xfrm>
            <a:off x="6336792"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1.91:1</a:t>
            </a:r>
            <a:endParaRPr b="0" i="0" sz="750" u="none" cap="none" strike="noStrike">
              <a:solidFill>
                <a:schemeClr val="dk1"/>
              </a:solidFill>
              <a:latin typeface="Calibri"/>
              <a:ea typeface="Calibri"/>
              <a:cs typeface="Calibri"/>
              <a:sym typeface="Calibri"/>
            </a:endParaRPr>
          </a:p>
        </p:txBody>
      </p:sp>
      <p:pic>
        <p:nvPicPr>
          <p:cNvPr descr="/home/claude/refocus_hub_outputs/pmax_images/C_Child_WorriedParent/C2_square_boy-drawing_1200x1200.jpg" id="857" name="Google Shape;857;p26"/>
          <p:cNvPicPr preferRelativeResize="0"/>
          <p:nvPr/>
        </p:nvPicPr>
        <p:blipFill rotWithShape="1">
          <a:blip r:embed="rId4">
            <a:alphaModFix/>
          </a:blip>
          <a:srcRect b="0" l="0" r="0" t="0"/>
          <a:stretch/>
        </p:blipFill>
        <p:spPr>
          <a:xfrm>
            <a:off x="9555480" y="2423160"/>
            <a:ext cx="1481328" cy="1481328"/>
          </a:xfrm>
          <a:prstGeom prst="rect">
            <a:avLst/>
          </a:prstGeom>
          <a:noFill/>
          <a:ln>
            <a:noFill/>
          </a:ln>
        </p:spPr>
      </p:pic>
      <p:sp>
        <p:nvSpPr>
          <p:cNvPr id="858" name="Google Shape;858;p26"/>
          <p:cNvSpPr/>
          <p:nvPr/>
        </p:nvSpPr>
        <p:spPr>
          <a:xfrm>
            <a:off x="9646920"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6"/>
          <p:cNvSpPr txBox="1"/>
          <p:nvPr/>
        </p:nvSpPr>
        <p:spPr>
          <a:xfrm>
            <a:off x="9646920"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1:1</a:t>
            </a:r>
            <a:endParaRPr b="0" i="0" sz="750" u="none" cap="none" strike="noStrike">
              <a:solidFill>
                <a:schemeClr val="dk1"/>
              </a:solidFill>
              <a:latin typeface="Calibri"/>
              <a:ea typeface="Calibri"/>
              <a:cs typeface="Calibri"/>
              <a:sym typeface="Calibri"/>
            </a:endParaRPr>
          </a:p>
        </p:txBody>
      </p:sp>
      <p:pic>
        <p:nvPicPr>
          <p:cNvPr descr="/home/claude/refocus_hub_outputs/pmax_images/C_Child_WorriedParent/C3_portrait_dad-bedtime-story_960x1200.jpg" id="860" name="Google Shape;860;p26"/>
          <p:cNvPicPr preferRelativeResize="0"/>
          <p:nvPr/>
        </p:nvPicPr>
        <p:blipFill rotWithShape="1">
          <a:blip r:embed="rId5">
            <a:alphaModFix/>
          </a:blip>
          <a:srcRect b="0" l="0" r="0" t="0"/>
          <a:stretch/>
        </p:blipFill>
        <p:spPr>
          <a:xfrm>
            <a:off x="9555480" y="4069080"/>
            <a:ext cx="1481328" cy="1847088"/>
          </a:xfrm>
          <a:prstGeom prst="rect">
            <a:avLst/>
          </a:prstGeom>
          <a:noFill/>
          <a:ln>
            <a:noFill/>
          </a:ln>
        </p:spPr>
      </p:pic>
      <p:sp>
        <p:nvSpPr>
          <p:cNvPr id="861" name="Google Shape;861;p26"/>
          <p:cNvSpPr/>
          <p:nvPr/>
        </p:nvSpPr>
        <p:spPr>
          <a:xfrm>
            <a:off x="9646920" y="562356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6"/>
          <p:cNvSpPr txBox="1"/>
          <p:nvPr/>
        </p:nvSpPr>
        <p:spPr>
          <a:xfrm>
            <a:off x="9646920" y="562356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4:5</a:t>
            </a:r>
            <a:endParaRPr b="0" i="0" sz="750" u="none" cap="none" strike="noStrike">
              <a:solidFill>
                <a:schemeClr val="dk1"/>
              </a:solidFill>
              <a:latin typeface="Calibri"/>
              <a:ea typeface="Calibri"/>
              <a:cs typeface="Calibri"/>
              <a:sym typeface="Calibri"/>
            </a:endParaRPr>
          </a:p>
        </p:txBody>
      </p:sp>
      <p:sp>
        <p:nvSpPr>
          <p:cNvPr id="863" name="Google Shape;863;p26"/>
          <p:cNvSpPr/>
          <p:nvPr/>
        </p:nvSpPr>
        <p:spPr>
          <a:xfrm>
            <a:off x="6245352" y="4023360"/>
            <a:ext cx="3154680" cy="896112"/>
          </a:xfrm>
          <a:prstGeom prst="roundRect">
            <a:avLst>
              <a:gd fmla="val 8163"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6"/>
          <p:cNvSpPr/>
          <p:nvPr/>
        </p:nvSpPr>
        <p:spPr>
          <a:xfrm>
            <a:off x="6382512" y="4114800"/>
            <a:ext cx="347472" cy="347472"/>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globe_white.png" id="865" name="Google Shape;865;p26"/>
          <p:cNvPicPr preferRelativeResize="0"/>
          <p:nvPr/>
        </p:nvPicPr>
        <p:blipFill rotWithShape="1">
          <a:blip r:embed="rId6">
            <a:alphaModFix/>
          </a:blip>
          <a:srcRect b="0" l="0" r="0" t="0"/>
          <a:stretch/>
        </p:blipFill>
        <p:spPr>
          <a:xfrm>
            <a:off x="6464808" y="4197096"/>
            <a:ext cx="182880" cy="182880"/>
          </a:xfrm>
          <a:prstGeom prst="rect">
            <a:avLst/>
          </a:prstGeom>
          <a:noFill/>
          <a:ln>
            <a:noFill/>
          </a:ln>
        </p:spPr>
      </p:pic>
      <p:sp>
        <p:nvSpPr>
          <p:cNvPr id="866" name="Google Shape;866;p26"/>
          <p:cNvSpPr txBox="1"/>
          <p:nvPr/>
        </p:nvSpPr>
        <p:spPr>
          <a:xfrm>
            <a:off x="6812280" y="408736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00"/>
              <a:buFont typeface="Poppins"/>
              <a:buNone/>
            </a:pPr>
            <a:r>
              <a:rPr b="1" i="0" lang="en-US" sz="1100" u="none" cap="none" strike="noStrike">
                <a:solidFill>
                  <a:srgbClr val="2B2E2C"/>
                </a:solidFill>
                <a:latin typeface="Poppins"/>
                <a:ea typeface="Poppins"/>
                <a:cs typeface="Poppins"/>
                <a:sym typeface="Poppins"/>
              </a:rPr>
              <a:t>VIDEO 16:9 · YouTube</a:t>
            </a:r>
            <a:endParaRPr b="0" i="0" sz="1100" u="none" cap="none" strike="noStrike">
              <a:solidFill>
                <a:schemeClr val="dk1"/>
              </a:solidFill>
              <a:latin typeface="Calibri"/>
              <a:ea typeface="Calibri"/>
              <a:cs typeface="Calibri"/>
              <a:sym typeface="Calibri"/>
            </a:endParaRPr>
          </a:p>
        </p:txBody>
      </p:sp>
      <p:sp>
        <p:nvSpPr>
          <p:cNvPr id="867" name="Google Shape;867;p26"/>
          <p:cNvSpPr txBox="1"/>
          <p:nvPr/>
        </p:nvSpPr>
        <p:spPr>
          <a:xfrm>
            <a:off x="6382512" y="4443984"/>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parent voiceover (“school kept calling…”), consultant explains the child pathway, CTA ‘Book a free consultation’. Reassuring, never alarmist.</a:t>
            </a:r>
            <a:endParaRPr b="0" i="0" sz="800" u="none" cap="none" strike="noStrike">
              <a:solidFill>
                <a:schemeClr val="dk1"/>
              </a:solidFill>
              <a:latin typeface="Calibri"/>
              <a:ea typeface="Calibri"/>
              <a:cs typeface="Calibri"/>
              <a:sym typeface="Calibri"/>
            </a:endParaRPr>
          </a:p>
        </p:txBody>
      </p:sp>
      <p:sp>
        <p:nvSpPr>
          <p:cNvPr id="868" name="Google Shape;868;p26"/>
          <p:cNvSpPr/>
          <p:nvPr/>
        </p:nvSpPr>
        <p:spPr>
          <a:xfrm>
            <a:off x="6245352" y="5029200"/>
            <a:ext cx="3154680" cy="1234440"/>
          </a:xfrm>
          <a:prstGeom prst="roundRect">
            <a:avLst>
              <a:gd fmla="val 7407"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6"/>
          <p:cNvSpPr/>
          <p:nvPr/>
        </p:nvSpPr>
        <p:spPr>
          <a:xfrm>
            <a:off x="6382512" y="5120640"/>
            <a:ext cx="347472" cy="347472"/>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dark.png" id="870" name="Google Shape;870;p26"/>
          <p:cNvPicPr preferRelativeResize="0"/>
          <p:nvPr/>
        </p:nvPicPr>
        <p:blipFill rotWithShape="1">
          <a:blip r:embed="rId7">
            <a:alphaModFix/>
          </a:blip>
          <a:srcRect b="0" l="0" r="0" t="0"/>
          <a:stretch/>
        </p:blipFill>
        <p:spPr>
          <a:xfrm>
            <a:off x="6464808" y="5202936"/>
            <a:ext cx="182880" cy="182880"/>
          </a:xfrm>
          <a:prstGeom prst="rect">
            <a:avLst/>
          </a:prstGeom>
          <a:noFill/>
          <a:ln>
            <a:noFill/>
          </a:ln>
        </p:spPr>
      </p:pic>
      <p:sp>
        <p:nvSpPr>
          <p:cNvPr id="871" name="Google Shape;871;p26"/>
          <p:cNvSpPr txBox="1"/>
          <p:nvPr/>
        </p:nvSpPr>
        <p:spPr>
          <a:xfrm>
            <a:off x="6812280" y="509320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Audience Signals</a:t>
            </a:r>
            <a:endParaRPr b="0" i="0" sz="1100" u="none" cap="none" strike="noStrike">
              <a:solidFill>
                <a:schemeClr val="dk1"/>
              </a:solidFill>
              <a:latin typeface="Calibri"/>
              <a:ea typeface="Calibri"/>
              <a:cs typeface="Calibri"/>
              <a:sym typeface="Calibri"/>
            </a:endParaRPr>
          </a:p>
        </p:txBody>
      </p:sp>
      <p:sp>
        <p:nvSpPr>
          <p:cNvPr id="872" name="Google Shape;872;p26"/>
          <p:cNvSpPr txBox="1"/>
          <p:nvPr/>
        </p:nvSpPr>
        <p:spPr>
          <a:xfrm>
            <a:off x="6382512" y="5468112"/>
            <a:ext cx="2926080" cy="7772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Search themes: child adhd assessment, adhd assessment for children, private child psychiatrist</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First-party: enquirers &amp; child page visitors (no condition-based segments)</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Demographics: parents 30–50, North West England; no under-18 targeting</a:t>
            </a:r>
            <a:endParaRPr b="0" i="0" sz="800" u="none" cap="none" strike="noStrike">
              <a:solidFill>
                <a:schemeClr val="dk1"/>
              </a:solidFill>
              <a:latin typeface="Calibri"/>
              <a:ea typeface="Calibri"/>
              <a:cs typeface="Calibri"/>
              <a:sym typeface="Calibri"/>
            </a:endParaRPr>
          </a:p>
        </p:txBody>
      </p:sp>
      <p:sp>
        <p:nvSpPr>
          <p:cNvPr id="873" name="Google Shape;873;p26"/>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27"/>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880" name="Google Shape;880;p27"/>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B (CHILD &amp; TEEN)</a:t>
            </a:r>
            <a:endParaRPr b="0" i="0" sz="1250" u="none" cap="none" strike="noStrike">
              <a:solidFill>
                <a:schemeClr val="dk1"/>
              </a:solidFill>
              <a:latin typeface="Calibri"/>
              <a:ea typeface="Calibri"/>
              <a:cs typeface="Calibri"/>
              <a:sym typeface="Calibri"/>
            </a:endParaRPr>
          </a:p>
        </p:txBody>
      </p:sp>
      <p:sp>
        <p:nvSpPr>
          <p:cNvPr id="881" name="Google Shape;881;p27"/>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Exam-Year Parent</a:t>
            </a:r>
            <a:endParaRPr b="0" i="0" sz="3300" u="none" cap="none" strike="noStrike">
              <a:solidFill>
                <a:schemeClr val="dk1"/>
              </a:solidFill>
              <a:latin typeface="Calibri"/>
              <a:ea typeface="Calibri"/>
              <a:cs typeface="Calibri"/>
              <a:sym typeface="Calibri"/>
            </a:endParaRPr>
          </a:p>
        </p:txBody>
      </p:sp>
      <p:sp>
        <p:nvSpPr>
          <p:cNvPr id="882" name="Google Shape;882;p27"/>
          <p:cNvSpPr/>
          <p:nvPr/>
        </p:nvSpPr>
        <p:spPr>
          <a:xfrm>
            <a:off x="502920" y="210312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7"/>
          <p:cNvSpPr txBox="1"/>
          <p:nvPr/>
        </p:nvSpPr>
        <p:spPr>
          <a:xfrm>
            <a:off x="685800" y="2103120"/>
            <a:ext cx="5029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884" name="Google Shape;884;p27"/>
          <p:cNvSpPr txBox="1"/>
          <p:nvPr/>
        </p:nvSpPr>
        <p:spPr>
          <a:xfrm>
            <a:off x="594360" y="2606040"/>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885" name="Google Shape;885;p27"/>
          <p:cNvSpPr txBox="1"/>
          <p:nvPr/>
        </p:nvSpPr>
        <p:spPr>
          <a:xfrm>
            <a:off x="59436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Teen ADHD Assessment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Before the Next Exams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Exam Access Arrangements</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Consultant-Led, Teen-Aware</a:t>
            </a:r>
            <a:endParaRPr b="0" i="0" sz="1000" u="none" cap="none" strike="noStrike">
              <a:solidFill>
                <a:schemeClr val="dk1"/>
              </a:solidFill>
              <a:latin typeface="Calibri"/>
              <a:ea typeface="Calibri"/>
              <a:cs typeface="Calibri"/>
              <a:sym typeface="Calibri"/>
            </a:endParaRPr>
          </a:p>
        </p:txBody>
      </p:sp>
      <p:sp>
        <p:nvSpPr>
          <p:cNvPr id="886" name="Google Shape;886;p27"/>
          <p:cNvSpPr txBox="1"/>
          <p:nvPr/>
        </p:nvSpPr>
        <p:spPr>
          <a:xfrm>
            <a:off x="3246120" y="2852928"/>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Online Option Teens Prefer</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Report for the SENCO</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From £890</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887" name="Google Shape;887;p27"/>
          <p:cNvSpPr txBox="1"/>
          <p:nvPr/>
        </p:nvSpPr>
        <p:spPr>
          <a:xfrm>
            <a:off x="594360" y="3767328"/>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888" name="Google Shape;888;p27"/>
          <p:cNvSpPr txBox="1"/>
          <p:nvPr/>
        </p:nvSpPr>
        <p:spPr>
          <a:xfrm>
            <a:off x="594360" y="4005072"/>
            <a:ext cx="521208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Get your teenager assessed for ADHD in time for exam access arrangements.</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teen-aware consultant assessment, online or in Manchester, with a report for school.</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Help with focus, organisation and the transition to adult services at 18.</a:t>
            </a:r>
            <a:endParaRPr b="0" i="0" sz="1000" u="none" cap="none" strike="noStrike">
              <a:solidFill>
                <a:schemeClr val="dk1"/>
              </a:solidFill>
              <a:latin typeface="Calibri"/>
              <a:ea typeface="Calibri"/>
              <a:cs typeface="Calibri"/>
              <a:sym typeface="Calibri"/>
            </a:endParaRPr>
          </a:p>
        </p:txBody>
      </p:sp>
      <p:sp>
        <p:nvSpPr>
          <p:cNvPr id="889" name="Google Shape;889;p27"/>
          <p:cNvSpPr txBox="1"/>
          <p:nvPr/>
        </p:nvSpPr>
        <p:spPr>
          <a:xfrm>
            <a:off x="594360" y="4901184"/>
            <a:ext cx="36576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890" name="Google Shape;890;p27"/>
          <p:cNvSpPr txBox="1"/>
          <p:nvPr/>
        </p:nvSpPr>
        <p:spPr>
          <a:xfrm>
            <a:off x="594360" y="5138928"/>
            <a:ext cx="5212080" cy="7315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Don't lose another exam year. Book a free call.</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Teen ADHD assessment, from £890. Manchester or online.</a:t>
            </a:r>
            <a:endParaRPr b="0" i="0" sz="100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Clear plan for school, exams and next steps.</a:t>
            </a:r>
            <a:endParaRPr b="0" i="0" sz="1000" u="none" cap="none" strike="noStrike">
              <a:solidFill>
                <a:schemeClr val="dk1"/>
              </a:solidFill>
              <a:latin typeface="Calibri"/>
              <a:ea typeface="Calibri"/>
              <a:cs typeface="Calibri"/>
              <a:sym typeface="Calibri"/>
            </a:endParaRPr>
          </a:p>
        </p:txBody>
      </p:sp>
      <p:sp>
        <p:nvSpPr>
          <p:cNvPr id="891" name="Google Shape;891;p27"/>
          <p:cNvSpPr/>
          <p:nvPr/>
        </p:nvSpPr>
        <p:spPr>
          <a:xfrm>
            <a:off x="502920" y="5897880"/>
            <a:ext cx="5440680" cy="365760"/>
          </a:xfrm>
          <a:prstGeom prst="roundRect">
            <a:avLst>
              <a:gd fmla="val 15000"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7"/>
          <p:cNvSpPr txBox="1"/>
          <p:nvPr/>
        </p:nvSpPr>
        <p:spPr>
          <a:xfrm>
            <a:off x="685800" y="58978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00"/>
              <a:buFont typeface="Poppins"/>
              <a:buNone/>
            </a:pPr>
            <a:r>
              <a:rPr b="1" i="0" lang="en-US" sz="1200" u="none" cap="none" strike="noStrike">
                <a:solidFill>
                  <a:srgbClr val="16A879"/>
                </a:solidFill>
                <a:latin typeface="Poppins"/>
                <a:ea typeface="Poppins"/>
                <a:cs typeface="Poppins"/>
                <a:sym typeface="Poppins"/>
              </a:rPr>
              <a:t>Business: </a:t>
            </a:r>
            <a:r>
              <a:rPr b="0" i="0" lang="en-US" sz="1200" u="none" cap="none" strike="noStrike">
                <a:solidFill>
                  <a:srgbClr val="2B2E2C"/>
                </a:solidFill>
                <a:latin typeface="Calibri"/>
                <a:ea typeface="Calibri"/>
                <a:cs typeface="Calibri"/>
                <a:sym typeface="Calibri"/>
              </a:rPr>
              <a:t>Refocus The Brain Hub    </a:t>
            </a:r>
            <a:r>
              <a:rPr b="1" i="0" lang="en-US" sz="1200" u="none" cap="none" strike="noStrike">
                <a:solidFill>
                  <a:srgbClr val="16A879"/>
                </a:solidFill>
                <a:latin typeface="Poppins"/>
                <a:ea typeface="Poppins"/>
                <a:cs typeface="Poppins"/>
                <a:sym typeface="Poppins"/>
              </a:rPr>
              <a:t>CTA: </a:t>
            </a:r>
            <a:r>
              <a:rPr b="0" i="0" lang="en-US" sz="1200" u="none" cap="none" strike="noStrike">
                <a:solidFill>
                  <a:srgbClr val="2B2E2C"/>
                </a:solidFill>
                <a:latin typeface="Calibri"/>
                <a:ea typeface="Calibri"/>
                <a:cs typeface="Calibri"/>
                <a:sym typeface="Calibri"/>
              </a:rPr>
              <a:t>Book Now</a:t>
            </a:r>
            <a:endParaRPr b="0" i="0" sz="1200" u="none" cap="none" strike="noStrike">
              <a:solidFill>
                <a:schemeClr val="dk1"/>
              </a:solidFill>
              <a:latin typeface="Calibri"/>
              <a:ea typeface="Calibri"/>
              <a:cs typeface="Calibri"/>
              <a:sym typeface="Calibri"/>
            </a:endParaRPr>
          </a:p>
        </p:txBody>
      </p:sp>
      <p:sp>
        <p:nvSpPr>
          <p:cNvPr id="893" name="Google Shape;893;p27"/>
          <p:cNvSpPr txBox="1"/>
          <p:nvPr/>
        </p:nvSpPr>
        <p:spPr>
          <a:xfrm>
            <a:off x="6245352" y="2103120"/>
            <a:ext cx="5440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CREATIVE ASSETS — licensed stock, cropped to Google sizes</a:t>
            </a:r>
            <a:endParaRPr b="0" i="0" sz="1050" u="none" cap="none" strike="noStrike">
              <a:solidFill>
                <a:schemeClr val="dk1"/>
              </a:solidFill>
              <a:latin typeface="Calibri"/>
              <a:ea typeface="Calibri"/>
              <a:cs typeface="Calibri"/>
              <a:sym typeface="Calibri"/>
            </a:endParaRPr>
          </a:p>
        </p:txBody>
      </p:sp>
      <p:pic>
        <p:nvPicPr>
          <p:cNvPr descr="/home/claude/refocus_hub_outputs/pmax_images/D_Teen_ExamYearParent/D1_landscape_mother-teen-son-laptop_1200x628.jpg" id="894" name="Google Shape;894;p27"/>
          <p:cNvPicPr preferRelativeResize="0"/>
          <p:nvPr/>
        </p:nvPicPr>
        <p:blipFill rotWithShape="1">
          <a:blip r:embed="rId3">
            <a:alphaModFix/>
          </a:blip>
          <a:srcRect b="0" l="0" r="0" t="0"/>
          <a:stretch/>
        </p:blipFill>
        <p:spPr>
          <a:xfrm>
            <a:off x="6245352" y="2423160"/>
            <a:ext cx="3154680" cy="1481328"/>
          </a:xfrm>
          <a:prstGeom prst="rect">
            <a:avLst/>
          </a:prstGeom>
          <a:noFill/>
          <a:ln>
            <a:noFill/>
          </a:ln>
        </p:spPr>
      </p:pic>
      <p:sp>
        <p:nvSpPr>
          <p:cNvPr id="895" name="Google Shape;895;p27"/>
          <p:cNvSpPr/>
          <p:nvPr/>
        </p:nvSpPr>
        <p:spPr>
          <a:xfrm>
            <a:off x="6336792"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7"/>
          <p:cNvSpPr txBox="1"/>
          <p:nvPr/>
        </p:nvSpPr>
        <p:spPr>
          <a:xfrm>
            <a:off x="6336792"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1.91:1</a:t>
            </a:r>
            <a:endParaRPr b="0" i="0" sz="750" u="none" cap="none" strike="noStrike">
              <a:solidFill>
                <a:schemeClr val="dk1"/>
              </a:solidFill>
              <a:latin typeface="Calibri"/>
              <a:ea typeface="Calibri"/>
              <a:cs typeface="Calibri"/>
              <a:sym typeface="Calibri"/>
            </a:endParaRPr>
          </a:p>
        </p:txBody>
      </p:sp>
      <p:pic>
        <p:nvPicPr>
          <p:cNvPr descr="/home/claude/refocus_hub_outputs/pmax_images/D_Teen_ExamYearParent/D2_square_teen-boy-portrait_1200x1200.jpg" id="897" name="Google Shape;897;p27"/>
          <p:cNvPicPr preferRelativeResize="0"/>
          <p:nvPr/>
        </p:nvPicPr>
        <p:blipFill rotWithShape="1">
          <a:blip r:embed="rId4">
            <a:alphaModFix/>
          </a:blip>
          <a:srcRect b="0" l="0" r="0" t="0"/>
          <a:stretch/>
        </p:blipFill>
        <p:spPr>
          <a:xfrm>
            <a:off x="9555480" y="2423160"/>
            <a:ext cx="1481328" cy="1481328"/>
          </a:xfrm>
          <a:prstGeom prst="rect">
            <a:avLst/>
          </a:prstGeom>
          <a:noFill/>
          <a:ln>
            <a:noFill/>
          </a:ln>
        </p:spPr>
      </p:pic>
      <p:sp>
        <p:nvSpPr>
          <p:cNvPr id="898" name="Google Shape;898;p27"/>
          <p:cNvSpPr/>
          <p:nvPr/>
        </p:nvSpPr>
        <p:spPr>
          <a:xfrm>
            <a:off x="9646920" y="361188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7"/>
          <p:cNvSpPr txBox="1"/>
          <p:nvPr/>
        </p:nvSpPr>
        <p:spPr>
          <a:xfrm>
            <a:off x="9646920" y="361188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1:1</a:t>
            </a:r>
            <a:endParaRPr b="0" i="0" sz="750" u="none" cap="none" strike="noStrike">
              <a:solidFill>
                <a:schemeClr val="dk1"/>
              </a:solidFill>
              <a:latin typeface="Calibri"/>
              <a:ea typeface="Calibri"/>
              <a:cs typeface="Calibri"/>
              <a:sym typeface="Calibri"/>
            </a:endParaRPr>
          </a:p>
        </p:txBody>
      </p:sp>
      <p:pic>
        <p:nvPicPr>
          <p:cNvPr descr="/home/claude/refocus_hub_outputs/pmax_images/D_Teen_ExamYearParent/D3_portrait_mother-teen-daughter_960x1200.jpg" id="900" name="Google Shape;900;p27"/>
          <p:cNvPicPr preferRelativeResize="0"/>
          <p:nvPr/>
        </p:nvPicPr>
        <p:blipFill rotWithShape="1">
          <a:blip r:embed="rId5">
            <a:alphaModFix/>
          </a:blip>
          <a:srcRect b="0" l="0" r="0" t="0"/>
          <a:stretch/>
        </p:blipFill>
        <p:spPr>
          <a:xfrm>
            <a:off x="9555480" y="4069080"/>
            <a:ext cx="1481328" cy="1847088"/>
          </a:xfrm>
          <a:prstGeom prst="rect">
            <a:avLst/>
          </a:prstGeom>
          <a:noFill/>
          <a:ln>
            <a:noFill/>
          </a:ln>
        </p:spPr>
      </p:pic>
      <p:sp>
        <p:nvSpPr>
          <p:cNvPr id="901" name="Google Shape;901;p27"/>
          <p:cNvSpPr/>
          <p:nvPr/>
        </p:nvSpPr>
        <p:spPr>
          <a:xfrm>
            <a:off x="9646920" y="5623560"/>
            <a:ext cx="548640" cy="201168"/>
          </a:xfrm>
          <a:prstGeom prst="rect">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7"/>
          <p:cNvSpPr txBox="1"/>
          <p:nvPr/>
        </p:nvSpPr>
        <p:spPr>
          <a:xfrm>
            <a:off x="9646920" y="5623560"/>
            <a:ext cx="548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Poppins"/>
              <a:buNone/>
            </a:pPr>
            <a:r>
              <a:rPr b="1" i="0" lang="en-US" sz="750" u="none" cap="none" strike="noStrike">
                <a:solidFill>
                  <a:srgbClr val="FFFFFF"/>
                </a:solidFill>
                <a:latin typeface="Poppins"/>
                <a:ea typeface="Poppins"/>
                <a:cs typeface="Poppins"/>
                <a:sym typeface="Poppins"/>
              </a:rPr>
              <a:t>4:5</a:t>
            </a:r>
            <a:endParaRPr b="0" i="0" sz="750" u="none" cap="none" strike="noStrike">
              <a:solidFill>
                <a:schemeClr val="dk1"/>
              </a:solidFill>
              <a:latin typeface="Calibri"/>
              <a:ea typeface="Calibri"/>
              <a:cs typeface="Calibri"/>
              <a:sym typeface="Calibri"/>
            </a:endParaRPr>
          </a:p>
        </p:txBody>
      </p:sp>
      <p:sp>
        <p:nvSpPr>
          <p:cNvPr id="903" name="Google Shape;903;p27"/>
          <p:cNvSpPr/>
          <p:nvPr/>
        </p:nvSpPr>
        <p:spPr>
          <a:xfrm>
            <a:off x="6245352" y="4023360"/>
            <a:ext cx="3154680" cy="896112"/>
          </a:xfrm>
          <a:prstGeom prst="roundRect">
            <a:avLst>
              <a:gd fmla="val 8163"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7"/>
          <p:cNvSpPr/>
          <p:nvPr/>
        </p:nvSpPr>
        <p:spPr>
          <a:xfrm>
            <a:off x="6382512" y="4114800"/>
            <a:ext cx="347472" cy="347472"/>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globe_white.png" id="905" name="Google Shape;905;p27"/>
          <p:cNvPicPr preferRelativeResize="0"/>
          <p:nvPr/>
        </p:nvPicPr>
        <p:blipFill rotWithShape="1">
          <a:blip r:embed="rId6">
            <a:alphaModFix/>
          </a:blip>
          <a:srcRect b="0" l="0" r="0" t="0"/>
          <a:stretch/>
        </p:blipFill>
        <p:spPr>
          <a:xfrm>
            <a:off x="6464808" y="4197096"/>
            <a:ext cx="182880" cy="182880"/>
          </a:xfrm>
          <a:prstGeom prst="rect">
            <a:avLst/>
          </a:prstGeom>
          <a:noFill/>
          <a:ln>
            <a:noFill/>
          </a:ln>
        </p:spPr>
      </p:pic>
      <p:sp>
        <p:nvSpPr>
          <p:cNvPr id="906" name="Google Shape;906;p27"/>
          <p:cNvSpPr txBox="1"/>
          <p:nvPr/>
        </p:nvSpPr>
        <p:spPr>
          <a:xfrm>
            <a:off x="6812280" y="408736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100"/>
              <a:buFont typeface="Poppins"/>
              <a:buNone/>
            </a:pPr>
            <a:r>
              <a:rPr b="1" i="0" lang="en-US" sz="1100" u="none" cap="none" strike="noStrike">
                <a:solidFill>
                  <a:srgbClr val="2B2E2C"/>
                </a:solidFill>
                <a:latin typeface="Poppins"/>
                <a:ea typeface="Poppins"/>
                <a:cs typeface="Poppins"/>
                <a:sym typeface="Poppins"/>
              </a:rPr>
              <a:t>VIDEO 16:9 · YouTube</a:t>
            </a:r>
            <a:endParaRPr b="0" i="0" sz="1100" u="none" cap="none" strike="noStrike">
              <a:solidFill>
                <a:schemeClr val="dk1"/>
              </a:solidFill>
              <a:latin typeface="Calibri"/>
              <a:ea typeface="Calibri"/>
              <a:cs typeface="Calibri"/>
              <a:sym typeface="Calibri"/>
            </a:endParaRPr>
          </a:p>
        </p:txBody>
      </p:sp>
      <p:sp>
        <p:nvSpPr>
          <p:cNvPr id="907" name="Google Shape;907;p27"/>
          <p:cNvSpPr txBox="1"/>
          <p:nvPr/>
        </p:nvSpPr>
        <p:spPr>
          <a:xfrm>
            <a:off x="6382512" y="4443984"/>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teen-friendly, phone-first cut; parent and teen both reassured; CTA ‘Book a free consultation’. Respectful, not patronising.</a:t>
            </a:r>
            <a:endParaRPr b="0" i="0" sz="800" u="none" cap="none" strike="noStrike">
              <a:solidFill>
                <a:schemeClr val="dk1"/>
              </a:solidFill>
              <a:latin typeface="Calibri"/>
              <a:ea typeface="Calibri"/>
              <a:cs typeface="Calibri"/>
              <a:sym typeface="Calibri"/>
            </a:endParaRPr>
          </a:p>
        </p:txBody>
      </p:sp>
      <p:sp>
        <p:nvSpPr>
          <p:cNvPr id="908" name="Google Shape;908;p27"/>
          <p:cNvSpPr/>
          <p:nvPr/>
        </p:nvSpPr>
        <p:spPr>
          <a:xfrm>
            <a:off x="6245352" y="5029200"/>
            <a:ext cx="3154680" cy="1234440"/>
          </a:xfrm>
          <a:prstGeom prst="roundRect">
            <a:avLst>
              <a:gd fmla="val 7407"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7"/>
          <p:cNvSpPr/>
          <p:nvPr/>
        </p:nvSpPr>
        <p:spPr>
          <a:xfrm>
            <a:off x="6382512" y="5120640"/>
            <a:ext cx="347472" cy="347472"/>
          </a:xfrm>
          <a:prstGeom prst="ellipse">
            <a:avLst/>
          </a:prstGeom>
          <a:solidFill>
            <a:srgbClr val="3BE29F"/>
          </a:solidFill>
          <a:ln cap="flat" cmpd="sng" w="12700">
            <a:solidFill>
              <a:srgbClr val="3BE2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target_dark.png" id="910" name="Google Shape;910;p27"/>
          <p:cNvPicPr preferRelativeResize="0"/>
          <p:nvPr/>
        </p:nvPicPr>
        <p:blipFill rotWithShape="1">
          <a:blip r:embed="rId7">
            <a:alphaModFix/>
          </a:blip>
          <a:srcRect b="0" l="0" r="0" t="0"/>
          <a:stretch/>
        </p:blipFill>
        <p:spPr>
          <a:xfrm>
            <a:off x="6464808" y="5202936"/>
            <a:ext cx="182880" cy="182880"/>
          </a:xfrm>
          <a:prstGeom prst="rect">
            <a:avLst/>
          </a:prstGeom>
          <a:noFill/>
          <a:ln>
            <a:noFill/>
          </a:ln>
        </p:spPr>
      </p:pic>
      <p:sp>
        <p:nvSpPr>
          <p:cNvPr id="911" name="Google Shape;911;p27"/>
          <p:cNvSpPr txBox="1"/>
          <p:nvPr/>
        </p:nvSpPr>
        <p:spPr>
          <a:xfrm>
            <a:off x="6812280" y="5093208"/>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Audience Signals</a:t>
            </a:r>
            <a:endParaRPr b="0" i="0" sz="1100" u="none" cap="none" strike="noStrike">
              <a:solidFill>
                <a:schemeClr val="dk1"/>
              </a:solidFill>
              <a:latin typeface="Calibri"/>
              <a:ea typeface="Calibri"/>
              <a:cs typeface="Calibri"/>
              <a:sym typeface="Calibri"/>
            </a:endParaRPr>
          </a:p>
        </p:txBody>
      </p:sp>
      <p:sp>
        <p:nvSpPr>
          <p:cNvPr id="912" name="Google Shape;912;p27"/>
          <p:cNvSpPr txBox="1"/>
          <p:nvPr/>
        </p:nvSpPr>
        <p:spPr>
          <a:xfrm>
            <a:off x="6382512" y="5468112"/>
            <a:ext cx="2926080" cy="7772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Search themes: teenage adhd assessment, adhd assessment 16 year old, adhd exam access arrangements</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First-party: enquirers &amp; teen page visitors (no condition-based segments)</a:t>
            </a:r>
            <a:endParaRPr b="0" i="0" sz="8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A7EAD7"/>
              </a:buClr>
              <a:buSzPts val="800"/>
              <a:buFont typeface="Calibri"/>
              <a:buChar char="•"/>
            </a:pPr>
            <a:r>
              <a:rPr b="0" i="0" lang="en-US" sz="800" u="none" cap="none" strike="noStrike">
                <a:solidFill>
                  <a:srgbClr val="A7EAD7"/>
                </a:solidFill>
                <a:latin typeface="Calibri"/>
                <a:ea typeface="Calibri"/>
                <a:cs typeface="Calibri"/>
                <a:sym typeface="Calibri"/>
              </a:rPr>
              <a:t>Demographics: parents 40–55, North West England; no under-18 targeting</a:t>
            </a:r>
            <a:endParaRPr b="0" i="0" sz="800" u="none" cap="none" strike="noStrike">
              <a:solidFill>
                <a:schemeClr val="dk1"/>
              </a:solidFill>
              <a:latin typeface="Calibri"/>
              <a:ea typeface="Calibri"/>
              <a:cs typeface="Calibri"/>
              <a:sym typeface="Calibri"/>
            </a:endParaRPr>
          </a:p>
        </p:txBody>
      </p:sp>
      <p:sp>
        <p:nvSpPr>
          <p:cNvPr id="913" name="Google Shape;913;p27"/>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28"/>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Budget</a:t>
            </a:r>
            <a:endParaRPr b="0" i="0" sz="1500" u="none" cap="none" strike="noStrike">
              <a:solidFill>
                <a:schemeClr val="dk1"/>
              </a:solidFill>
              <a:latin typeface="Calibri"/>
              <a:ea typeface="Calibri"/>
              <a:cs typeface="Calibri"/>
              <a:sym typeface="Calibri"/>
            </a:endParaRPr>
          </a:p>
        </p:txBody>
      </p:sp>
      <p:sp>
        <p:nvSpPr>
          <p:cNvPr id="920" name="Google Shape;920;p28"/>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INVESTMENT</a:t>
            </a:r>
            <a:endParaRPr b="0" i="0" sz="1250" u="none" cap="none" strike="noStrike">
              <a:solidFill>
                <a:schemeClr val="dk1"/>
              </a:solidFill>
              <a:latin typeface="Calibri"/>
              <a:ea typeface="Calibri"/>
              <a:cs typeface="Calibri"/>
              <a:sym typeface="Calibri"/>
            </a:endParaRPr>
          </a:p>
        </p:txBody>
      </p:sp>
      <p:sp>
        <p:nvSpPr>
          <p:cNvPr id="921" name="Google Shape;921;p28"/>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Media Budget &amp; Phasing</a:t>
            </a:r>
            <a:endParaRPr b="0" i="0" sz="3300" u="none" cap="none" strike="noStrike">
              <a:solidFill>
                <a:schemeClr val="dk1"/>
              </a:solidFill>
              <a:latin typeface="Calibri"/>
              <a:ea typeface="Calibri"/>
              <a:cs typeface="Calibri"/>
              <a:sym typeface="Calibri"/>
            </a:endParaRPr>
          </a:p>
        </p:txBody>
      </p:sp>
      <p:sp>
        <p:nvSpPr>
          <p:cNvPr id="922" name="Google Shape;922;p28"/>
          <p:cNvSpPr/>
          <p:nvPr/>
        </p:nvSpPr>
        <p:spPr>
          <a:xfrm>
            <a:off x="502920" y="2148840"/>
            <a:ext cx="4069080" cy="3657600"/>
          </a:xfrm>
          <a:prstGeom prst="roundRect">
            <a:avLst>
              <a:gd fmla="val 2500" name="adj"/>
            </a:avLst>
          </a:prstGeom>
          <a:solidFill>
            <a:srgbClr val="1A2620"/>
          </a:solidFill>
          <a:ln cap="flat" cmpd="sng" w="12700">
            <a:solidFill>
              <a:srgbClr val="1A2620"/>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8"/>
          <p:cNvSpPr/>
          <p:nvPr/>
        </p:nvSpPr>
        <p:spPr>
          <a:xfrm>
            <a:off x="868680" y="2468880"/>
            <a:ext cx="777240" cy="7772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pound_dark.png" id="924" name="Google Shape;924;p28"/>
          <p:cNvPicPr preferRelativeResize="0"/>
          <p:nvPr/>
        </p:nvPicPr>
        <p:blipFill rotWithShape="1">
          <a:blip r:embed="rId3">
            <a:alphaModFix/>
          </a:blip>
          <a:srcRect b="0" l="0" r="0" t="0"/>
          <a:stretch/>
        </p:blipFill>
        <p:spPr>
          <a:xfrm>
            <a:off x="1074420" y="2674620"/>
            <a:ext cx="365760" cy="365760"/>
          </a:xfrm>
          <a:prstGeom prst="rect">
            <a:avLst/>
          </a:prstGeom>
          <a:noFill/>
          <a:ln>
            <a:noFill/>
          </a:ln>
        </p:spPr>
      </p:pic>
      <p:sp>
        <p:nvSpPr>
          <p:cNvPr id="925" name="Google Shape;925;p28"/>
          <p:cNvSpPr txBox="1"/>
          <p:nvPr/>
        </p:nvSpPr>
        <p:spPr>
          <a:xfrm>
            <a:off x="685800" y="3246120"/>
            <a:ext cx="370332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00"/>
              <a:buFont typeface="Poppins"/>
              <a:buNone/>
            </a:pPr>
            <a:r>
              <a:rPr b="1" i="0" lang="en-US" sz="6600" u="none" cap="none" strike="noStrike">
                <a:solidFill>
                  <a:srgbClr val="FFFFFF"/>
                </a:solidFill>
                <a:latin typeface="Poppins"/>
                <a:ea typeface="Poppins"/>
                <a:cs typeface="Poppins"/>
                <a:sym typeface="Poppins"/>
              </a:rPr>
              <a:t>£65</a:t>
            </a:r>
            <a:endParaRPr b="0" i="0" sz="6600" u="none" cap="none" strike="noStrike">
              <a:solidFill>
                <a:schemeClr val="dk1"/>
              </a:solidFill>
              <a:latin typeface="Calibri"/>
              <a:ea typeface="Calibri"/>
              <a:cs typeface="Calibri"/>
              <a:sym typeface="Calibri"/>
            </a:endParaRPr>
          </a:p>
        </p:txBody>
      </p:sp>
      <p:sp>
        <p:nvSpPr>
          <p:cNvPr id="926" name="Google Shape;926;p28"/>
          <p:cNvSpPr txBox="1"/>
          <p:nvPr/>
        </p:nvSpPr>
        <p:spPr>
          <a:xfrm>
            <a:off x="685800" y="4206240"/>
            <a:ext cx="3703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E29F"/>
              </a:buClr>
              <a:buSzPts val="1600"/>
              <a:buFont typeface="Poppins"/>
              <a:buNone/>
            </a:pPr>
            <a:r>
              <a:rPr b="1" i="0" lang="en-US" sz="1600" u="none" cap="none" strike="noStrike">
                <a:solidFill>
                  <a:srgbClr val="3BE29F"/>
                </a:solidFill>
                <a:latin typeface="Poppins"/>
                <a:ea typeface="Poppins"/>
                <a:cs typeface="Poppins"/>
                <a:sym typeface="Poppins"/>
              </a:rPr>
              <a:t>per day · combined</a:t>
            </a:r>
            <a:endParaRPr b="0" i="0" sz="1600" u="none" cap="none" strike="noStrike">
              <a:solidFill>
                <a:schemeClr val="dk1"/>
              </a:solidFill>
              <a:latin typeface="Calibri"/>
              <a:ea typeface="Calibri"/>
              <a:cs typeface="Calibri"/>
              <a:sym typeface="Calibri"/>
            </a:endParaRPr>
          </a:p>
        </p:txBody>
      </p:sp>
      <p:cxnSp>
        <p:nvCxnSpPr>
          <p:cNvPr id="927" name="Google Shape;927;p28"/>
          <p:cNvCxnSpPr/>
          <p:nvPr/>
        </p:nvCxnSpPr>
        <p:spPr>
          <a:xfrm>
            <a:off x="1234440" y="4617720"/>
            <a:ext cx="2606040" cy="0"/>
          </a:xfrm>
          <a:prstGeom prst="straightConnector1">
            <a:avLst/>
          </a:prstGeom>
          <a:noFill/>
          <a:ln cap="flat" cmpd="sng" w="12700">
            <a:solidFill>
              <a:srgbClr val="16A879"/>
            </a:solidFill>
            <a:prstDash val="solid"/>
            <a:round/>
            <a:headEnd len="sm" w="sm" type="none"/>
            <a:tailEnd len="sm" w="sm" type="none"/>
          </a:ln>
        </p:spPr>
      </p:cxnSp>
      <p:sp>
        <p:nvSpPr>
          <p:cNvPr id="928" name="Google Shape;928;p28"/>
          <p:cNvSpPr txBox="1"/>
          <p:nvPr/>
        </p:nvSpPr>
        <p:spPr>
          <a:xfrm>
            <a:off x="685800" y="4754880"/>
            <a:ext cx="3703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 £455 / week</a:t>
            </a:r>
            <a:endParaRPr b="0" i="0" sz="1400" u="none" cap="none" strike="noStrike">
              <a:solidFill>
                <a:schemeClr val="dk1"/>
              </a:solidFill>
              <a:latin typeface="Calibri"/>
              <a:ea typeface="Calibri"/>
              <a:cs typeface="Calibri"/>
              <a:sym typeface="Calibri"/>
            </a:endParaRPr>
          </a:p>
        </p:txBody>
      </p:sp>
      <p:sp>
        <p:nvSpPr>
          <p:cNvPr id="929" name="Google Shape;929;p28"/>
          <p:cNvSpPr txBox="1"/>
          <p:nvPr/>
        </p:nvSpPr>
        <p:spPr>
          <a:xfrm>
            <a:off x="685800" y="5102352"/>
            <a:ext cx="3703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 £2,000 / month total budget</a:t>
            </a:r>
            <a:endParaRPr b="0" i="0" sz="1400" u="none" cap="none" strike="noStrike">
              <a:solidFill>
                <a:schemeClr val="dk1"/>
              </a:solidFill>
              <a:latin typeface="Calibri"/>
              <a:ea typeface="Calibri"/>
              <a:cs typeface="Calibri"/>
              <a:sym typeface="Calibri"/>
            </a:endParaRPr>
          </a:p>
        </p:txBody>
      </p:sp>
      <p:sp>
        <p:nvSpPr>
          <p:cNvPr id="930" name="Google Shape;930;p28"/>
          <p:cNvSpPr/>
          <p:nvPr/>
        </p:nvSpPr>
        <p:spPr>
          <a:xfrm>
            <a:off x="4846320" y="2148840"/>
            <a:ext cx="6839712" cy="713232"/>
          </a:xfrm>
          <a:prstGeom prst="roundRect">
            <a:avLst>
              <a:gd fmla="val 10256" name="adj"/>
            </a:avLst>
          </a:prstGeom>
          <a:solidFill>
            <a:srgbClr val="E2F5EF"/>
          </a:solidFill>
          <a:ln cap="flat" cmpd="sng" w="12700">
            <a:solidFill>
              <a:srgbClr val="E2F5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8"/>
          <p:cNvSpPr txBox="1"/>
          <p:nvPr/>
        </p:nvSpPr>
        <p:spPr>
          <a:xfrm>
            <a:off x="5029200" y="2148840"/>
            <a:ext cx="64922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Split 50 / 15:  </a:t>
            </a:r>
            <a:r>
              <a:rPr b="1" i="0" lang="en-US" sz="1250" u="none" cap="none" strike="noStrike">
                <a:solidFill>
                  <a:srgbClr val="2B2E2C"/>
                </a:solidFill>
                <a:latin typeface="Poppins"/>
                <a:ea typeface="Poppins"/>
                <a:cs typeface="Poppins"/>
                <a:sym typeface="Poppins"/>
              </a:rPr>
              <a:t>£50 / day Adult ADHD  ·  £15 / day Child &amp; Teen</a:t>
            </a:r>
            <a:r>
              <a:rPr b="0" i="0" lang="en-US" sz="1250" u="none" cap="none" strike="noStrike">
                <a:solidFill>
                  <a:srgbClr val="2B2E2C"/>
                </a:solidFill>
                <a:latin typeface="Calibri"/>
                <a:ea typeface="Calibri"/>
                <a:cs typeface="Calibri"/>
                <a:sym typeface="Calibri"/>
              </a:rPr>
              <a:t>  —  run as separate campaigns so the adult volume never starves the parents' ad groups.</a:t>
            </a:r>
            <a:endParaRPr b="0" i="0" sz="1250" u="none" cap="none" strike="noStrike">
              <a:solidFill>
                <a:schemeClr val="dk1"/>
              </a:solidFill>
              <a:latin typeface="Calibri"/>
              <a:ea typeface="Calibri"/>
              <a:cs typeface="Calibri"/>
              <a:sym typeface="Calibri"/>
            </a:endParaRPr>
          </a:p>
        </p:txBody>
      </p:sp>
      <p:sp>
        <p:nvSpPr>
          <p:cNvPr id="932" name="Google Shape;932;p28"/>
          <p:cNvSpPr/>
          <p:nvPr/>
        </p:nvSpPr>
        <p:spPr>
          <a:xfrm>
            <a:off x="4846320" y="3017520"/>
            <a:ext cx="6839712" cy="841248"/>
          </a:xfrm>
          <a:prstGeom prst="roundRect">
            <a:avLst>
              <a:gd fmla="val 10870"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8"/>
          <p:cNvSpPr/>
          <p:nvPr/>
        </p:nvSpPr>
        <p:spPr>
          <a:xfrm>
            <a:off x="5029200" y="3200400"/>
            <a:ext cx="457200" cy="45720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earch_white.png" id="934" name="Google Shape;934;p28"/>
          <p:cNvPicPr preferRelativeResize="0"/>
          <p:nvPr/>
        </p:nvPicPr>
        <p:blipFill rotWithShape="1">
          <a:blip r:embed="rId4">
            <a:alphaModFix/>
          </a:blip>
          <a:srcRect b="0" l="0" r="0" t="0"/>
          <a:stretch/>
        </p:blipFill>
        <p:spPr>
          <a:xfrm>
            <a:off x="5138928" y="3310128"/>
            <a:ext cx="237744" cy="237744"/>
          </a:xfrm>
          <a:prstGeom prst="rect">
            <a:avLst/>
          </a:prstGeom>
          <a:noFill/>
          <a:ln>
            <a:noFill/>
          </a:ln>
        </p:spPr>
      </p:pic>
      <p:sp>
        <p:nvSpPr>
          <p:cNvPr id="935" name="Google Shape;935;p28"/>
          <p:cNvSpPr txBox="1"/>
          <p:nvPr/>
        </p:nvSpPr>
        <p:spPr>
          <a:xfrm>
            <a:off x="5623560" y="3108960"/>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Phase 1 — Search first (months 1–3)</a:t>
            </a:r>
            <a:endParaRPr b="0" i="0" sz="1350" u="none" cap="none" strike="noStrike">
              <a:solidFill>
                <a:schemeClr val="dk1"/>
              </a:solidFill>
              <a:latin typeface="Calibri"/>
              <a:ea typeface="Calibri"/>
              <a:cs typeface="Calibri"/>
              <a:sym typeface="Calibri"/>
            </a:endParaRPr>
          </a:p>
        </p:txBody>
      </p:sp>
      <p:sp>
        <p:nvSpPr>
          <p:cNvPr id="936" name="Google Shape;936;p28"/>
          <p:cNvSpPr txBox="1"/>
          <p:nvPr/>
        </p:nvSpPr>
        <p:spPr>
          <a:xfrm>
            <a:off x="5623560" y="3383280"/>
            <a:ext cx="5897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£65/day launches on Google Search across the two campaigns on the new landing pages, while we gather conversion data, mine search terms and build Quality Score.</a:t>
            </a:r>
            <a:endParaRPr b="0" i="0" sz="950" u="none" cap="none" strike="noStrike">
              <a:solidFill>
                <a:schemeClr val="dk1"/>
              </a:solidFill>
              <a:latin typeface="Calibri"/>
              <a:ea typeface="Calibri"/>
              <a:cs typeface="Calibri"/>
              <a:sym typeface="Calibri"/>
            </a:endParaRPr>
          </a:p>
        </p:txBody>
      </p:sp>
      <p:sp>
        <p:nvSpPr>
          <p:cNvPr id="937" name="Google Shape;937;p28"/>
          <p:cNvSpPr/>
          <p:nvPr/>
        </p:nvSpPr>
        <p:spPr>
          <a:xfrm>
            <a:off x="4846320" y="3977640"/>
            <a:ext cx="6839712" cy="841248"/>
          </a:xfrm>
          <a:prstGeom prst="roundRect">
            <a:avLst>
              <a:gd fmla="val 10870"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8"/>
          <p:cNvSpPr/>
          <p:nvPr/>
        </p:nvSpPr>
        <p:spPr>
          <a:xfrm>
            <a:off x="5029200" y="4160520"/>
            <a:ext cx="457200" cy="45720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chart_white.png" id="939" name="Google Shape;939;p28"/>
          <p:cNvPicPr preferRelativeResize="0"/>
          <p:nvPr/>
        </p:nvPicPr>
        <p:blipFill rotWithShape="1">
          <a:blip r:embed="rId5">
            <a:alphaModFix/>
          </a:blip>
          <a:srcRect b="0" l="0" r="0" t="0"/>
          <a:stretch/>
        </p:blipFill>
        <p:spPr>
          <a:xfrm>
            <a:off x="5138928" y="4270248"/>
            <a:ext cx="237744" cy="237744"/>
          </a:xfrm>
          <a:prstGeom prst="rect">
            <a:avLst/>
          </a:prstGeom>
          <a:noFill/>
          <a:ln>
            <a:noFill/>
          </a:ln>
        </p:spPr>
      </p:pic>
      <p:sp>
        <p:nvSpPr>
          <p:cNvPr id="940" name="Google Shape;940;p28"/>
          <p:cNvSpPr txBox="1"/>
          <p:nvPr/>
        </p:nvSpPr>
        <p:spPr>
          <a:xfrm>
            <a:off x="5623560" y="4069080"/>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Phase 2 — Scale what works (months 4–6)</a:t>
            </a:r>
            <a:endParaRPr b="0" i="0" sz="1350" u="none" cap="none" strike="noStrike">
              <a:solidFill>
                <a:schemeClr val="dk1"/>
              </a:solidFill>
              <a:latin typeface="Calibri"/>
              <a:ea typeface="Calibri"/>
              <a:cs typeface="Calibri"/>
              <a:sym typeface="Calibri"/>
            </a:endParaRPr>
          </a:p>
        </p:txBody>
      </p:sp>
      <p:sp>
        <p:nvSpPr>
          <p:cNvPr id="941" name="Google Shape;941;p28"/>
          <p:cNvSpPr txBox="1"/>
          <p:nvPr/>
        </p:nvSpPr>
        <p:spPr>
          <a:xfrm>
            <a:off x="5623560" y="4343400"/>
            <a:ext cx="5897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From month 4 we add Performance Max with incremental budget, feeding in Search conversion data and assessing results per campaign.</a:t>
            </a:r>
            <a:endParaRPr b="0" i="0" sz="950" u="none" cap="none" strike="noStrike">
              <a:solidFill>
                <a:schemeClr val="dk1"/>
              </a:solidFill>
              <a:latin typeface="Calibri"/>
              <a:ea typeface="Calibri"/>
              <a:cs typeface="Calibri"/>
              <a:sym typeface="Calibri"/>
            </a:endParaRPr>
          </a:p>
        </p:txBody>
      </p:sp>
      <p:sp>
        <p:nvSpPr>
          <p:cNvPr id="942" name="Google Shape;942;p28"/>
          <p:cNvSpPr/>
          <p:nvPr/>
        </p:nvSpPr>
        <p:spPr>
          <a:xfrm>
            <a:off x="4846320" y="4937760"/>
            <a:ext cx="6839712" cy="841248"/>
          </a:xfrm>
          <a:prstGeom prst="roundRect">
            <a:avLst>
              <a:gd fmla="val 10870"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8"/>
          <p:cNvSpPr/>
          <p:nvPr/>
        </p:nvSpPr>
        <p:spPr>
          <a:xfrm>
            <a:off x="5029200" y="5120640"/>
            <a:ext cx="457200" cy="45720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liders_white.png" id="944" name="Google Shape;944;p28"/>
          <p:cNvPicPr preferRelativeResize="0"/>
          <p:nvPr/>
        </p:nvPicPr>
        <p:blipFill rotWithShape="1">
          <a:blip r:embed="rId6">
            <a:alphaModFix/>
          </a:blip>
          <a:srcRect b="0" l="0" r="0" t="0"/>
          <a:stretch/>
        </p:blipFill>
        <p:spPr>
          <a:xfrm>
            <a:off x="5138928" y="5230368"/>
            <a:ext cx="237744" cy="237744"/>
          </a:xfrm>
          <a:prstGeom prst="rect">
            <a:avLst/>
          </a:prstGeom>
          <a:noFill/>
          <a:ln>
            <a:noFill/>
          </a:ln>
        </p:spPr>
      </p:pic>
      <p:sp>
        <p:nvSpPr>
          <p:cNvPr id="945" name="Google Shape;945;p28"/>
          <p:cNvSpPr txBox="1"/>
          <p:nvPr/>
        </p:nvSpPr>
        <p:spPr>
          <a:xfrm>
            <a:off x="5623560" y="5029200"/>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Flexible reallocation</a:t>
            </a:r>
            <a:endParaRPr b="0" i="0" sz="1350" u="none" cap="none" strike="noStrike">
              <a:solidFill>
                <a:schemeClr val="dk1"/>
              </a:solidFill>
              <a:latin typeface="Calibri"/>
              <a:ea typeface="Calibri"/>
              <a:cs typeface="Calibri"/>
              <a:sym typeface="Calibri"/>
            </a:endParaRPr>
          </a:p>
        </p:txBody>
      </p:sp>
      <p:sp>
        <p:nvSpPr>
          <p:cNvPr id="946" name="Google Shape;946;p28"/>
          <p:cNvSpPr txBox="1"/>
          <p:nvPr/>
        </p:nvSpPr>
        <p:spPr>
          <a:xfrm>
            <a:off x="5623560" y="5303520"/>
            <a:ext cx="5897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950"/>
              <a:buFont typeface="Calibri"/>
              <a:buNone/>
            </a:pPr>
            <a:r>
              <a:rPr b="0" i="0" lang="en-US" sz="950" u="none" cap="none" strike="noStrike">
                <a:solidFill>
                  <a:srgbClr val="6E7873"/>
                </a:solidFill>
                <a:latin typeface="Calibri"/>
                <a:ea typeface="Calibri"/>
                <a:cs typeface="Calibri"/>
                <a:sym typeface="Calibri"/>
              </a:rPr>
              <a:t>Budget shifts between Adult, Child &amp; Teen, Search and PMax to chase the strongest cost per enquiry — adult has the volume, child has the higher fee.</a:t>
            </a:r>
            <a:endParaRPr b="0" i="0" sz="950" u="none" cap="none" strike="noStrike">
              <a:solidFill>
                <a:schemeClr val="dk1"/>
              </a:solidFill>
              <a:latin typeface="Calibri"/>
              <a:ea typeface="Calibri"/>
              <a:cs typeface="Calibri"/>
              <a:sym typeface="Calibri"/>
            </a:endParaRPr>
          </a:p>
        </p:txBody>
      </p:sp>
      <p:sp>
        <p:nvSpPr>
          <p:cNvPr id="947" name="Google Shape;947;p28"/>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29"/>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Setup</a:t>
            </a:r>
            <a:endParaRPr b="0" i="0" sz="1500" u="none" cap="none" strike="noStrike">
              <a:solidFill>
                <a:schemeClr val="dk1"/>
              </a:solidFill>
              <a:latin typeface="Calibri"/>
              <a:ea typeface="Calibri"/>
              <a:cs typeface="Calibri"/>
              <a:sym typeface="Calibri"/>
            </a:endParaRPr>
          </a:p>
        </p:txBody>
      </p:sp>
      <p:sp>
        <p:nvSpPr>
          <p:cNvPr id="954" name="Google Shape;954;p29"/>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IMPLEMENTATION</a:t>
            </a:r>
            <a:endParaRPr b="0" i="0" sz="1250" u="none" cap="none" strike="noStrike">
              <a:solidFill>
                <a:schemeClr val="dk1"/>
              </a:solidFill>
              <a:latin typeface="Calibri"/>
              <a:ea typeface="Calibri"/>
              <a:cs typeface="Calibri"/>
              <a:sym typeface="Calibri"/>
            </a:endParaRPr>
          </a:p>
        </p:txBody>
      </p:sp>
      <p:sp>
        <p:nvSpPr>
          <p:cNvPr id="955" name="Google Shape;955;p29"/>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Search Campaign Setup Checklist</a:t>
            </a:r>
            <a:endParaRPr b="0" i="0" sz="3300" u="none" cap="none" strike="noStrike">
              <a:solidFill>
                <a:schemeClr val="dk1"/>
              </a:solidFill>
              <a:latin typeface="Calibri"/>
              <a:ea typeface="Calibri"/>
              <a:cs typeface="Calibri"/>
              <a:sym typeface="Calibri"/>
            </a:endParaRPr>
          </a:p>
        </p:txBody>
      </p:sp>
      <p:sp>
        <p:nvSpPr>
          <p:cNvPr id="956" name="Google Shape;956;p29"/>
          <p:cNvSpPr txBox="1"/>
          <p:nvPr/>
        </p:nvSpPr>
        <p:spPr>
          <a:xfrm>
            <a:off x="502920" y="1993392"/>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Campaigns:  </a:t>
            </a:r>
            <a:r>
              <a:rPr b="1" i="0" lang="en-US" sz="1250" u="none" cap="none" strike="noStrike">
                <a:solidFill>
                  <a:srgbClr val="2B2E2C"/>
                </a:solidFill>
                <a:latin typeface="Poppins"/>
                <a:ea typeface="Poppins"/>
                <a:cs typeface="Poppins"/>
                <a:sym typeface="Poppins"/>
              </a:rPr>
              <a:t>OMD – Search – Adult ADHD   ·   OMD – Search – Child &amp; Teen ADHD</a:t>
            </a:r>
            <a:endParaRPr b="0" i="0" sz="1250" u="none" cap="none" strike="noStrike">
              <a:solidFill>
                <a:schemeClr val="dk1"/>
              </a:solidFill>
              <a:latin typeface="Calibri"/>
              <a:ea typeface="Calibri"/>
              <a:cs typeface="Calibri"/>
              <a:sym typeface="Calibri"/>
            </a:endParaRPr>
          </a:p>
        </p:txBody>
      </p:sp>
      <p:sp>
        <p:nvSpPr>
          <p:cNvPr id="957" name="Google Shape;957;p29"/>
          <p:cNvSpPr/>
          <p:nvPr/>
        </p:nvSpPr>
        <p:spPr>
          <a:xfrm>
            <a:off x="502920" y="2560320"/>
            <a:ext cx="5440680" cy="1691640"/>
          </a:xfrm>
          <a:prstGeom prst="roundRect">
            <a:avLst>
              <a:gd fmla="val 5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9"/>
          <p:cNvSpPr/>
          <p:nvPr/>
        </p:nvSpPr>
        <p:spPr>
          <a:xfrm>
            <a:off x="777240" y="2779776"/>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checklist_white.png" id="959" name="Google Shape;959;p29"/>
          <p:cNvPicPr preferRelativeResize="0"/>
          <p:nvPr/>
        </p:nvPicPr>
        <p:blipFill rotWithShape="1">
          <a:blip r:embed="rId3">
            <a:alphaModFix/>
          </a:blip>
          <a:srcRect b="0" l="0" r="0" t="0"/>
          <a:stretch/>
        </p:blipFill>
        <p:spPr>
          <a:xfrm>
            <a:off x="914400" y="2916936"/>
            <a:ext cx="274320" cy="274320"/>
          </a:xfrm>
          <a:prstGeom prst="rect">
            <a:avLst/>
          </a:prstGeom>
          <a:noFill/>
          <a:ln>
            <a:noFill/>
          </a:ln>
        </p:spPr>
      </p:pic>
      <p:sp>
        <p:nvSpPr>
          <p:cNvPr id="960" name="Google Shape;960;p29"/>
          <p:cNvSpPr txBox="1"/>
          <p:nvPr/>
        </p:nvSpPr>
        <p:spPr>
          <a:xfrm>
            <a:off x="1453896" y="2779776"/>
            <a:ext cx="4297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1 · New Campaign</a:t>
            </a:r>
            <a:endParaRPr b="0" i="0" sz="1500" u="none" cap="none" strike="noStrike">
              <a:solidFill>
                <a:schemeClr val="dk1"/>
              </a:solidFill>
              <a:latin typeface="Calibri"/>
              <a:ea typeface="Calibri"/>
              <a:cs typeface="Calibri"/>
              <a:sym typeface="Calibri"/>
            </a:endParaRPr>
          </a:p>
        </p:txBody>
      </p:sp>
      <p:sp>
        <p:nvSpPr>
          <p:cNvPr id="961" name="Google Shape;961;p29"/>
          <p:cNvSpPr txBox="1"/>
          <p:nvPr/>
        </p:nvSpPr>
        <p:spPr>
          <a:xfrm>
            <a:off x="813816" y="3383280"/>
            <a:ext cx="4892040" cy="8229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Goal: Leads · Type: Search</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One campaign per audience: Adult · Child &amp; Teen</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Networks: untick Display &amp; Search partners</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Campaign names: OMD – Search – Adult ADHD / Child &amp; Teen ADHD</a:t>
            </a:r>
            <a:endParaRPr b="0" i="0" sz="1000" u="none" cap="none" strike="noStrike">
              <a:solidFill>
                <a:schemeClr val="dk1"/>
              </a:solidFill>
              <a:latin typeface="Calibri"/>
              <a:ea typeface="Calibri"/>
              <a:cs typeface="Calibri"/>
              <a:sym typeface="Calibri"/>
            </a:endParaRPr>
          </a:p>
        </p:txBody>
      </p:sp>
      <p:sp>
        <p:nvSpPr>
          <p:cNvPr id="962" name="Google Shape;962;p29"/>
          <p:cNvSpPr/>
          <p:nvPr/>
        </p:nvSpPr>
        <p:spPr>
          <a:xfrm>
            <a:off x="6245352" y="2560320"/>
            <a:ext cx="5440680" cy="1691640"/>
          </a:xfrm>
          <a:prstGeom prst="roundRect">
            <a:avLst>
              <a:gd fmla="val 5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9"/>
          <p:cNvSpPr/>
          <p:nvPr/>
        </p:nvSpPr>
        <p:spPr>
          <a:xfrm>
            <a:off x="6519672" y="2779776"/>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gear_white.png" id="964" name="Google Shape;964;p29"/>
          <p:cNvPicPr preferRelativeResize="0"/>
          <p:nvPr/>
        </p:nvPicPr>
        <p:blipFill rotWithShape="1">
          <a:blip r:embed="rId4">
            <a:alphaModFix/>
          </a:blip>
          <a:srcRect b="0" l="0" r="0" t="0"/>
          <a:stretch/>
        </p:blipFill>
        <p:spPr>
          <a:xfrm>
            <a:off x="6656832" y="2916936"/>
            <a:ext cx="274320" cy="274320"/>
          </a:xfrm>
          <a:prstGeom prst="rect">
            <a:avLst/>
          </a:prstGeom>
          <a:noFill/>
          <a:ln>
            <a:noFill/>
          </a:ln>
        </p:spPr>
      </p:pic>
      <p:sp>
        <p:nvSpPr>
          <p:cNvPr id="965" name="Google Shape;965;p29"/>
          <p:cNvSpPr txBox="1"/>
          <p:nvPr/>
        </p:nvSpPr>
        <p:spPr>
          <a:xfrm>
            <a:off x="7196328" y="2779776"/>
            <a:ext cx="4297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2 · Campaign Settings</a:t>
            </a:r>
            <a:endParaRPr b="0" i="0" sz="1500" u="none" cap="none" strike="noStrike">
              <a:solidFill>
                <a:schemeClr val="dk1"/>
              </a:solidFill>
              <a:latin typeface="Calibri"/>
              <a:ea typeface="Calibri"/>
              <a:cs typeface="Calibri"/>
              <a:sym typeface="Calibri"/>
            </a:endParaRPr>
          </a:p>
        </p:txBody>
      </p:sp>
      <p:sp>
        <p:nvSpPr>
          <p:cNvPr id="966" name="Google Shape;966;p29"/>
          <p:cNvSpPr txBox="1"/>
          <p:nvPr/>
        </p:nvSpPr>
        <p:spPr>
          <a:xfrm>
            <a:off x="6556248" y="3383280"/>
            <a:ext cx="4892040" cy="8229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Location: North West England · Presence only</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Greater Manchester: +20% bid adjustment</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Language: English · Budgets: £50 / £15 per day</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AI Max OFF · Bidding: Maximise Conversions → tCPA at ~30 conv.</a:t>
            </a:r>
            <a:endParaRPr b="0" i="0" sz="1000" u="none" cap="none" strike="noStrike">
              <a:solidFill>
                <a:schemeClr val="dk1"/>
              </a:solidFill>
              <a:latin typeface="Calibri"/>
              <a:ea typeface="Calibri"/>
              <a:cs typeface="Calibri"/>
              <a:sym typeface="Calibri"/>
            </a:endParaRPr>
          </a:p>
        </p:txBody>
      </p:sp>
      <p:sp>
        <p:nvSpPr>
          <p:cNvPr id="967" name="Google Shape;967;p29"/>
          <p:cNvSpPr/>
          <p:nvPr/>
        </p:nvSpPr>
        <p:spPr>
          <a:xfrm>
            <a:off x="502920" y="4434840"/>
            <a:ext cx="5440680" cy="1691640"/>
          </a:xfrm>
          <a:prstGeom prst="roundRect">
            <a:avLst>
              <a:gd fmla="val 5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9"/>
          <p:cNvSpPr/>
          <p:nvPr/>
        </p:nvSpPr>
        <p:spPr>
          <a:xfrm>
            <a:off x="777240" y="4654296"/>
            <a:ext cx="548640" cy="548640"/>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key_white.png" id="969" name="Google Shape;969;p29"/>
          <p:cNvPicPr preferRelativeResize="0"/>
          <p:nvPr/>
        </p:nvPicPr>
        <p:blipFill rotWithShape="1">
          <a:blip r:embed="rId5">
            <a:alphaModFix/>
          </a:blip>
          <a:srcRect b="0" l="0" r="0" t="0"/>
          <a:stretch/>
        </p:blipFill>
        <p:spPr>
          <a:xfrm>
            <a:off x="914400" y="4791456"/>
            <a:ext cx="274320" cy="274320"/>
          </a:xfrm>
          <a:prstGeom prst="rect">
            <a:avLst/>
          </a:prstGeom>
          <a:noFill/>
          <a:ln>
            <a:noFill/>
          </a:ln>
        </p:spPr>
      </p:pic>
      <p:sp>
        <p:nvSpPr>
          <p:cNvPr id="970" name="Google Shape;970;p29"/>
          <p:cNvSpPr txBox="1"/>
          <p:nvPr/>
        </p:nvSpPr>
        <p:spPr>
          <a:xfrm>
            <a:off x="1453896" y="4654296"/>
            <a:ext cx="4297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3 · Ad Groups &amp; Keywords</a:t>
            </a:r>
            <a:endParaRPr b="0" i="0" sz="1500" u="none" cap="none" strike="noStrike">
              <a:solidFill>
                <a:schemeClr val="dk1"/>
              </a:solidFill>
              <a:latin typeface="Calibri"/>
              <a:ea typeface="Calibri"/>
              <a:cs typeface="Calibri"/>
              <a:sym typeface="Calibri"/>
            </a:endParaRPr>
          </a:p>
        </p:txBody>
      </p:sp>
      <p:sp>
        <p:nvSpPr>
          <p:cNvPr id="971" name="Google Shape;971;p29"/>
          <p:cNvSpPr txBox="1"/>
          <p:nvPr/>
        </p:nvSpPr>
        <p:spPr>
          <a:xfrm>
            <a:off x="813816" y="5257800"/>
            <a:ext cx="4892040" cy="8229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Match types: Exact + Phrase (no broad at launch)</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10 adult ad groups · 4 child &amp; teen ad groups</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Per-campaign negative lists + cross-age negatives</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Conversions: booking form, consultation, calls ≥60s (primary)</a:t>
            </a:r>
            <a:endParaRPr b="0" i="0" sz="1000" u="none" cap="none" strike="noStrike">
              <a:solidFill>
                <a:schemeClr val="dk1"/>
              </a:solidFill>
              <a:latin typeface="Calibri"/>
              <a:ea typeface="Calibri"/>
              <a:cs typeface="Calibri"/>
              <a:sym typeface="Calibri"/>
            </a:endParaRPr>
          </a:p>
        </p:txBody>
      </p:sp>
      <p:sp>
        <p:nvSpPr>
          <p:cNvPr id="972" name="Google Shape;972;p29"/>
          <p:cNvSpPr/>
          <p:nvPr/>
        </p:nvSpPr>
        <p:spPr>
          <a:xfrm>
            <a:off x="6245352" y="4434840"/>
            <a:ext cx="5440680" cy="1691640"/>
          </a:xfrm>
          <a:prstGeom prst="roundRect">
            <a:avLst>
              <a:gd fmla="val 5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9"/>
          <p:cNvSpPr/>
          <p:nvPr/>
        </p:nvSpPr>
        <p:spPr>
          <a:xfrm>
            <a:off x="6519672" y="4654296"/>
            <a:ext cx="548640" cy="54864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puzzle_white.png" id="974" name="Google Shape;974;p29"/>
          <p:cNvPicPr preferRelativeResize="0"/>
          <p:nvPr/>
        </p:nvPicPr>
        <p:blipFill rotWithShape="1">
          <a:blip r:embed="rId6">
            <a:alphaModFix/>
          </a:blip>
          <a:srcRect b="0" l="0" r="0" t="0"/>
          <a:stretch/>
        </p:blipFill>
        <p:spPr>
          <a:xfrm>
            <a:off x="6656832" y="4791456"/>
            <a:ext cx="274320" cy="274320"/>
          </a:xfrm>
          <a:prstGeom prst="rect">
            <a:avLst/>
          </a:prstGeom>
          <a:noFill/>
          <a:ln>
            <a:noFill/>
          </a:ln>
        </p:spPr>
      </p:pic>
      <p:sp>
        <p:nvSpPr>
          <p:cNvPr id="975" name="Google Shape;975;p29"/>
          <p:cNvSpPr txBox="1"/>
          <p:nvPr/>
        </p:nvSpPr>
        <p:spPr>
          <a:xfrm>
            <a:off x="7196328" y="4654296"/>
            <a:ext cx="4297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4 · Ad Extensions &amp; Devices</a:t>
            </a:r>
            <a:endParaRPr b="0" i="0" sz="1500" u="none" cap="none" strike="noStrike">
              <a:solidFill>
                <a:schemeClr val="dk1"/>
              </a:solidFill>
              <a:latin typeface="Calibri"/>
              <a:ea typeface="Calibri"/>
              <a:cs typeface="Calibri"/>
              <a:sym typeface="Calibri"/>
            </a:endParaRPr>
          </a:p>
        </p:txBody>
      </p:sp>
      <p:sp>
        <p:nvSpPr>
          <p:cNvPr id="976" name="Google Shape;976;p29"/>
          <p:cNvSpPr txBox="1"/>
          <p:nvPr/>
        </p:nvSpPr>
        <p:spPr>
          <a:xfrm>
            <a:off x="6556248" y="5257800"/>
            <a:ext cx="4892040" cy="8229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Sitelinks · Callouts · Structured snippets · Price</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Call asset with call reporting (clinic number)</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Logo · Business name: Refocus The Brain Hub</a:t>
            </a:r>
            <a:endParaRPr b="0" i="0" sz="1000" u="none" cap="none" strike="noStrike">
              <a:solidFill>
                <a:schemeClr val="dk1"/>
              </a:solidFill>
              <a:latin typeface="Calibri"/>
              <a:ea typeface="Calibri"/>
              <a:cs typeface="Calibri"/>
              <a:sym typeface="Calibri"/>
            </a:endParaRPr>
          </a:p>
          <a:p>
            <a:pPr indent="-152400" lvl="0" marL="152400" marR="0" rtl="0" algn="l">
              <a:spcBef>
                <a:spcPts val="1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All devices (95% mobile in legacy) · no lead-form asset at launch</a:t>
            </a:r>
            <a:endParaRPr b="0" i="0" sz="1000" u="none" cap="none" strike="noStrike">
              <a:solidFill>
                <a:schemeClr val="dk1"/>
              </a:solidFill>
              <a:latin typeface="Calibri"/>
              <a:ea typeface="Calibri"/>
              <a:cs typeface="Calibri"/>
              <a:sym typeface="Calibri"/>
            </a:endParaRPr>
          </a:p>
        </p:txBody>
      </p:sp>
      <p:sp>
        <p:nvSpPr>
          <p:cNvPr id="977" name="Google Shape;977;p29"/>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30"/>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Extensions</a:t>
            </a:r>
            <a:endParaRPr b="0" i="0" sz="1500" u="none" cap="none" strike="noStrike">
              <a:solidFill>
                <a:schemeClr val="dk1"/>
              </a:solidFill>
              <a:latin typeface="Calibri"/>
              <a:ea typeface="Calibri"/>
              <a:cs typeface="Calibri"/>
              <a:sym typeface="Calibri"/>
            </a:endParaRPr>
          </a:p>
        </p:txBody>
      </p:sp>
      <p:sp>
        <p:nvSpPr>
          <p:cNvPr id="984" name="Google Shape;984;p30"/>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ASSETS &amp; SETUP</a:t>
            </a:r>
            <a:endParaRPr b="0" i="0" sz="1250" u="none" cap="none" strike="noStrike">
              <a:solidFill>
                <a:schemeClr val="dk1"/>
              </a:solidFill>
              <a:latin typeface="Calibri"/>
              <a:ea typeface="Calibri"/>
              <a:cs typeface="Calibri"/>
              <a:sym typeface="Calibri"/>
            </a:endParaRPr>
          </a:p>
        </p:txBody>
      </p:sp>
      <p:sp>
        <p:nvSpPr>
          <p:cNvPr id="985" name="Google Shape;985;p30"/>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Ad Extensions &amp; Assets</a:t>
            </a:r>
            <a:endParaRPr b="0" i="0" sz="3300" u="none" cap="none" strike="noStrike">
              <a:solidFill>
                <a:schemeClr val="dk1"/>
              </a:solidFill>
              <a:latin typeface="Calibri"/>
              <a:ea typeface="Calibri"/>
              <a:cs typeface="Calibri"/>
              <a:sym typeface="Calibri"/>
            </a:endParaRPr>
          </a:p>
        </p:txBody>
      </p:sp>
      <p:sp>
        <p:nvSpPr>
          <p:cNvPr id="986" name="Google Shape;986;p30"/>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Ad assets expand ads with extra links, info, prices and calls to action — lifting CTR and Ad Rank at no extra cost. Add every relevant asset at campaign level, per campaign, with age-appropriate sitelinks and prices for each.</a:t>
            </a:r>
            <a:endParaRPr b="0" i="0" sz="1350" u="none" cap="none" strike="noStrike">
              <a:solidFill>
                <a:schemeClr val="dk1"/>
              </a:solidFill>
              <a:latin typeface="Calibri"/>
              <a:ea typeface="Calibri"/>
              <a:cs typeface="Calibri"/>
              <a:sym typeface="Calibri"/>
            </a:endParaRPr>
          </a:p>
        </p:txBody>
      </p:sp>
      <p:sp>
        <p:nvSpPr>
          <p:cNvPr id="987" name="Google Shape;987;p30"/>
          <p:cNvSpPr/>
          <p:nvPr/>
        </p:nvSpPr>
        <p:spPr>
          <a:xfrm>
            <a:off x="502920" y="2560320"/>
            <a:ext cx="3611880" cy="1645920"/>
          </a:xfrm>
          <a:prstGeom prst="roundRect">
            <a:avLst>
              <a:gd fmla="val 555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0"/>
          <p:cNvSpPr/>
          <p:nvPr/>
        </p:nvSpPr>
        <p:spPr>
          <a:xfrm>
            <a:off x="731520" y="2743200"/>
            <a:ext cx="475488" cy="47548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link_white.png" id="989" name="Google Shape;989;p30"/>
          <p:cNvPicPr preferRelativeResize="0"/>
          <p:nvPr/>
        </p:nvPicPr>
        <p:blipFill rotWithShape="1">
          <a:blip r:embed="rId3">
            <a:alphaModFix/>
          </a:blip>
          <a:srcRect b="0" l="0" r="0" t="0"/>
          <a:stretch/>
        </p:blipFill>
        <p:spPr>
          <a:xfrm>
            <a:off x="841248" y="2852928"/>
            <a:ext cx="256032" cy="256032"/>
          </a:xfrm>
          <a:prstGeom prst="rect">
            <a:avLst/>
          </a:prstGeom>
          <a:noFill/>
          <a:ln>
            <a:noFill/>
          </a:ln>
        </p:spPr>
      </p:pic>
      <p:sp>
        <p:nvSpPr>
          <p:cNvPr id="990" name="Google Shape;990;p30"/>
          <p:cNvSpPr txBox="1"/>
          <p:nvPr/>
        </p:nvSpPr>
        <p:spPr>
          <a:xfrm>
            <a:off x="1325880" y="2743200"/>
            <a:ext cx="2651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Sitelinks</a:t>
            </a:r>
            <a:endParaRPr b="0" i="0" sz="1350" u="none" cap="none" strike="noStrike">
              <a:solidFill>
                <a:schemeClr val="dk1"/>
              </a:solidFill>
              <a:latin typeface="Calibri"/>
              <a:ea typeface="Calibri"/>
              <a:cs typeface="Calibri"/>
              <a:sym typeface="Calibri"/>
            </a:endParaRPr>
          </a:p>
        </p:txBody>
      </p:sp>
      <p:sp>
        <p:nvSpPr>
          <p:cNvPr id="991" name="Google Shape;991;p30"/>
          <p:cNvSpPr txBox="1"/>
          <p:nvPr/>
        </p:nvSpPr>
        <p:spPr>
          <a:xfrm>
            <a:off x="758952" y="3291840"/>
            <a:ext cx="320040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Adult ADHD Assessment</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Child &amp; Teen ADHD Assessment</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Prices &amp; What's Included</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Free 15-Minute Consultation</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Meet the Consultant</a:t>
            </a:r>
            <a:endParaRPr b="0" i="0" sz="950" u="none" cap="none" strike="noStrike">
              <a:solidFill>
                <a:schemeClr val="dk1"/>
              </a:solidFill>
              <a:latin typeface="Calibri"/>
              <a:ea typeface="Calibri"/>
              <a:cs typeface="Calibri"/>
              <a:sym typeface="Calibri"/>
            </a:endParaRPr>
          </a:p>
        </p:txBody>
      </p:sp>
      <p:sp>
        <p:nvSpPr>
          <p:cNvPr id="992" name="Google Shape;992;p30"/>
          <p:cNvSpPr/>
          <p:nvPr/>
        </p:nvSpPr>
        <p:spPr>
          <a:xfrm>
            <a:off x="4288536" y="2560320"/>
            <a:ext cx="3611880" cy="1645920"/>
          </a:xfrm>
          <a:prstGeom prst="roundRect">
            <a:avLst>
              <a:gd fmla="val 555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0"/>
          <p:cNvSpPr/>
          <p:nvPr/>
        </p:nvSpPr>
        <p:spPr>
          <a:xfrm>
            <a:off x="4517136" y="2743200"/>
            <a:ext cx="475488" cy="475488"/>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bullhorn_white.png" id="994" name="Google Shape;994;p30"/>
          <p:cNvPicPr preferRelativeResize="0"/>
          <p:nvPr/>
        </p:nvPicPr>
        <p:blipFill rotWithShape="1">
          <a:blip r:embed="rId4">
            <a:alphaModFix/>
          </a:blip>
          <a:srcRect b="0" l="0" r="0" t="0"/>
          <a:stretch/>
        </p:blipFill>
        <p:spPr>
          <a:xfrm>
            <a:off x="4626864" y="2852928"/>
            <a:ext cx="256032" cy="256032"/>
          </a:xfrm>
          <a:prstGeom prst="rect">
            <a:avLst/>
          </a:prstGeom>
          <a:noFill/>
          <a:ln>
            <a:noFill/>
          </a:ln>
        </p:spPr>
      </p:pic>
      <p:sp>
        <p:nvSpPr>
          <p:cNvPr id="995" name="Google Shape;995;p30"/>
          <p:cNvSpPr txBox="1"/>
          <p:nvPr/>
        </p:nvSpPr>
        <p:spPr>
          <a:xfrm>
            <a:off x="5111496" y="2743200"/>
            <a:ext cx="2651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Callouts</a:t>
            </a:r>
            <a:endParaRPr b="0" i="0" sz="1350" u="none" cap="none" strike="noStrike">
              <a:solidFill>
                <a:schemeClr val="dk1"/>
              </a:solidFill>
              <a:latin typeface="Calibri"/>
              <a:ea typeface="Calibri"/>
              <a:cs typeface="Calibri"/>
              <a:sym typeface="Calibri"/>
            </a:endParaRPr>
          </a:p>
        </p:txBody>
      </p:sp>
      <p:sp>
        <p:nvSpPr>
          <p:cNvPr id="996" name="Google Shape;996;p30"/>
          <p:cNvSpPr txBox="1"/>
          <p:nvPr/>
        </p:nvSpPr>
        <p:spPr>
          <a:xfrm>
            <a:off x="4544568" y="3291840"/>
            <a:ext cx="320040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Consultant psychiatrist-led</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GMC registered · MRCPsych</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NICE-compliant · DIVA-5</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Online or Manchester clinic</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No GP referral needed</a:t>
            </a:r>
            <a:endParaRPr b="0" i="0" sz="950" u="none" cap="none" strike="noStrike">
              <a:solidFill>
                <a:schemeClr val="dk1"/>
              </a:solidFill>
              <a:latin typeface="Calibri"/>
              <a:ea typeface="Calibri"/>
              <a:cs typeface="Calibri"/>
              <a:sym typeface="Calibri"/>
            </a:endParaRPr>
          </a:p>
        </p:txBody>
      </p:sp>
      <p:sp>
        <p:nvSpPr>
          <p:cNvPr id="997" name="Google Shape;997;p30"/>
          <p:cNvSpPr/>
          <p:nvPr/>
        </p:nvSpPr>
        <p:spPr>
          <a:xfrm>
            <a:off x="8074152" y="2560320"/>
            <a:ext cx="3611880" cy="1645920"/>
          </a:xfrm>
          <a:prstGeom prst="roundRect">
            <a:avLst>
              <a:gd fmla="val 555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0"/>
          <p:cNvSpPr/>
          <p:nvPr/>
        </p:nvSpPr>
        <p:spPr>
          <a:xfrm>
            <a:off x="8302752" y="2743200"/>
            <a:ext cx="475488" cy="47548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phone_white.png" id="999" name="Google Shape;999;p30"/>
          <p:cNvPicPr preferRelativeResize="0"/>
          <p:nvPr/>
        </p:nvPicPr>
        <p:blipFill rotWithShape="1">
          <a:blip r:embed="rId5">
            <a:alphaModFix/>
          </a:blip>
          <a:srcRect b="0" l="0" r="0" t="0"/>
          <a:stretch/>
        </p:blipFill>
        <p:spPr>
          <a:xfrm>
            <a:off x="8412480" y="2852928"/>
            <a:ext cx="256032" cy="256032"/>
          </a:xfrm>
          <a:prstGeom prst="rect">
            <a:avLst/>
          </a:prstGeom>
          <a:noFill/>
          <a:ln>
            <a:noFill/>
          </a:ln>
        </p:spPr>
      </p:pic>
      <p:sp>
        <p:nvSpPr>
          <p:cNvPr id="1000" name="Google Shape;1000;p30"/>
          <p:cNvSpPr txBox="1"/>
          <p:nvPr/>
        </p:nvSpPr>
        <p:spPr>
          <a:xfrm>
            <a:off x="8897112" y="2743200"/>
            <a:ext cx="2651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Call Extension</a:t>
            </a:r>
            <a:endParaRPr b="0" i="0" sz="1350" u="none" cap="none" strike="noStrike">
              <a:solidFill>
                <a:schemeClr val="dk1"/>
              </a:solidFill>
              <a:latin typeface="Calibri"/>
              <a:ea typeface="Calibri"/>
              <a:cs typeface="Calibri"/>
              <a:sym typeface="Calibri"/>
            </a:endParaRPr>
          </a:p>
        </p:txBody>
      </p:sp>
      <p:sp>
        <p:nvSpPr>
          <p:cNvPr id="1001" name="Google Shape;1001;p30"/>
          <p:cNvSpPr txBox="1"/>
          <p:nvPr/>
        </p:nvSpPr>
        <p:spPr>
          <a:xfrm>
            <a:off x="8330184" y="3291840"/>
            <a:ext cx="320040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Add the clinic phone number</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Turn on call reporting (≥60s = lead)</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Schedule to clinic hours</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Click-to-call on mobile</a:t>
            </a:r>
            <a:endParaRPr b="0" i="0" sz="950" u="none" cap="none" strike="noStrike">
              <a:solidFill>
                <a:schemeClr val="dk1"/>
              </a:solidFill>
              <a:latin typeface="Calibri"/>
              <a:ea typeface="Calibri"/>
              <a:cs typeface="Calibri"/>
              <a:sym typeface="Calibri"/>
            </a:endParaRPr>
          </a:p>
        </p:txBody>
      </p:sp>
      <p:sp>
        <p:nvSpPr>
          <p:cNvPr id="1002" name="Google Shape;1002;p30"/>
          <p:cNvSpPr/>
          <p:nvPr/>
        </p:nvSpPr>
        <p:spPr>
          <a:xfrm>
            <a:off x="502920" y="4343400"/>
            <a:ext cx="3611880" cy="1645920"/>
          </a:xfrm>
          <a:prstGeom prst="roundRect">
            <a:avLst>
              <a:gd fmla="val 555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0"/>
          <p:cNvSpPr/>
          <p:nvPr/>
        </p:nvSpPr>
        <p:spPr>
          <a:xfrm>
            <a:off x="731520" y="4526280"/>
            <a:ext cx="475488" cy="475488"/>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list_white.png" id="1004" name="Google Shape;1004;p30"/>
          <p:cNvPicPr preferRelativeResize="0"/>
          <p:nvPr/>
        </p:nvPicPr>
        <p:blipFill rotWithShape="1">
          <a:blip r:embed="rId6">
            <a:alphaModFix/>
          </a:blip>
          <a:srcRect b="0" l="0" r="0" t="0"/>
          <a:stretch/>
        </p:blipFill>
        <p:spPr>
          <a:xfrm>
            <a:off x="841248" y="4636008"/>
            <a:ext cx="256032" cy="256032"/>
          </a:xfrm>
          <a:prstGeom prst="rect">
            <a:avLst/>
          </a:prstGeom>
          <a:noFill/>
          <a:ln>
            <a:noFill/>
          </a:ln>
        </p:spPr>
      </p:pic>
      <p:sp>
        <p:nvSpPr>
          <p:cNvPr id="1005" name="Google Shape;1005;p30"/>
          <p:cNvSpPr txBox="1"/>
          <p:nvPr/>
        </p:nvSpPr>
        <p:spPr>
          <a:xfrm>
            <a:off x="1325880" y="4526280"/>
            <a:ext cx="2651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Structured Snippets</a:t>
            </a:r>
            <a:endParaRPr b="0" i="0" sz="1350" u="none" cap="none" strike="noStrike">
              <a:solidFill>
                <a:schemeClr val="dk1"/>
              </a:solidFill>
              <a:latin typeface="Calibri"/>
              <a:ea typeface="Calibri"/>
              <a:cs typeface="Calibri"/>
              <a:sym typeface="Calibri"/>
            </a:endParaRPr>
          </a:p>
        </p:txBody>
      </p:sp>
      <p:sp>
        <p:nvSpPr>
          <p:cNvPr id="1006" name="Google Shape;1006;p30"/>
          <p:cNvSpPr txBox="1"/>
          <p:nvPr/>
        </p:nvSpPr>
        <p:spPr>
          <a:xfrm>
            <a:off x="758952" y="5074920"/>
            <a:ext cx="320040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Header: Services</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Adult ADHD Assessment</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Child ADHD Assessment</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Teen ADHD Assessment</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ADHD Assessment for Women</a:t>
            </a:r>
            <a:endParaRPr b="0" i="0" sz="950" u="none" cap="none" strike="noStrike">
              <a:solidFill>
                <a:schemeClr val="dk1"/>
              </a:solidFill>
              <a:latin typeface="Calibri"/>
              <a:ea typeface="Calibri"/>
              <a:cs typeface="Calibri"/>
              <a:sym typeface="Calibri"/>
            </a:endParaRPr>
          </a:p>
        </p:txBody>
      </p:sp>
      <p:sp>
        <p:nvSpPr>
          <p:cNvPr id="1007" name="Google Shape;1007;p30"/>
          <p:cNvSpPr/>
          <p:nvPr/>
        </p:nvSpPr>
        <p:spPr>
          <a:xfrm>
            <a:off x="4288536" y="4343400"/>
            <a:ext cx="3611880" cy="1645920"/>
          </a:xfrm>
          <a:prstGeom prst="roundRect">
            <a:avLst>
              <a:gd fmla="val 555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0"/>
          <p:cNvSpPr/>
          <p:nvPr/>
        </p:nvSpPr>
        <p:spPr>
          <a:xfrm>
            <a:off x="4517136" y="4526280"/>
            <a:ext cx="475488" cy="47548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mappin_white.png" id="1009" name="Google Shape;1009;p30"/>
          <p:cNvPicPr preferRelativeResize="0"/>
          <p:nvPr/>
        </p:nvPicPr>
        <p:blipFill rotWithShape="1">
          <a:blip r:embed="rId7">
            <a:alphaModFix/>
          </a:blip>
          <a:srcRect b="0" l="0" r="0" t="0"/>
          <a:stretch/>
        </p:blipFill>
        <p:spPr>
          <a:xfrm>
            <a:off x="4626864" y="4636008"/>
            <a:ext cx="256032" cy="256032"/>
          </a:xfrm>
          <a:prstGeom prst="rect">
            <a:avLst/>
          </a:prstGeom>
          <a:noFill/>
          <a:ln>
            <a:noFill/>
          </a:ln>
        </p:spPr>
      </p:pic>
      <p:sp>
        <p:nvSpPr>
          <p:cNvPr id="1010" name="Google Shape;1010;p30"/>
          <p:cNvSpPr txBox="1"/>
          <p:nvPr/>
        </p:nvSpPr>
        <p:spPr>
          <a:xfrm>
            <a:off x="5111496" y="4526280"/>
            <a:ext cx="2651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Location &amp; Images</a:t>
            </a:r>
            <a:endParaRPr b="0" i="0" sz="1350" u="none" cap="none" strike="noStrike">
              <a:solidFill>
                <a:schemeClr val="dk1"/>
              </a:solidFill>
              <a:latin typeface="Calibri"/>
              <a:ea typeface="Calibri"/>
              <a:cs typeface="Calibri"/>
              <a:sym typeface="Calibri"/>
            </a:endParaRPr>
          </a:p>
        </p:txBody>
      </p:sp>
      <p:sp>
        <p:nvSpPr>
          <p:cNvPr id="1011" name="Google Shape;1011;p30"/>
          <p:cNvSpPr txBox="1"/>
          <p:nvPr/>
        </p:nvSpPr>
        <p:spPr>
          <a:xfrm>
            <a:off x="4544568" y="5074920"/>
            <a:ext cx="320040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Link Google Business Profile</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6 Oxford Place, Manchester</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Add clinic &amp; consultant images</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Patient imagery only with consent</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No lead-form asset (legacy: low quality)</a:t>
            </a:r>
            <a:endParaRPr b="0" i="0" sz="950" u="none" cap="none" strike="noStrike">
              <a:solidFill>
                <a:schemeClr val="dk1"/>
              </a:solidFill>
              <a:latin typeface="Calibri"/>
              <a:ea typeface="Calibri"/>
              <a:cs typeface="Calibri"/>
              <a:sym typeface="Calibri"/>
            </a:endParaRPr>
          </a:p>
        </p:txBody>
      </p:sp>
      <p:sp>
        <p:nvSpPr>
          <p:cNvPr id="1012" name="Google Shape;1012;p30"/>
          <p:cNvSpPr/>
          <p:nvPr/>
        </p:nvSpPr>
        <p:spPr>
          <a:xfrm>
            <a:off x="8074152" y="4343400"/>
            <a:ext cx="3611880" cy="1645920"/>
          </a:xfrm>
          <a:prstGeom prst="roundRect">
            <a:avLst>
              <a:gd fmla="val 555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0"/>
          <p:cNvSpPr/>
          <p:nvPr/>
        </p:nvSpPr>
        <p:spPr>
          <a:xfrm>
            <a:off x="8302752" y="4526280"/>
            <a:ext cx="475488" cy="475488"/>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pound_white.png" id="1014" name="Google Shape;1014;p30"/>
          <p:cNvPicPr preferRelativeResize="0"/>
          <p:nvPr/>
        </p:nvPicPr>
        <p:blipFill rotWithShape="1">
          <a:blip r:embed="rId8">
            <a:alphaModFix/>
          </a:blip>
          <a:srcRect b="0" l="0" r="0" t="0"/>
          <a:stretch/>
        </p:blipFill>
        <p:spPr>
          <a:xfrm>
            <a:off x="8412480" y="4636008"/>
            <a:ext cx="256032" cy="256032"/>
          </a:xfrm>
          <a:prstGeom prst="rect">
            <a:avLst/>
          </a:prstGeom>
          <a:noFill/>
          <a:ln>
            <a:noFill/>
          </a:ln>
        </p:spPr>
      </p:pic>
      <p:sp>
        <p:nvSpPr>
          <p:cNvPr id="1015" name="Google Shape;1015;p30"/>
          <p:cNvSpPr txBox="1"/>
          <p:nvPr/>
        </p:nvSpPr>
        <p:spPr>
          <a:xfrm>
            <a:off x="8897112" y="4526280"/>
            <a:ext cx="26517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1350"/>
              <a:buFont typeface="Poppins"/>
              <a:buNone/>
            </a:pPr>
            <a:r>
              <a:rPr b="1" i="0" lang="en-US" sz="1350" u="none" cap="none" strike="noStrike">
                <a:solidFill>
                  <a:srgbClr val="2B2E2C"/>
                </a:solidFill>
                <a:latin typeface="Poppins"/>
                <a:ea typeface="Poppins"/>
                <a:cs typeface="Poppins"/>
                <a:sym typeface="Poppins"/>
              </a:rPr>
              <a:t>Price Extensions</a:t>
            </a:r>
            <a:endParaRPr b="0" i="0" sz="1350" u="none" cap="none" strike="noStrike">
              <a:solidFill>
                <a:schemeClr val="dk1"/>
              </a:solidFill>
              <a:latin typeface="Calibri"/>
              <a:ea typeface="Calibri"/>
              <a:cs typeface="Calibri"/>
              <a:sym typeface="Calibri"/>
            </a:endParaRPr>
          </a:p>
        </p:txBody>
      </p:sp>
      <p:sp>
        <p:nvSpPr>
          <p:cNvPr id="1016" name="Google Shape;1016;p30"/>
          <p:cNvSpPr txBox="1"/>
          <p:nvPr/>
        </p:nvSpPr>
        <p:spPr>
          <a:xfrm>
            <a:off x="8330184" y="5074920"/>
            <a:ext cx="3200400" cy="86868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Type: Services · qualifier: From</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Adult ADHD Assessment · online £850</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Adult ADHD Assessment · clinic £1,050</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Child &amp; Teen ADHD Assessment · online £890</a:t>
            </a:r>
            <a:endParaRPr b="0" i="0" sz="950" u="none" cap="none" strike="noStrike">
              <a:solidFill>
                <a:schemeClr val="dk1"/>
              </a:solidFill>
              <a:latin typeface="Calibri"/>
              <a:ea typeface="Calibri"/>
              <a:cs typeface="Calibri"/>
              <a:sym typeface="Calibri"/>
            </a:endParaRPr>
          </a:p>
          <a:p>
            <a:pPr indent="-152400" lvl="0" marL="152400" marR="0" rtl="0" algn="l">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Child &amp; Teen ADHD Assessment · clinic £1,150</a:t>
            </a:r>
            <a:endParaRPr b="0" i="0" sz="950" u="none" cap="none" strike="noStrike">
              <a:solidFill>
                <a:schemeClr val="dk1"/>
              </a:solidFill>
              <a:latin typeface="Calibri"/>
              <a:ea typeface="Calibri"/>
              <a:cs typeface="Calibri"/>
              <a:sym typeface="Calibri"/>
            </a:endParaRPr>
          </a:p>
        </p:txBody>
      </p:sp>
      <p:sp>
        <p:nvSpPr>
          <p:cNvPr id="1017" name="Google Shape;1017;p30"/>
          <p:cNvSpPr txBox="1"/>
          <p:nvPr/>
        </p:nvSpPr>
        <p:spPr>
          <a:xfrm>
            <a:off x="502920" y="608076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Landing pages (new builds):  </a:t>
            </a:r>
            <a:r>
              <a:rPr b="0" i="0" lang="en-US" sz="1050" u="none" cap="none" strike="noStrike">
                <a:solidFill>
                  <a:srgbClr val="2B2E2C"/>
                </a:solidFill>
                <a:latin typeface="Calibri"/>
                <a:ea typeface="Calibri"/>
                <a:cs typeface="Calibri"/>
                <a:sym typeface="Calibri"/>
              </a:rPr>
              <a:t>/adhd-assessment-adults/  ·  /child-adhd-assessment/  ·  /teen-adhd-assessment/      </a:t>
            </a:r>
            <a:r>
              <a:rPr b="1" i="0" lang="en-US" sz="1050" u="none" cap="none" strike="noStrike">
                <a:solidFill>
                  <a:srgbClr val="16A879"/>
                </a:solidFill>
                <a:latin typeface="Poppins"/>
                <a:ea typeface="Poppins"/>
                <a:cs typeface="Poppins"/>
                <a:sym typeface="Poppins"/>
              </a:rPr>
              <a:t>Devices:  </a:t>
            </a:r>
            <a:r>
              <a:rPr b="0" i="0" lang="en-US" sz="1050" u="none" cap="none" strike="noStrike">
                <a:solidFill>
                  <a:srgbClr val="2B2E2C"/>
                </a:solidFill>
                <a:latin typeface="Calibri"/>
                <a:ea typeface="Calibri"/>
                <a:cs typeface="Calibri"/>
                <a:sym typeface="Calibri"/>
              </a:rPr>
              <a:t>all; 95% of legacy clicks were mobile — fast pages, tap-to-call</a:t>
            </a:r>
            <a:endParaRPr b="0" i="0" sz="1050" u="none" cap="none" strike="noStrike">
              <a:solidFill>
                <a:schemeClr val="dk1"/>
              </a:solidFill>
              <a:latin typeface="Calibri"/>
              <a:ea typeface="Calibri"/>
              <a:cs typeface="Calibri"/>
              <a:sym typeface="Calibri"/>
            </a:endParaRPr>
          </a:p>
        </p:txBody>
      </p:sp>
      <p:sp>
        <p:nvSpPr>
          <p:cNvPr id="1018" name="Google Shape;1018;p30"/>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31"/>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Roadmap</a:t>
            </a:r>
            <a:endParaRPr b="0" i="0" sz="1500" u="none" cap="none" strike="noStrike">
              <a:solidFill>
                <a:schemeClr val="dk1"/>
              </a:solidFill>
              <a:latin typeface="Calibri"/>
              <a:ea typeface="Calibri"/>
              <a:cs typeface="Calibri"/>
              <a:sym typeface="Calibri"/>
            </a:endParaRPr>
          </a:p>
        </p:txBody>
      </p:sp>
      <p:sp>
        <p:nvSpPr>
          <p:cNvPr id="1025" name="Google Shape;1025;p31"/>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GROWTH PLAN</a:t>
            </a:r>
            <a:endParaRPr b="0" i="0" sz="1250" u="none" cap="none" strike="noStrike">
              <a:solidFill>
                <a:schemeClr val="dk1"/>
              </a:solidFill>
              <a:latin typeface="Calibri"/>
              <a:ea typeface="Calibri"/>
              <a:cs typeface="Calibri"/>
              <a:sym typeface="Calibri"/>
            </a:endParaRPr>
          </a:p>
        </p:txBody>
      </p:sp>
      <p:sp>
        <p:nvSpPr>
          <p:cNvPr id="1026" name="Google Shape;1026;p31"/>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6-Month Optimisation Roadmap</a:t>
            </a:r>
            <a:endParaRPr b="0" i="0" sz="3300" u="none" cap="none" strike="noStrike">
              <a:solidFill>
                <a:schemeClr val="dk1"/>
              </a:solidFill>
              <a:latin typeface="Calibri"/>
              <a:ea typeface="Calibri"/>
              <a:cs typeface="Calibri"/>
              <a:sym typeface="Calibri"/>
            </a:endParaRPr>
          </a:p>
        </p:txBody>
      </p:sp>
      <p:sp>
        <p:nvSpPr>
          <p:cNvPr id="1027" name="Google Shape;1027;p31"/>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A focused 6-month engagement. Search launches first on the new landing pages to gather data and build Quality Score; we then test and optimise, layer in Performance Max, scale the winners and review — reallocating budget toward the lowest cost per enquiry throughout.</a:t>
            </a:r>
            <a:endParaRPr b="0" i="0" sz="1350" u="none" cap="none" strike="noStrike">
              <a:solidFill>
                <a:schemeClr val="dk1"/>
              </a:solidFill>
              <a:latin typeface="Calibri"/>
              <a:ea typeface="Calibri"/>
              <a:cs typeface="Calibri"/>
              <a:sym typeface="Calibri"/>
            </a:endParaRPr>
          </a:p>
        </p:txBody>
      </p:sp>
      <p:sp>
        <p:nvSpPr>
          <p:cNvPr id="1028" name="Google Shape;1028;p31"/>
          <p:cNvSpPr/>
          <p:nvPr/>
        </p:nvSpPr>
        <p:spPr>
          <a:xfrm>
            <a:off x="502920" y="2697480"/>
            <a:ext cx="1737360" cy="324612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1"/>
          <p:cNvSpPr/>
          <p:nvPr/>
        </p:nvSpPr>
        <p:spPr>
          <a:xfrm>
            <a:off x="1088136" y="2971800"/>
            <a:ext cx="566928" cy="56692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earch_white.png" id="1030" name="Google Shape;1030;p31"/>
          <p:cNvPicPr preferRelativeResize="0"/>
          <p:nvPr/>
        </p:nvPicPr>
        <p:blipFill rotWithShape="1">
          <a:blip r:embed="rId3">
            <a:alphaModFix/>
          </a:blip>
          <a:srcRect b="0" l="0" r="0" t="0"/>
          <a:stretch/>
        </p:blipFill>
        <p:spPr>
          <a:xfrm>
            <a:off x="1234440" y="3118104"/>
            <a:ext cx="274320" cy="274320"/>
          </a:xfrm>
          <a:prstGeom prst="rect">
            <a:avLst/>
          </a:prstGeom>
          <a:noFill/>
          <a:ln>
            <a:noFill/>
          </a:ln>
        </p:spPr>
      </p:pic>
      <p:sp>
        <p:nvSpPr>
          <p:cNvPr id="1031" name="Google Shape;1031;p31"/>
          <p:cNvSpPr txBox="1"/>
          <p:nvPr/>
        </p:nvSpPr>
        <p:spPr>
          <a:xfrm>
            <a:off x="576072" y="3675888"/>
            <a:ext cx="15910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MONTH 1</a:t>
            </a:r>
            <a:endParaRPr b="0" i="0" sz="1000" u="none" cap="none" strike="noStrike">
              <a:solidFill>
                <a:schemeClr val="dk1"/>
              </a:solidFill>
              <a:latin typeface="Calibri"/>
              <a:ea typeface="Calibri"/>
              <a:cs typeface="Calibri"/>
              <a:sym typeface="Calibri"/>
            </a:endParaRPr>
          </a:p>
        </p:txBody>
      </p:sp>
      <p:sp>
        <p:nvSpPr>
          <p:cNvPr id="1032" name="Google Shape;1032;p31"/>
          <p:cNvSpPr txBox="1"/>
          <p:nvPr/>
        </p:nvSpPr>
        <p:spPr>
          <a:xfrm>
            <a:off x="557784" y="3895344"/>
            <a:ext cx="162763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1200"/>
              <a:buFont typeface="Poppins"/>
              <a:buNone/>
            </a:pPr>
            <a:r>
              <a:rPr b="1" i="0" lang="en-US" sz="1200" u="none" cap="none" strike="noStrike">
                <a:solidFill>
                  <a:srgbClr val="2B2E2C"/>
                </a:solidFill>
                <a:latin typeface="Poppins"/>
                <a:ea typeface="Poppins"/>
                <a:cs typeface="Poppins"/>
                <a:sym typeface="Poppins"/>
              </a:rPr>
              <a:t>Launch &amp; Track</a:t>
            </a:r>
            <a:endParaRPr b="0" i="0" sz="1200" u="none" cap="none" strike="noStrike">
              <a:solidFill>
                <a:schemeClr val="dk1"/>
              </a:solidFill>
              <a:latin typeface="Calibri"/>
              <a:ea typeface="Calibri"/>
              <a:cs typeface="Calibri"/>
              <a:sym typeface="Calibri"/>
            </a:endParaRPr>
          </a:p>
        </p:txBody>
      </p:sp>
      <p:sp>
        <p:nvSpPr>
          <p:cNvPr id="1033" name="Google Shape;1033;p31"/>
          <p:cNvSpPr txBox="1"/>
          <p:nvPr/>
        </p:nvSpPr>
        <p:spPr>
          <a:xfrm>
            <a:off x="630936" y="4553712"/>
            <a:ext cx="1499616" cy="12801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Go live on Search (Exact + Phrase)</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Booking-form, call &amp; GA4 tracking</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Set baseline cost per enquiry</a:t>
            </a:r>
            <a:endParaRPr b="0" i="0" sz="850" u="none" cap="none" strike="noStrike">
              <a:solidFill>
                <a:schemeClr val="dk1"/>
              </a:solidFill>
              <a:latin typeface="Calibri"/>
              <a:ea typeface="Calibri"/>
              <a:cs typeface="Calibri"/>
              <a:sym typeface="Calibri"/>
            </a:endParaRPr>
          </a:p>
        </p:txBody>
      </p:sp>
      <p:sp>
        <p:nvSpPr>
          <p:cNvPr id="1034" name="Google Shape;1034;p31"/>
          <p:cNvSpPr/>
          <p:nvPr/>
        </p:nvSpPr>
        <p:spPr>
          <a:xfrm>
            <a:off x="2392070" y="2697480"/>
            <a:ext cx="1737360" cy="324612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1"/>
          <p:cNvSpPr/>
          <p:nvPr/>
        </p:nvSpPr>
        <p:spPr>
          <a:xfrm>
            <a:off x="2977286" y="2971800"/>
            <a:ext cx="566928" cy="56692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gear_white.png" id="1036" name="Google Shape;1036;p31"/>
          <p:cNvPicPr preferRelativeResize="0"/>
          <p:nvPr/>
        </p:nvPicPr>
        <p:blipFill rotWithShape="1">
          <a:blip r:embed="rId4">
            <a:alphaModFix/>
          </a:blip>
          <a:srcRect b="0" l="0" r="0" t="0"/>
          <a:stretch/>
        </p:blipFill>
        <p:spPr>
          <a:xfrm>
            <a:off x="3123590" y="3118104"/>
            <a:ext cx="274320" cy="274320"/>
          </a:xfrm>
          <a:prstGeom prst="rect">
            <a:avLst/>
          </a:prstGeom>
          <a:noFill/>
          <a:ln>
            <a:noFill/>
          </a:ln>
        </p:spPr>
      </p:pic>
      <p:sp>
        <p:nvSpPr>
          <p:cNvPr id="1037" name="Google Shape;1037;p31"/>
          <p:cNvSpPr txBox="1"/>
          <p:nvPr/>
        </p:nvSpPr>
        <p:spPr>
          <a:xfrm>
            <a:off x="2465222" y="3675888"/>
            <a:ext cx="15910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MONTH 2</a:t>
            </a:r>
            <a:endParaRPr b="0" i="0" sz="1000" u="none" cap="none" strike="noStrike">
              <a:solidFill>
                <a:schemeClr val="dk1"/>
              </a:solidFill>
              <a:latin typeface="Calibri"/>
              <a:ea typeface="Calibri"/>
              <a:cs typeface="Calibri"/>
              <a:sym typeface="Calibri"/>
            </a:endParaRPr>
          </a:p>
        </p:txBody>
      </p:sp>
      <p:sp>
        <p:nvSpPr>
          <p:cNvPr id="1038" name="Google Shape;1038;p31"/>
          <p:cNvSpPr txBox="1"/>
          <p:nvPr/>
        </p:nvSpPr>
        <p:spPr>
          <a:xfrm>
            <a:off x="2446934" y="3895344"/>
            <a:ext cx="162763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1200"/>
              <a:buFont typeface="Poppins"/>
              <a:buNone/>
            </a:pPr>
            <a:r>
              <a:rPr b="1" i="0" lang="en-US" sz="1200" u="none" cap="none" strike="noStrike">
                <a:solidFill>
                  <a:srgbClr val="2B2E2C"/>
                </a:solidFill>
                <a:latin typeface="Poppins"/>
                <a:ea typeface="Poppins"/>
                <a:cs typeface="Poppins"/>
                <a:sym typeface="Poppins"/>
              </a:rPr>
              <a:t>Refine Search</a:t>
            </a:r>
            <a:endParaRPr b="0" i="0" sz="1200" u="none" cap="none" strike="noStrike">
              <a:solidFill>
                <a:schemeClr val="dk1"/>
              </a:solidFill>
              <a:latin typeface="Calibri"/>
              <a:ea typeface="Calibri"/>
              <a:cs typeface="Calibri"/>
              <a:sym typeface="Calibri"/>
            </a:endParaRPr>
          </a:p>
        </p:txBody>
      </p:sp>
      <p:sp>
        <p:nvSpPr>
          <p:cNvPr id="1039" name="Google Shape;1039;p31"/>
          <p:cNvSpPr txBox="1"/>
          <p:nvPr/>
        </p:nvSpPr>
        <p:spPr>
          <a:xfrm>
            <a:off x="2520086" y="4553712"/>
            <a:ext cx="1499616" cy="12801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Mine search terms; expand negatives</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Tune bids, schedule &amp; NW locations</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Build Quality Score on new pages</a:t>
            </a:r>
            <a:endParaRPr b="0" i="0" sz="850" u="none" cap="none" strike="noStrike">
              <a:solidFill>
                <a:schemeClr val="dk1"/>
              </a:solidFill>
              <a:latin typeface="Calibri"/>
              <a:ea typeface="Calibri"/>
              <a:cs typeface="Calibri"/>
              <a:sym typeface="Calibri"/>
            </a:endParaRPr>
          </a:p>
        </p:txBody>
      </p:sp>
      <p:sp>
        <p:nvSpPr>
          <p:cNvPr id="1040" name="Google Shape;1040;p31"/>
          <p:cNvSpPr/>
          <p:nvPr/>
        </p:nvSpPr>
        <p:spPr>
          <a:xfrm>
            <a:off x="4281221" y="2697480"/>
            <a:ext cx="1737360" cy="324612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1"/>
          <p:cNvSpPr/>
          <p:nvPr/>
        </p:nvSpPr>
        <p:spPr>
          <a:xfrm>
            <a:off x="4866437" y="2971800"/>
            <a:ext cx="566928" cy="56692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sliders_white.png" id="1042" name="Google Shape;1042;p31"/>
          <p:cNvPicPr preferRelativeResize="0"/>
          <p:nvPr/>
        </p:nvPicPr>
        <p:blipFill rotWithShape="1">
          <a:blip r:embed="rId5">
            <a:alphaModFix/>
          </a:blip>
          <a:srcRect b="0" l="0" r="0" t="0"/>
          <a:stretch/>
        </p:blipFill>
        <p:spPr>
          <a:xfrm>
            <a:off x="5012741" y="3118104"/>
            <a:ext cx="274320" cy="274320"/>
          </a:xfrm>
          <a:prstGeom prst="rect">
            <a:avLst/>
          </a:prstGeom>
          <a:noFill/>
          <a:ln>
            <a:noFill/>
          </a:ln>
        </p:spPr>
      </p:pic>
      <p:sp>
        <p:nvSpPr>
          <p:cNvPr id="1043" name="Google Shape;1043;p31"/>
          <p:cNvSpPr txBox="1"/>
          <p:nvPr/>
        </p:nvSpPr>
        <p:spPr>
          <a:xfrm>
            <a:off x="4354373" y="3675888"/>
            <a:ext cx="15910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MONTH 3</a:t>
            </a:r>
            <a:endParaRPr b="0" i="0" sz="1000" u="none" cap="none" strike="noStrike">
              <a:solidFill>
                <a:schemeClr val="dk1"/>
              </a:solidFill>
              <a:latin typeface="Calibri"/>
              <a:ea typeface="Calibri"/>
              <a:cs typeface="Calibri"/>
              <a:sym typeface="Calibri"/>
            </a:endParaRPr>
          </a:p>
        </p:txBody>
      </p:sp>
      <p:sp>
        <p:nvSpPr>
          <p:cNvPr id="1044" name="Google Shape;1044;p31"/>
          <p:cNvSpPr txBox="1"/>
          <p:nvPr/>
        </p:nvSpPr>
        <p:spPr>
          <a:xfrm>
            <a:off x="4336085" y="3895344"/>
            <a:ext cx="162763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1200"/>
              <a:buFont typeface="Poppins"/>
              <a:buNone/>
            </a:pPr>
            <a:r>
              <a:rPr b="1" i="0" lang="en-US" sz="1200" u="none" cap="none" strike="noStrike">
                <a:solidFill>
                  <a:srgbClr val="2B2E2C"/>
                </a:solidFill>
                <a:latin typeface="Poppins"/>
                <a:ea typeface="Poppins"/>
                <a:cs typeface="Poppins"/>
                <a:sym typeface="Poppins"/>
              </a:rPr>
              <a:t>Test &amp; Optimise</a:t>
            </a:r>
            <a:endParaRPr b="0" i="0" sz="1200" u="none" cap="none" strike="noStrike">
              <a:solidFill>
                <a:schemeClr val="dk1"/>
              </a:solidFill>
              <a:latin typeface="Calibri"/>
              <a:ea typeface="Calibri"/>
              <a:cs typeface="Calibri"/>
              <a:sym typeface="Calibri"/>
            </a:endParaRPr>
          </a:p>
        </p:txBody>
      </p:sp>
      <p:sp>
        <p:nvSpPr>
          <p:cNvPr id="1045" name="Google Shape;1045;p31"/>
          <p:cNvSpPr txBox="1"/>
          <p:nvPr/>
        </p:nvSpPr>
        <p:spPr>
          <a:xfrm>
            <a:off x="4409237" y="4553712"/>
            <a:ext cx="1499616" cy="12801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A/B test landing pages &amp; CTAs</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Move to Target CPA at ~30 conversions</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Add winning search terms as keywords</a:t>
            </a:r>
            <a:endParaRPr b="0" i="0" sz="850" u="none" cap="none" strike="noStrike">
              <a:solidFill>
                <a:schemeClr val="dk1"/>
              </a:solidFill>
              <a:latin typeface="Calibri"/>
              <a:ea typeface="Calibri"/>
              <a:cs typeface="Calibri"/>
              <a:sym typeface="Calibri"/>
            </a:endParaRPr>
          </a:p>
        </p:txBody>
      </p:sp>
      <p:sp>
        <p:nvSpPr>
          <p:cNvPr id="1046" name="Google Shape;1046;p31"/>
          <p:cNvSpPr/>
          <p:nvPr/>
        </p:nvSpPr>
        <p:spPr>
          <a:xfrm>
            <a:off x="6170371" y="2697480"/>
            <a:ext cx="1737360" cy="3246120"/>
          </a:xfrm>
          <a:prstGeom prst="roundRect">
            <a:avLst>
              <a:gd fmla="val 5263" name="adj"/>
            </a:avLst>
          </a:prstGeom>
          <a:solidFill>
            <a:srgbClr val="3BE29F"/>
          </a:solidFill>
          <a:ln cap="flat" cmpd="sng" w="12700">
            <a:solidFill>
              <a:srgbClr val="3BE29F"/>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1"/>
          <p:cNvSpPr/>
          <p:nvPr/>
        </p:nvSpPr>
        <p:spPr>
          <a:xfrm>
            <a:off x="6755587" y="2971800"/>
            <a:ext cx="566928" cy="56692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rocket_white.png" id="1048" name="Google Shape;1048;p31"/>
          <p:cNvPicPr preferRelativeResize="0"/>
          <p:nvPr/>
        </p:nvPicPr>
        <p:blipFill rotWithShape="1">
          <a:blip r:embed="rId6">
            <a:alphaModFix/>
          </a:blip>
          <a:srcRect b="0" l="0" r="0" t="0"/>
          <a:stretch/>
        </p:blipFill>
        <p:spPr>
          <a:xfrm>
            <a:off x="6901891" y="3118104"/>
            <a:ext cx="274320" cy="274320"/>
          </a:xfrm>
          <a:prstGeom prst="rect">
            <a:avLst/>
          </a:prstGeom>
          <a:noFill/>
          <a:ln>
            <a:noFill/>
          </a:ln>
        </p:spPr>
      </p:pic>
      <p:sp>
        <p:nvSpPr>
          <p:cNvPr id="1049" name="Google Shape;1049;p31"/>
          <p:cNvSpPr txBox="1"/>
          <p:nvPr/>
        </p:nvSpPr>
        <p:spPr>
          <a:xfrm>
            <a:off x="6243523" y="3675888"/>
            <a:ext cx="15910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620"/>
              </a:buClr>
              <a:buSzPts val="1000"/>
              <a:buFont typeface="Poppins"/>
              <a:buNone/>
            </a:pPr>
            <a:r>
              <a:rPr b="1" i="0" lang="en-US" sz="1000" u="none" cap="none" strike="noStrike">
                <a:solidFill>
                  <a:srgbClr val="1A2620"/>
                </a:solidFill>
                <a:latin typeface="Poppins"/>
                <a:ea typeface="Poppins"/>
                <a:cs typeface="Poppins"/>
                <a:sym typeface="Poppins"/>
              </a:rPr>
              <a:t>MONTH 4</a:t>
            </a:r>
            <a:endParaRPr b="0" i="0" sz="1000" u="none" cap="none" strike="noStrike">
              <a:solidFill>
                <a:schemeClr val="dk1"/>
              </a:solidFill>
              <a:latin typeface="Calibri"/>
              <a:ea typeface="Calibri"/>
              <a:cs typeface="Calibri"/>
              <a:sym typeface="Calibri"/>
            </a:endParaRPr>
          </a:p>
        </p:txBody>
      </p:sp>
      <p:sp>
        <p:nvSpPr>
          <p:cNvPr id="1050" name="Google Shape;1050;p31"/>
          <p:cNvSpPr txBox="1"/>
          <p:nvPr/>
        </p:nvSpPr>
        <p:spPr>
          <a:xfrm>
            <a:off x="6225235" y="3895344"/>
            <a:ext cx="162763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1200"/>
              <a:buFont typeface="Poppins"/>
              <a:buNone/>
            </a:pPr>
            <a:r>
              <a:rPr b="1" i="0" lang="en-US" sz="1200" u="none" cap="none" strike="noStrike">
                <a:solidFill>
                  <a:srgbClr val="2B2E2C"/>
                </a:solidFill>
                <a:latin typeface="Poppins"/>
                <a:ea typeface="Poppins"/>
                <a:cs typeface="Poppins"/>
                <a:sym typeface="Poppins"/>
              </a:rPr>
              <a:t>Launch PMax</a:t>
            </a:r>
            <a:endParaRPr b="0" i="0" sz="1200" u="none" cap="none" strike="noStrike">
              <a:solidFill>
                <a:schemeClr val="dk1"/>
              </a:solidFill>
              <a:latin typeface="Calibri"/>
              <a:ea typeface="Calibri"/>
              <a:cs typeface="Calibri"/>
              <a:sym typeface="Calibri"/>
            </a:endParaRPr>
          </a:p>
        </p:txBody>
      </p:sp>
      <p:sp>
        <p:nvSpPr>
          <p:cNvPr id="1051" name="Google Shape;1051;p31"/>
          <p:cNvSpPr txBox="1"/>
          <p:nvPr/>
        </p:nvSpPr>
        <p:spPr>
          <a:xfrm>
            <a:off x="6298387" y="4553712"/>
            <a:ext cx="1499616" cy="12801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1A2620"/>
              </a:buClr>
              <a:buSzPts val="850"/>
              <a:buFont typeface="Calibri"/>
              <a:buChar char="•"/>
            </a:pPr>
            <a:r>
              <a:rPr b="0" i="0" lang="en-US" sz="850" u="none" cap="none" strike="noStrike">
                <a:solidFill>
                  <a:srgbClr val="1A2620"/>
                </a:solidFill>
                <a:latin typeface="Calibri"/>
                <a:ea typeface="Calibri"/>
                <a:cs typeface="Calibri"/>
                <a:sym typeface="Calibri"/>
              </a:rPr>
              <a:t>Add PMax + 4 asset groups</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1A2620"/>
              </a:buClr>
              <a:buSzPts val="850"/>
              <a:buFont typeface="Calibri"/>
              <a:buChar char="•"/>
            </a:pPr>
            <a:r>
              <a:rPr b="0" i="0" lang="en-US" sz="850" u="none" cap="none" strike="noStrike">
                <a:solidFill>
                  <a:srgbClr val="1A2620"/>
                </a:solidFill>
                <a:latin typeface="Calibri"/>
                <a:ea typeface="Calibri"/>
                <a:cs typeface="Calibri"/>
                <a:sym typeface="Calibri"/>
              </a:rPr>
              <a:t>Feed Search conversion data in</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1A2620"/>
              </a:buClr>
              <a:buSzPts val="850"/>
              <a:buFont typeface="Calibri"/>
              <a:buChar char="•"/>
            </a:pPr>
            <a:r>
              <a:rPr b="0" i="0" lang="en-US" sz="850" u="none" cap="none" strike="noStrike">
                <a:solidFill>
                  <a:srgbClr val="1A2620"/>
                </a:solidFill>
                <a:latin typeface="Calibri"/>
                <a:ea typeface="Calibri"/>
                <a:cs typeface="Calibri"/>
                <a:sym typeface="Calibri"/>
              </a:rPr>
              <a:t>Remarket to enquirers (first-party)</a:t>
            </a:r>
            <a:endParaRPr b="0" i="0" sz="850" u="none" cap="none" strike="noStrike">
              <a:solidFill>
                <a:schemeClr val="dk1"/>
              </a:solidFill>
              <a:latin typeface="Calibri"/>
              <a:ea typeface="Calibri"/>
              <a:cs typeface="Calibri"/>
              <a:sym typeface="Calibri"/>
            </a:endParaRPr>
          </a:p>
        </p:txBody>
      </p:sp>
      <p:sp>
        <p:nvSpPr>
          <p:cNvPr id="1052" name="Google Shape;1052;p31"/>
          <p:cNvSpPr/>
          <p:nvPr/>
        </p:nvSpPr>
        <p:spPr>
          <a:xfrm>
            <a:off x="8059522" y="2697480"/>
            <a:ext cx="1737360" cy="324612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1"/>
          <p:cNvSpPr/>
          <p:nvPr/>
        </p:nvSpPr>
        <p:spPr>
          <a:xfrm>
            <a:off x="8644738" y="2971800"/>
            <a:ext cx="566928" cy="56692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chart_white.png" id="1054" name="Google Shape;1054;p31"/>
          <p:cNvPicPr preferRelativeResize="0"/>
          <p:nvPr/>
        </p:nvPicPr>
        <p:blipFill rotWithShape="1">
          <a:blip r:embed="rId7">
            <a:alphaModFix/>
          </a:blip>
          <a:srcRect b="0" l="0" r="0" t="0"/>
          <a:stretch/>
        </p:blipFill>
        <p:spPr>
          <a:xfrm>
            <a:off x="8791042" y="3118104"/>
            <a:ext cx="274320" cy="274320"/>
          </a:xfrm>
          <a:prstGeom prst="rect">
            <a:avLst/>
          </a:prstGeom>
          <a:noFill/>
          <a:ln>
            <a:noFill/>
          </a:ln>
        </p:spPr>
      </p:pic>
      <p:sp>
        <p:nvSpPr>
          <p:cNvPr id="1055" name="Google Shape;1055;p31"/>
          <p:cNvSpPr txBox="1"/>
          <p:nvPr/>
        </p:nvSpPr>
        <p:spPr>
          <a:xfrm>
            <a:off x="8132674" y="3675888"/>
            <a:ext cx="15910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MONTH 5</a:t>
            </a:r>
            <a:endParaRPr b="0" i="0" sz="1000" u="none" cap="none" strike="noStrike">
              <a:solidFill>
                <a:schemeClr val="dk1"/>
              </a:solidFill>
              <a:latin typeface="Calibri"/>
              <a:ea typeface="Calibri"/>
              <a:cs typeface="Calibri"/>
              <a:sym typeface="Calibri"/>
            </a:endParaRPr>
          </a:p>
        </p:txBody>
      </p:sp>
      <p:sp>
        <p:nvSpPr>
          <p:cNvPr id="1056" name="Google Shape;1056;p31"/>
          <p:cNvSpPr txBox="1"/>
          <p:nvPr/>
        </p:nvSpPr>
        <p:spPr>
          <a:xfrm>
            <a:off x="8114386" y="3895344"/>
            <a:ext cx="162763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1200"/>
              <a:buFont typeface="Poppins"/>
              <a:buNone/>
            </a:pPr>
            <a:r>
              <a:rPr b="1" i="0" lang="en-US" sz="1200" u="none" cap="none" strike="noStrike">
                <a:solidFill>
                  <a:srgbClr val="2B2E2C"/>
                </a:solidFill>
                <a:latin typeface="Poppins"/>
                <a:ea typeface="Poppins"/>
                <a:cs typeface="Poppins"/>
                <a:sym typeface="Poppins"/>
              </a:rPr>
              <a:t>Scale &amp; Expand</a:t>
            </a:r>
            <a:endParaRPr b="0" i="0" sz="1200" u="none" cap="none" strike="noStrike">
              <a:solidFill>
                <a:schemeClr val="dk1"/>
              </a:solidFill>
              <a:latin typeface="Calibri"/>
              <a:ea typeface="Calibri"/>
              <a:cs typeface="Calibri"/>
              <a:sym typeface="Calibri"/>
            </a:endParaRPr>
          </a:p>
        </p:txBody>
      </p:sp>
      <p:sp>
        <p:nvSpPr>
          <p:cNvPr id="1057" name="Google Shape;1057;p31"/>
          <p:cNvSpPr txBox="1"/>
          <p:nvPr/>
        </p:nvSpPr>
        <p:spPr>
          <a:xfrm>
            <a:off x="8187538" y="4553712"/>
            <a:ext cx="1499616" cy="12801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Women-focused landing page &amp; copy</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Scale winners, cut waste</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Shift budget to best cost per enquiry</a:t>
            </a:r>
            <a:endParaRPr b="0" i="0" sz="850" u="none" cap="none" strike="noStrike">
              <a:solidFill>
                <a:schemeClr val="dk1"/>
              </a:solidFill>
              <a:latin typeface="Calibri"/>
              <a:ea typeface="Calibri"/>
              <a:cs typeface="Calibri"/>
              <a:sym typeface="Calibri"/>
            </a:endParaRPr>
          </a:p>
        </p:txBody>
      </p:sp>
      <p:sp>
        <p:nvSpPr>
          <p:cNvPr id="1058" name="Google Shape;1058;p31"/>
          <p:cNvSpPr/>
          <p:nvPr/>
        </p:nvSpPr>
        <p:spPr>
          <a:xfrm>
            <a:off x="9948672" y="2697480"/>
            <a:ext cx="1737360" cy="324612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1"/>
          <p:cNvSpPr/>
          <p:nvPr/>
        </p:nvSpPr>
        <p:spPr>
          <a:xfrm>
            <a:off x="10533888" y="2971800"/>
            <a:ext cx="566928" cy="566928"/>
          </a:xfrm>
          <a:prstGeom prst="ellipse">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award_white.png" id="1060" name="Google Shape;1060;p31"/>
          <p:cNvPicPr preferRelativeResize="0"/>
          <p:nvPr/>
        </p:nvPicPr>
        <p:blipFill rotWithShape="1">
          <a:blip r:embed="rId8">
            <a:alphaModFix/>
          </a:blip>
          <a:srcRect b="0" l="0" r="0" t="0"/>
          <a:stretch/>
        </p:blipFill>
        <p:spPr>
          <a:xfrm>
            <a:off x="10680192" y="3118104"/>
            <a:ext cx="274320" cy="274320"/>
          </a:xfrm>
          <a:prstGeom prst="rect">
            <a:avLst/>
          </a:prstGeom>
          <a:noFill/>
          <a:ln>
            <a:noFill/>
          </a:ln>
        </p:spPr>
      </p:pic>
      <p:sp>
        <p:nvSpPr>
          <p:cNvPr id="1061" name="Google Shape;1061;p31"/>
          <p:cNvSpPr txBox="1"/>
          <p:nvPr/>
        </p:nvSpPr>
        <p:spPr>
          <a:xfrm>
            <a:off x="10021824" y="3675888"/>
            <a:ext cx="15910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879"/>
              </a:buClr>
              <a:buSzPts val="1000"/>
              <a:buFont typeface="Poppins"/>
              <a:buNone/>
            </a:pPr>
            <a:r>
              <a:rPr b="1" i="0" lang="en-US" sz="1000" u="none" cap="none" strike="noStrike">
                <a:solidFill>
                  <a:srgbClr val="16A879"/>
                </a:solidFill>
                <a:latin typeface="Poppins"/>
                <a:ea typeface="Poppins"/>
                <a:cs typeface="Poppins"/>
                <a:sym typeface="Poppins"/>
              </a:rPr>
              <a:t>MONTH 6</a:t>
            </a:r>
            <a:endParaRPr b="0" i="0" sz="1000" u="none" cap="none" strike="noStrike">
              <a:solidFill>
                <a:schemeClr val="dk1"/>
              </a:solidFill>
              <a:latin typeface="Calibri"/>
              <a:ea typeface="Calibri"/>
              <a:cs typeface="Calibri"/>
              <a:sym typeface="Calibri"/>
            </a:endParaRPr>
          </a:p>
        </p:txBody>
      </p:sp>
      <p:sp>
        <p:nvSpPr>
          <p:cNvPr id="1062" name="Google Shape;1062;p31"/>
          <p:cNvSpPr txBox="1"/>
          <p:nvPr/>
        </p:nvSpPr>
        <p:spPr>
          <a:xfrm>
            <a:off x="10003536" y="3895344"/>
            <a:ext cx="162763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E2C"/>
              </a:buClr>
              <a:buSzPts val="1200"/>
              <a:buFont typeface="Poppins"/>
              <a:buNone/>
            </a:pPr>
            <a:r>
              <a:rPr b="1" i="0" lang="en-US" sz="1200" u="none" cap="none" strike="noStrike">
                <a:solidFill>
                  <a:srgbClr val="2B2E2C"/>
                </a:solidFill>
                <a:latin typeface="Poppins"/>
                <a:ea typeface="Poppins"/>
                <a:cs typeface="Poppins"/>
                <a:sym typeface="Poppins"/>
              </a:rPr>
              <a:t>Review &amp; Plan Ahead</a:t>
            </a:r>
            <a:endParaRPr b="0" i="0" sz="1200" u="none" cap="none" strike="noStrike">
              <a:solidFill>
                <a:schemeClr val="dk1"/>
              </a:solidFill>
              <a:latin typeface="Calibri"/>
              <a:ea typeface="Calibri"/>
              <a:cs typeface="Calibri"/>
              <a:sym typeface="Calibri"/>
            </a:endParaRPr>
          </a:p>
        </p:txBody>
      </p:sp>
      <p:sp>
        <p:nvSpPr>
          <p:cNvPr id="1063" name="Google Shape;1063;p31"/>
          <p:cNvSpPr txBox="1"/>
          <p:nvPr/>
        </p:nvSpPr>
        <p:spPr>
          <a:xfrm>
            <a:off x="10076688" y="4553712"/>
            <a:ext cx="1499616" cy="12801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Full ROI &amp; cost-per-enquiry review</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Seasonality plan (Jan, Mar–May peaks)</a:t>
            </a:r>
            <a:endParaRPr b="0" i="0" sz="8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rgbClr val="2B2E2C"/>
              </a:buClr>
              <a:buSzPts val="850"/>
              <a:buFont typeface="Calibri"/>
              <a:buChar char="•"/>
            </a:pPr>
            <a:r>
              <a:rPr b="0" i="0" lang="en-US" sz="850" u="none" cap="none" strike="noStrike">
                <a:solidFill>
                  <a:srgbClr val="2B2E2C"/>
                </a:solidFill>
                <a:latin typeface="Calibri"/>
                <a:ea typeface="Calibri"/>
                <a:cs typeface="Calibri"/>
                <a:sym typeface="Calibri"/>
              </a:rPr>
              <a:t>Agree next-phase growth plan</a:t>
            </a:r>
            <a:endParaRPr b="0" i="0" sz="850" u="none" cap="none" strike="noStrike">
              <a:solidFill>
                <a:schemeClr val="dk1"/>
              </a:solidFill>
              <a:latin typeface="Calibri"/>
              <a:ea typeface="Calibri"/>
              <a:cs typeface="Calibri"/>
              <a:sym typeface="Calibri"/>
            </a:endParaRPr>
          </a:p>
        </p:txBody>
      </p:sp>
      <p:sp>
        <p:nvSpPr>
          <p:cNvPr id="1064" name="Google Shape;1064;p31"/>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32"/>
          <p:cNvSpPr txBox="1"/>
          <p:nvPr/>
        </p:nvSpPr>
        <p:spPr>
          <a:xfrm>
            <a:off x="8503920" y="384048"/>
            <a:ext cx="31546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Forecast</a:t>
            </a:r>
            <a:endParaRPr b="0" i="0" sz="1500" u="none" cap="none" strike="noStrike">
              <a:solidFill>
                <a:schemeClr val="dk1"/>
              </a:solidFill>
              <a:latin typeface="Calibri"/>
              <a:ea typeface="Calibri"/>
              <a:cs typeface="Calibri"/>
              <a:sym typeface="Calibri"/>
            </a:endParaRPr>
          </a:p>
        </p:txBody>
      </p:sp>
      <p:sp>
        <p:nvSpPr>
          <p:cNvPr id="1071" name="Google Shape;1071;p32"/>
          <p:cNvSpPr txBox="1"/>
          <p:nvPr/>
        </p:nvSpPr>
        <p:spPr>
          <a:xfrm>
            <a:off x="502920" y="102412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FORECAST</a:t>
            </a:r>
            <a:endParaRPr b="0" i="0" sz="1250" u="none" cap="none" strike="noStrike">
              <a:solidFill>
                <a:schemeClr val="dk1"/>
              </a:solidFill>
              <a:latin typeface="Calibri"/>
              <a:ea typeface="Calibri"/>
              <a:cs typeface="Calibri"/>
              <a:sym typeface="Calibri"/>
            </a:endParaRPr>
          </a:p>
        </p:txBody>
      </p:sp>
      <p:sp>
        <p:nvSpPr>
          <p:cNvPr id="1072" name="Google Shape;1072;p32"/>
          <p:cNvSpPr txBox="1"/>
          <p:nvPr/>
        </p:nvSpPr>
        <p:spPr>
          <a:xfrm>
            <a:off x="457200" y="1280160"/>
            <a:ext cx="11247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Expected Clicks, Enquiries &amp; Cost</a:t>
            </a:r>
            <a:endParaRPr b="0" i="0" sz="3300" u="none" cap="none" strike="noStrike">
              <a:solidFill>
                <a:schemeClr val="dk1"/>
              </a:solidFill>
              <a:latin typeface="Calibri"/>
              <a:ea typeface="Calibri"/>
              <a:cs typeface="Calibri"/>
              <a:sym typeface="Calibri"/>
            </a:endParaRPr>
          </a:p>
        </p:txBody>
      </p:sp>
      <p:sp>
        <p:nvSpPr>
          <p:cNvPr id="1073" name="Google Shape;1073;p32"/>
          <p:cNvSpPr txBox="1"/>
          <p:nvPr/>
        </p:nvSpPr>
        <p:spPr>
          <a:xfrm>
            <a:off x="502920" y="1993392"/>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Per-campaign projection — Adult ADHD at £50/day (≈ £1,520/month) and Child &amp; Teen at £15/day (≈ £455/month). Adult CPCs run higher than child terms, so click and enquiry volumes differ. Figures are illustrative; spend and clicks ramp over the first weeks while Quality Score builds on the new landing pages.</a:t>
            </a:r>
            <a:endParaRPr b="0" i="0" sz="1350" u="none" cap="none" strike="noStrike">
              <a:solidFill>
                <a:schemeClr val="dk1"/>
              </a:solidFill>
              <a:latin typeface="Calibri"/>
              <a:ea typeface="Calibri"/>
              <a:cs typeface="Calibri"/>
              <a:sym typeface="Calibri"/>
            </a:endParaRPr>
          </a:p>
        </p:txBody>
      </p:sp>
      <p:sp>
        <p:nvSpPr>
          <p:cNvPr id="1074" name="Google Shape;1074;p32"/>
          <p:cNvSpPr/>
          <p:nvPr/>
        </p:nvSpPr>
        <p:spPr>
          <a:xfrm>
            <a:off x="502920" y="2606040"/>
            <a:ext cx="5440680"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2"/>
          <p:cNvSpPr txBox="1"/>
          <p:nvPr/>
        </p:nvSpPr>
        <p:spPr>
          <a:xfrm>
            <a:off x="685800" y="2606040"/>
            <a:ext cx="5029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Poppins"/>
              <a:buNone/>
            </a:pPr>
            <a:r>
              <a:rPr b="1" i="0" lang="en-US" sz="1300" u="none" cap="none" strike="noStrike">
                <a:solidFill>
                  <a:srgbClr val="FFFFFF"/>
                </a:solidFill>
                <a:latin typeface="Poppins"/>
                <a:ea typeface="Poppins"/>
                <a:cs typeface="Poppins"/>
                <a:sym typeface="Poppins"/>
              </a:rPr>
              <a:t>Adult ADHD · £50/day</a:t>
            </a:r>
            <a:endParaRPr b="0" i="0" sz="1300" u="none" cap="none" strike="noStrike">
              <a:solidFill>
                <a:schemeClr val="dk1"/>
              </a:solidFill>
              <a:latin typeface="Calibri"/>
              <a:ea typeface="Calibri"/>
              <a:cs typeface="Calibri"/>
              <a:sym typeface="Calibri"/>
            </a:endParaRPr>
          </a:p>
        </p:txBody>
      </p:sp>
      <p:graphicFrame>
        <p:nvGraphicFramePr>
          <p:cNvPr id="1076" name="Google Shape;1076;p32"/>
          <p:cNvGraphicFramePr/>
          <p:nvPr/>
        </p:nvGraphicFramePr>
        <p:xfrm>
          <a:off x="502920" y="3035808"/>
          <a:ext cx="3000000" cy="3000000"/>
        </p:xfrm>
        <a:graphic>
          <a:graphicData uri="http://schemas.openxmlformats.org/drawingml/2006/table">
            <a:tbl>
              <a:tblPr>
                <a:noFill/>
                <a:tableStyleId>{204FECF3-62DE-486B-8169-76E5466ED5D8}</a:tableStyleId>
              </a:tblPr>
              <a:tblGrid>
                <a:gridCol w="2011675"/>
                <a:gridCol w="1143000"/>
                <a:gridCol w="1143000"/>
                <a:gridCol w="1143000"/>
              </a:tblGrid>
              <a:tr h="274325">
                <a:tc>
                  <a:txBody>
                    <a:bodyPr/>
                    <a:lstStyle/>
                    <a:p>
                      <a:pPr indent="0" lvl="0" marL="0" marR="0" rtl="0" algn="l">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Metric</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ctr">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Cons.</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ctr">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Expected</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ctr">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Opt.</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Avg. CPC (GBP)</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£3.80</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£3.15</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£2.60</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Monthly clicks</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~400</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~480</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~585</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Click → enquiry</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3.5%</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5%</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7%</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Monthly enquiries</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~14</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~24</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~41</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Cost per enquiry</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£109</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£63</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£37</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bl>
          </a:graphicData>
        </a:graphic>
      </p:graphicFrame>
      <p:sp>
        <p:nvSpPr>
          <p:cNvPr id="1077" name="Google Shape;1077;p32"/>
          <p:cNvSpPr txBox="1"/>
          <p:nvPr/>
        </p:nvSpPr>
        <p:spPr>
          <a:xfrm>
            <a:off x="548640" y="470916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950"/>
              <a:buFont typeface="Poppins"/>
              <a:buNone/>
            </a:pPr>
            <a:r>
              <a:rPr b="1" i="0" lang="en-US" sz="950" u="none" cap="none" strike="noStrike">
                <a:solidFill>
                  <a:srgbClr val="2B2E2C"/>
                </a:solidFill>
                <a:latin typeface="Poppins"/>
                <a:ea typeface="Poppins"/>
                <a:cs typeface="Poppins"/>
                <a:sym typeface="Poppins"/>
              </a:rPr>
              <a:t>Projected monthly enquiries</a:t>
            </a:r>
            <a:endParaRPr b="0" i="0" sz="950" u="none" cap="none" strike="noStrike">
              <a:solidFill>
                <a:schemeClr val="dk1"/>
              </a:solidFill>
              <a:latin typeface="Calibri"/>
              <a:ea typeface="Calibri"/>
              <a:cs typeface="Calibri"/>
              <a:sym typeface="Calibri"/>
            </a:endParaRPr>
          </a:p>
        </p:txBody>
      </p:sp>
      <p:graphicFrame>
        <p:nvGraphicFramePr>
          <p:cNvPr id="1078" name="Google Shape;1078;p32"/>
          <p:cNvGraphicFramePr/>
          <p:nvPr/>
        </p:nvGraphicFramePr>
        <p:xfrm>
          <a:off x="502920" y="4901184"/>
          <a:ext cx="5440680" cy="1005840"/>
        </p:xfrm>
        <a:graphic>
          <a:graphicData uri="http://schemas.openxmlformats.org/drawingml/2006/chart">
            <c:chart r:id="rId3"/>
          </a:graphicData>
        </a:graphic>
      </p:graphicFrame>
      <p:sp>
        <p:nvSpPr>
          <p:cNvPr id="1079" name="Google Shape;1079;p32"/>
          <p:cNvSpPr/>
          <p:nvPr/>
        </p:nvSpPr>
        <p:spPr>
          <a:xfrm>
            <a:off x="6245352" y="2606040"/>
            <a:ext cx="5440680" cy="384048"/>
          </a:xfrm>
          <a:prstGeom prst="roundRect">
            <a:avLst>
              <a:gd fmla="val 9524" name="adj"/>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2"/>
          <p:cNvSpPr txBox="1"/>
          <p:nvPr/>
        </p:nvSpPr>
        <p:spPr>
          <a:xfrm>
            <a:off x="6428232" y="2606040"/>
            <a:ext cx="5029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Poppins"/>
              <a:buNone/>
            </a:pPr>
            <a:r>
              <a:rPr b="1" i="0" lang="en-US" sz="1300" u="none" cap="none" strike="noStrike">
                <a:solidFill>
                  <a:srgbClr val="FFFFFF"/>
                </a:solidFill>
                <a:latin typeface="Poppins"/>
                <a:ea typeface="Poppins"/>
                <a:cs typeface="Poppins"/>
                <a:sym typeface="Poppins"/>
              </a:rPr>
              <a:t>Child &amp; Teen ADHD · £15/day</a:t>
            </a:r>
            <a:endParaRPr b="0" i="0" sz="1300" u="none" cap="none" strike="noStrike">
              <a:solidFill>
                <a:schemeClr val="dk1"/>
              </a:solidFill>
              <a:latin typeface="Calibri"/>
              <a:ea typeface="Calibri"/>
              <a:cs typeface="Calibri"/>
              <a:sym typeface="Calibri"/>
            </a:endParaRPr>
          </a:p>
        </p:txBody>
      </p:sp>
      <p:graphicFrame>
        <p:nvGraphicFramePr>
          <p:cNvPr id="1081" name="Google Shape;1081;p32"/>
          <p:cNvGraphicFramePr/>
          <p:nvPr/>
        </p:nvGraphicFramePr>
        <p:xfrm>
          <a:off x="6245352" y="3035808"/>
          <a:ext cx="3000000" cy="3000000"/>
        </p:xfrm>
        <a:graphic>
          <a:graphicData uri="http://schemas.openxmlformats.org/drawingml/2006/table">
            <a:tbl>
              <a:tblPr>
                <a:noFill/>
                <a:tableStyleId>{204FECF3-62DE-486B-8169-76E5466ED5D8}</a:tableStyleId>
              </a:tblPr>
              <a:tblGrid>
                <a:gridCol w="2011675"/>
                <a:gridCol w="1143000"/>
                <a:gridCol w="1143000"/>
                <a:gridCol w="1143000"/>
              </a:tblGrid>
              <a:tr h="274325">
                <a:tc>
                  <a:txBody>
                    <a:bodyPr/>
                    <a:lstStyle/>
                    <a:p>
                      <a:pPr indent="0" lvl="0" marL="0" marR="0" rtl="0" algn="l">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Metric</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ctr">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Cons.</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ctr">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Expected</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c>
                  <a:txBody>
                    <a:bodyPr/>
                    <a:lstStyle/>
                    <a:p>
                      <a:pPr indent="0" lvl="0" marL="0" marR="0" rtl="0" algn="ctr">
                        <a:spcBef>
                          <a:spcPts val="0"/>
                        </a:spcBef>
                        <a:spcAft>
                          <a:spcPts val="0"/>
                        </a:spcAft>
                        <a:buClr>
                          <a:srgbClr val="FFFFFF"/>
                        </a:buClr>
                        <a:buSzPts val="950"/>
                        <a:buFont typeface="Poppins"/>
                        <a:buNone/>
                      </a:pPr>
                      <a:r>
                        <a:rPr b="1" lang="en-US" sz="950" u="none" cap="none" strike="noStrike">
                          <a:solidFill>
                            <a:srgbClr val="FFFFFF"/>
                          </a:solidFill>
                          <a:latin typeface="Poppins"/>
                          <a:ea typeface="Poppins"/>
                          <a:cs typeface="Poppins"/>
                          <a:sym typeface="Poppins"/>
                        </a:rPr>
                        <a:t>Opt.</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1A2620"/>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Avg. CPC (GBP)</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£3.00</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£2.50</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£2.00</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Monthly clicks</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~150</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~180</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~230</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Click → enquiry</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3.5%</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5%</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7%</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Monthly enquiries</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~5</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~9</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~16</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4F7F6"/>
                    </a:solidFill>
                  </a:tcPr>
                </a:tc>
              </a:tr>
              <a:tr h="274325">
                <a:tc>
                  <a:txBody>
                    <a:bodyPr/>
                    <a:lstStyle/>
                    <a:p>
                      <a:pPr indent="0" lvl="0" marL="0" marR="0" rtl="0" algn="l">
                        <a:spcBef>
                          <a:spcPts val="0"/>
                        </a:spcBef>
                        <a:spcAft>
                          <a:spcPts val="0"/>
                        </a:spcAft>
                        <a:buClr>
                          <a:srgbClr val="2B2E2C"/>
                        </a:buClr>
                        <a:buSzPts val="950"/>
                        <a:buFont typeface="Poppins"/>
                        <a:buNone/>
                      </a:pPr>
                      <a:r>
                        <a:rPr b="1" lang="en-US" sz="950" u="none" cap="none" strike="noStrike">
                          <a:solidFill>
                            <a:srgbClr val="2B2E2C"/>
                          </a:solidFill>
                          <a:latin typeface="Poppins"/>
                          <a:ea typeface="Poppins"/>
                          <a:cs typeface="Poppins"/>
                          <a:sym typeface="Poppins"/>
                        </a:rPr>
                        <a:t>Cost per enquiry</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£91</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A879"/>
                        </a:buClr>
                        <a:buSzPts val="950"/>
                        <a:buFont typeface="Poppins"/>
                        <a:buNone/>
                      </a:pPr>
                      <a:r>
                        <a:rPr b="1" lang="en-US" sz="950" u="none" cap="none" strike="noStrike">
                          <a:solidFill>
                            <a:srgbClr val="16A879"/>
                          </a:solidFill>
                          <a:latin typeface="Poppins"/>
                          <a:ea typeface="Poppins"/>
                          <a:cs typeface="Poppins"/>
                          <a:sym typeface="Poppins"/>
                        </a:rPr>
                        <a:t>£51</a:t>
                      </a:r>
                      <a:endParaRPr sz="950" u="none" cap="none" strike="noStrike">
                        <a:latin typeface="Poppins"/>
                        <a:ea typeface="Poppins"/>
                        <a:cs typeface="Poppins"/>
                        <a:sym typeface="Poppins"/>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E2F5EF"/>
                    </a:solidFill>
                  </a:tcPr>
                </a:tc>
                <a:tc>
                  <a:txBody>
                    <a:bodyPr/>
                    <a:lstStyle/>
                    <a:p>
                      <a:pPr indent="0" lvl="0" marL="0" marR="0" rtl="0" algn="ctr">
                        <a:spcBef>
                          <a:spcPts val="0"/>
                        </a:spcBef>
                        <a:spcAft>
                          <a:spcPts val="0"/>
                        </a:spcAft>
                        <a:buClr>
                          <a:srgbClr val="2B2E2C"/>
                        </a:buClr>
                        <a:buSzPts val="950"/>
                        <a:buFont typeface="Calibri"/>
                        <a:buNone/>
                      </a:pPr>
                      <a:r>
                        <a:rPr lang="en-US" sz="950" u="none" cap="none" strike="noStrike">
                          <a:solidFill>
                            <a:srgbClr val="2B2E2C"/>
                          </a:solidFill>
                          <a:latin typeface="Calibri"/>
                          <a:ea typeface="Calibri"/>
                          <a:cs typeface="Calibri"/>
                          <a:sym typeface="Calibri"/>
                        </a:rPr>
                        <a:t>£28</a:t>
                      </a:r>
                      <a:endParaRPr sz="950" u="none" cap="none" strike="noStrike">
                        <a:latin typeface="Calibri"/>
                        <a:ea typeface="Calibri"/>
                        <a:cs typeface="Calibri"/>
                        <a:sym typeface="Calibri"/>
                      </a:endParaRPr>
                    </a:p>
                  </a:txBody>
                  <a:tcPr marT="25400" marB="25400" marR="76200" marL="76200" anchor="ctr">
                    <a:lnL cap="flat" cmpd="sng" w="9525">
                      <a:solidFill>
                        <a:srgbClr val="EBEEED"/>
                      </a:solidFill>
                      <a:prstDash val="solid"/>
                      <a:round/>
                      <a:headEnd len="sm" w="sm" type="none"/>
                      <a:tailEnd len="sm" w="sm" type="none"/>
                    </a:lnL>
                    <a:lnR cap="flat" cmpd="sng" w="9525">
                      <a:solidFill>
                        <a:srgbClr val="EBEEED"/>
                      </a:solidFill>
                      <a:prstDash val="solid"/>
                      <a:round/>
                      <a:headEnd len="sm" w="sm" type="none"/>
                      <a:tailEnd len="sm" w="sm" type="none"/>
                    </a:lnR>
                    <a:lnT cap="flat" cmpd="sng" w="9525">
                      <a:solidFill>
                        <a:srgbClr val="EBEEED"/>
                      </a:solidFill>
                      <a:prstDash val="solid"/>
                      <a:round/>
                      <a:headEnd len="sm" w="sm" type="none"/>
                      <a:tailEnd len="sm" w="sm" type="none"/>
                    </a:lnT>
                    <a:lnB cap="flat" cmpd="sng" w="9525">
                      <a:solidFill>
                        <a:srgbClr val="EBEEED"/>
                      </a:solidFill>
                      <a:prstDash val="solid"/>
                      <a:round/>
                      <a:headEnd len="sm" w="sm" type="none"/>
                      <a:tailEnd len="sm" w="sm" type="none"/>
                    </a:lnB>
                    <a:solidFill>
                      <a:srgbClr val="FFFFFF"/>
                    </a:solidFill>
                  </a:tcPr>
                </a:tc>
              </a:tr>
            </a:tbl>
          </a:graphicData>
        </a:graphic>
      </p:graphicFrame>
      <p:sp>
        <p:nvSpPr>
          <p:cNvPr id="1082" name="Google Shape;1082;p32"/>
          <p:cNvSpPr txBox="1"/>
          <p:nvPr/>
        </p:nvSpPr>
        <p:spPr>
          <a:xfrm>
            <a:off x="6291072" y="470916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2E2C"/>
              </a:buClr>
              <a:buSzPts val="950"/>
              <a:buFont typeface="Poppins"/>
              <a:buNone/>
            </a:pPr>
            <a:r>
              <a:rPr b="1" i="0" lang="en-US" sz="950" u="none" cap="none" strike="noStrike">
                <a:solidFill>
                  <a:srgbClr val="2B2E2C"/>
                </a:solidFill>
                <a:latin typeface="Poppins"/>
                <a:ea typeface="Poppins"/>
                <a:cs typeface="Poppins"/>
                <a:sym typeface="Poppins"/>
              </a:rPr>
              <a:t>Projected monthly enquiries</a:t>
            </a:r>
            <a:endParaRPr b="0" i="0" sz="950" u="none" cap="none" strike="noStrike">
              <a:solidFill>
                <a:schemeClr val="dk1"/>
              </a:solidFill>
              <a:latin typeface="Calibri"/>
              <a:ea typeface="Calibri"/>
              <a:cs typeface="Calibri"/>
              <a:sym typeface="Calibri"/>
            </a:endParaRPr>
          </a:p>
        </p:txBody>
      </p:sp>
      <p:graphicFrame>
        <p:nvGraphicFramePr>
          <p:cNvPr id="1083" name="Google Shape;1083;p32"/>
          <p:cNvGraphicFramePr/>
          <p:nvPr/>
        </p:nvGraphicFramePr>
        <p:xfrm>
          <a:off x="6245352" y="4901184"/>
          <a:ext cx="5440680" cy="1005840"/>
        </p:xfrm>
        <a:graphic>
          <a:graphicData uri="http://schemas.openxmlformats.org/drawingml/2006/chart">
            <c:chart r:id="rId4"/>
          </a:graphicData>
        </a:graphic>
      </p:graphicFrame>
      <p:sp>
        <p:nvSpPr>
          <p:cNvPr id="1084" name="Google Shape;1084;p32"/>
          <p:cNvSpPr/>
          <p:nvPr/>
        </p:nvSpPr>
        <p:spPr>
          <a:xfrm>
            <a:off x="502920" y="5961888"/>
            <a:ext cx="11183112" cy="384048"/>
          </a:xfrm>
          <a:prstGeom prst="roundRect">
            <a:avLst>
              <a:gd fmla="val 9524" name="adj"/>
            </a:avLst>
          </a:prstGeom>
          <a:solidFill>
            <a:srgbClr val="1A2620"/>
          </a:solidFill>
          <a:ln cap="flat" cmpd="sng" w="12700">
            <a:solidFill>
              <a:srgbClr val="1A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2"/>
          <p:cNvSpPr txBox="1"/>
          <p:nvPr/>
        </p:nvSpPr>
        <p:spPr>
          <a:xfrm>
            <a:off x="685800" y="5961888"/>
            <a:ext cx="10835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E29F"/>
              </a:buClr>
              <a:buSzPts val="900"/>
              <a:buFont typeface="Poppins"/>
              <a:buNone/>
            </a:pPr>
            <a:r>
              <a:rPr b="1" i="0" lang="en-US" sz="900" u="none" cap="none" strike="noStrike">
                <a:solidFill>
                  <a:srgbClr val="3BE29F"/>
                </a:solidFill>
                <a:latin typeface="Poppins"/>
                <a:ea typeface="Poppins"/>
                <a:cs typeface="Poppins"/>
                <a:sym typeface="Poppins"/>
              </a:rPr>
              <a:t>Why the maths works:  </a:t>
            </a:r>
            <a:r>
              <a:rPr b="0" i="0" lang="en-US" sz="900" u="none" cap="none" strike="noStrike">
                <a:solidFill>
                  <a:srgbClr val="FFFFFF"/>
                </a:solidFill>
                <a:latin typeface="Calibri"/>
                <a:ea typeface="Calibri"/>
                <a:cs typeface="Calibri"/>
                <a:sym typeface="Calibri"/>
              </a:rPr>
              <a:t>adult assessments are £850–£1,050 and child £890–£1,150 — converting a third of ~33 monthly enquiries returns several times the £2,000 spend. Quality over clicks.</a:t>
            </a:r>
            <a:endParaRPr b="0" i="0" sz="900" u="none" cap="none" strike="noStrike">
              <a:solidFill>
                <a:schemeClr val="dk1"/>
              </a:solidFill>
              <a:latin typeface="Calibri"/>
              <a:ea typeface="Calibri"/>
              <a:cs typeface="Calibri"/>
              <a:sym typeface="Calibri"/>
            </a:endParaRPr>
          </a:p>
        </p:txBody>
      </p:sp>
      <p:sp>
        <p:nvSpPr>
          <p:cNvPr id="1086" name="Google Shape;1086;p32"/>
          <p:cNvSpPr txBox="1"/>
          <p:nvPr>
            <p:ph idx="4294967295" type="sldNum"/>
          </p:nvPr>
        </p:nvSpPr>
        <p:spPr>
          <a:xfrm>
            <a:off x="11155680" y="6400800"/>
            <a:ext cx="548640" cy="32004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100" u="none" cap="none" strike="noStrike">
                <a:solidFill>
                  <a:srgbClr val="16A879"/>
                </a:solidFill>
                <a:latin typeface="Poppins"/>
                <a:ea typeface="Poppins"/>
                <a:cs typeface="Poppins"/>
                <a:sym typeface="Poppins"/>
              </a:rPr>
              <a:t>‹#›</a:t>
            </a:fld>
            <a:endParaRPr b="0" i="0" sz="1100" u="none" cap="none" strike="noStrike">
              <a:solidFill>
                <a:srgbClr val="16A879"/>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33"/>
          <p:cNvSpPr/>
          <p:nvPr/>
        </p:nvSpPr>
        <p:spPr>
          <a:xfrm>
            <a:off x="-2011680" y="2743200"/>
            <a:ext cx="6858000" cy="6858000"/>
          </a:xfrm>
          <a:prstGeom prst="ellipse">
            <a:avLst/>
          </a:prstGeom>
          <a:solidFill>
            <a:srgbClr val="16A879">
              <a:alpha val="20000"/>
            </a:srgbClr>
          </a:solidFill>
          <a:ln cap="flat" cmpd="sng" w="12700">
            <a:solidFill>
              <a:srgbClr val="16A8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3"/>
          <p:cNvSpPr/>
          <p:nvPr/>
        </p:nvSpPr>
        <p:spPr>
          <a:xfrm>
            <a:off x="9601200" y="-1828800"/>
            <a:ext cx="5029200" cy="5029200"/>
          </a:xfrm>
          <a:prstGeom prst="ellipse">
            <a:avLst/>
          </a:prstGeom>
          <a:solidFill>
            <a:srgbClr val="16A879">
              <a:alpha val="20000"/>
            </a:srgbClr>
          </a:solidFill>
          <a:ln cap="flat" cmpd="sng" w="12700">
            <a:solidFill>
              <a:srgbClr val="16A8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3"/>
          <p:cNvSpPr txBox="1"/>
          <p:nvPr/>
        </p:nvSpPr>
        <p:spPr>
          <a:xfrm>
            <a:off x="566928" y="214884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BE29F"/>
              </a:buClr>
              <a:buSzPts val="1500"/>
              <a:buFont typeface="Poppins"/>
              <a:buNone/>
            </a:pPr>
            <a:r>
              <a:rPr b="1" i="0" lang="en-US" sz="1500" u="none" cap="none" strike="noStrike">
                <a:solidFill>
                  <a:srgbClr val="3BE29F"/>
                </a:solidFill>
                <a:latin typeface="Poppins"/>
                <a:ea typeface="Poppins"/>
                <a:cs typeface="Poppins"/>
                <a:sym typeface="Poppins"/>
              </a:rPr>
              <a:t>READY TO LAUNCH</a:t>
            </a:r>
            <a:endParaRPr b="0" i="0" sz="1500" u="none" cap="none" strike="noStrike">
              <a:solidFill>
                <a:schemeClr val="dk1"/>
              </a:solidFill>
              <a:latin typeface="Calibri"/>
              <a:ea typeface="Calibri"/>
              <a:cs typeface="Calibri"/>
              <a:sym typeface="Calibri"/>
            </a:endParaRPr>
          </a:p>
        </p:txBody>
      </p:sp>
      <p:sp>
        <p:nvSpPr>
          <p:cNvPr id="1095" name="Google Shape;1095;p33"/>
          <p:cNvSpPr txBox="1"/>
          <p:nvPr/>
        </p:nvSpPr>
        <p:spPr>
          <a:xfrm>
            <a:off x="548640" y="2560320"/>
            <a:ext cx="10058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Poppins"/>
              <a:buNone/>
            </a:pPr>
            <a:r>
              <a:rPr b="1" i="0" lang="en-US" sz="4600" u="none" cap="none" strike="noStrike">
                <a:solidFill>
                  <a:srgbClr val="FFFFFF"/>
                </a:solidFill>
                <a:latin typeface="Poppins"/>
                <a:ea typeface="Poppins"/>
                <a:cs typeface="Poppins"/>
                <a:sym typeface="Poppins"/>
              </a:rPr>
              <a:t>Let's fill the assessment diary.</a:t>
            </a:r>
            <a:endParaRPr b="0" i="0" sz="4600" u="none" cap="none" strike="noStrike">
              <a:solidFill>
                <a:schemeClr val="dk1"/>
              </a:solidFill>
              <a:latin typeface="Calibri"/>
              <a:ea typeface="Calibri"/>
              <a:cs typeface="Calibri"/>
              <a:sym typeface="Calibri"/>
            </a:endParaRPr>
          </a:p>
        </p:txBody>
      </p:sp>
      <p:sp>
        <p:nvSpPr>
          <p:cNvPr id="1096" name="Google Shape;1096;p33"/>
          <p:cNvSpPr txBox="1"/>
          <p:nvPr/>
        </p:nvSpPr>
        <p:spPr>
          <a:xfrm>
            <a:off x="566928" y="3611880"/>
            <a:ext cx="8595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2CE"/>
              </a:buClr>
              <a:buSzPts val="1500"/>
              <a:buFont typeface="Calibri"/>
              <a:buNone/>
            </a:pPr>
            <a:r>
              <a:rPr b="0" i="0" lang="en-US" sz="1500" u="none" cap="none" strike="noStrike">
                <a:solidFill>
                  <a:srgbClr val="C9D2CE"/>
                </a:solidFill>
                <a:latin typeface="Calibri"/>
                <a:ea typeface="Calibri"/>
                <a:cs typeface="Calibri"/>
                <a:sym typeface="Calibri"/>
              </a:rPr>
              <a:t>On approval we build both campaigns to the checklist above, install booking-form and call tracking, and report on enquiries, cost per enquiry and assessments booked — per campaign.</a:t>
            </a:r>
            <a:endParaRPr b="0" i="0" sz="1500" u="none" cap="none" strike="noStrike">
              <a:solidFill>
                <a:schemeClr val="dk1"/>
              </a:solidFill>
              <a:latin typeface="Calibri"/>
              <a:ea typeface="Calibri"/>
              <a:cs typeface="Calibri"/>
              <a:sym typeface="Calibri"/>
            </a:endParaRPr>
          </a:p>
        </p:txBody>
      </p:sp>
      <p:sp>
        <p:nvSpPr>
          <p:cNvPr id="1097" name="Google Shape;1097;p33"/>
          <p:cNvSpPr/>
          <p:nvPr/>
        </p:nvSpPr>
        <p:spPr>
          <a:xfrm>
            <a:off x="566928" y="4572000"/>
            <a:ext cx="457200" cy="45720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globe_dark.png" id="1098" name="Google Shape;1098;p33"/>
          <p:cNvPicPr preferRelativeResize="0"/>
          <p:nvPr/>
        </p:nvPicPr>
        <p:blipFill rotWithShape="1">
          <a:blip r:embed="rId3">
            <a:alphaModFix/>
          </a:blip>
          <a:srcRect b="0" l="0" r="0" t="0"/>
          <a:stretch/>
        </p:blipFill>
        <p:spPr>
          <a:xfrm>
            <a:off x="676656" y="4681728"/>
            <a:ext cx="237744" cy="237744"/>
          </a:xfrm>
          <a:prstGeom prst="rect">
            <a:avLst/>
          </a:prstGeom>
          <a:noFill/>
          <a:ln>
            <a:noFill/>
          </a:ln>
        </p:spPr>
      </p:pic>
      <p:sp>
        <p:nvSpPr>
          <p:cNvPr id="1099" name="Google Shape;1099;p33"/>
          <p:cNvSpPr txBox="1"/>
          <p:nvPr/>
        </p:nvSpPr>
        <p:spPr>
          <a:xfrm>
            <a:off x="1188720" y="457200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onlinemarketingfordoctors.com</a:t>
            </a:r>
            <a:endParaRPr b="0" i="0" sz="1600" u="none" cap="none" strike="noStrike">
              <a:solidFill>
                <a:schemeClr val="dk1"/>
              </a:solidFill>
              <a:latin typeface="Calibri"/>
              <a:ea typeface="Calibri"/>
              <a:cs typeface="Calibri"/>
              <a:sym typeface="Calibri"/>
            </a:endParaRPr>
          </a:p>
        </p:txBody>
      </p:sp>
      <p:sp>
        <p:nvSpPr>
          <p:cNvPr id="1100" name="Google Shape;1100;p33"/>
          <p:cNvSpPr/>
          <p:nvPr/>
        </p:nvSpPr>
        <p:spPr>
          <a:xfrm>
            <a:off x="566928" y="5175504"/>
            <a:ext cx="457200" cy="45720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phone_dark.png" id="1101" name="Google Shape;1101;p33"/>
          <p:cNvPicPr preferRelativeResize="0"/>
          <p:nvPr/>
        </p:nvPicPr>
        <p:blipFill rotWithShape="1">
          <a:blip r:embed="rId4">
            <a:alphaModFix/>
          </a:blip>
          <a:srcRect b="0" l="0" r="0" t="0"/>
          <a:stretch/>
        </p:blipFill>
        <p:spPr>
          <a:xfrm>
            <a:off x="676656" y="5285232"/>
            <a:ext cx="237744" cy="237744"/>
          </a:xfrm>
          <a:prstGeom prst="rect">
            <a:avLst/>
          </a:prstGeom>
          <a:noFill/>
          <a:ln>
            <a:noFill/>
          </a:ln>
        </p:spPr>
      </p:pic>
      <p:sp>
        <p:nvSpPr>
          <p:cNvPr id="1102" name="Google Shape;1102;p33"/>
          <p:cNvSpPr txBox="1"/>
          <p:nvPr/>
        </p:nvSpPr>
        <p:spPr>
          <a:xfrm>
            <a:off x="1188720" y="5175504"/>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+44 20 4572 2823</a:t>
            </a:r>
            <a:endParaRPr b="0" i="0" sz="1600" u="none" cap="none" strike="noStrike">
              <a:solidFill>
                <a:schemeClr val="dk1"/>
              </a:solidFill>
              <a:latin typeface="Calibri"/>
              <a:ea typeface="Calibri"/>
              <a:cs typeface="Calibri"/>
              <a:sym typeface="Calibri"/>
            </a:endParaRPr>
          </a:p>
        </p:txBody>
      </p:sp>
      <p:sp>
        <p:nvSpPr>
          <p:cNvPr id="1103" name="Google Shape;1103;p33"/>
          <p:cNvSpPr/>
          <p:nvPr/>
        </p:nvSpPr>
        <p:spPr>
          <a:xfrm>
            <a:off x="566928" y="5779008"/>
            <a:ext cx="457200" cy="457200"/>
          </a:xfrm>
          <a:prstGeom prst="ellipse">
            <a:avLst/>
          </a:prstGeom>
          <a:solidFill>
            <a:srgbClr val="16A879"/>
          </a:solidFill>
          <a:ln cap="flat" cmpd="sng" w="12700">
            <a:solidFill>
              <a:srgbClr val="16A8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focus_deck/assets/mappin_dark.png" id="1104" name="Google Shape;1104;p33"/>
          <p:cNvPicPr preferRelativeResize="0"/>
          <p:nvPr/>
        </p:nvPicPr>
        <p:blipFill rotWithShape="1">
          <a:blip r:embed="rId5">
            <a:alphaModFix/>
          </a:blip>
          <a:srcRect b="0" l="0" r="0" t="0"/>
          <a:stretch/>
        </p:blipFill>
        <p:spPr>
          <a:xfrm>
            <a:off x="676656" y="5888736"/>
            <a:ext cx="237744" cy="237744"/>
          </a:xfrm>
          <a:prstGeom prst="rect">
            <a:avLst/>
          </a:prstGeom>
          <a:noFill/>
          <a:ln>
            <a:noFill/>
          </a:ln>
        </p:spPr>
      </p:pic>
      <p:sp>
        <p:nvSpPr>
          <p:cNvPr id="1105" name="Google Shape;1105;p33"/>
          <p:cNvSpPr txBox="1"/>
          <p:nvPr/>
        </p:nvSpPr>
        <p:spPr>
          <a:xfrm>
            <a:off x="1188720" y="5779008"/>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19 Portland Pl, London W1B 1PX</a:t>
            </a:r>
            <a:endParaRPr b="0" i="0" sz="1600" u="none" cap="none" strike="noStrike">
              <a:solidFill>
                <a:schemeClr val="dk1"/>
              </a:solidFill>
              <a:latin typeface="Calibri"/>
              <a:ea typeface="Calibri"/>
              <a:cs typeface="Calibri"/>
              <a:sym typeface="Calibri"/>
            </a:endParaRPr>
          </a:p>
        </p:txBody>
      </p:sp>
      <p:sp>
        <p:nvSpPr>
          <p:cNvPr id="1106" name="Google Shape;1106;p33"/>
          <p:cNvSpPr txBox="1"/>
          <p:nvPr/>
        </p:nvSpPr>
        <p:spPr>
          <a:xfrm>
            <a:off x="566928" y="6437376"/>
            <a:ext cx="10972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873"/>
              </a:buClr>
              <a:buSzPts val="1000"/>
              <a:buFont typeface="Calibri"/>
              <a:buNone/>
            </a:pPr>
            <a:r>
              <a:rPr b="0" i="0" lang="en-US" sz="1000" u="none" cap="none" strike="noStrike">
                <a:solidFill>
                  <a:srgbClr val="6E7873"/>
                </a:solidFill>
                <a:latin typeface="Calibri"/>
                <a:ea typeface="Calibri"/>
                <a:cs typeface="Calibri"/>
                <a:sym typeface="Calibri"/>
              </a:rPr>
              <a:t>Online Marketing for Doctors  ·  Prepared for Dr Miriana Vrajitoiu · Refocus The Brain Hub  ·  October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MD Green">
  <a:themeElements>
    <a:clrScheme name="OMD Green">
      <a:dk1>
        <a:srgbClr val="2B2E2C"/>
      </a:dk1>
      <a:lt1>
        <a:srgbClr val="FFFFFF"/>
      </a:lt1>
      <a:dk2>
        <a:srgbClr val="1A2620"/>
      </a:dk2>
      <a:lt2>
        <a:srgbClr val="EBEEED"/>
      </a:lt2>
      <a:accent1>
        <a:srgbClr val="16A879"/>
      </a:accent1>
      <a:accent2>
        <a:srgbClr val="3BE29F"/>
      </a:accent2>
      <a:accent3>
        <a:srgbClr val="E2F5EF"/>
      </a:accent3>
      <a:accent4>
        <a:srgbClr val="6E7873"/>
      </a:accent4>
      <a:accent5>
        <a:srgbClr val="A7EAD7"/>
      </a:accent5>
      <a:accent6>
        <a:srgbClr val="C9D2CE"/>
      </a:accent6>
      <a:hlink>
        <a:srgbClr val="16A879"/>
      </a:hlink>
      <a:folHlink>
        <a:srgbClr val="16A87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MD Green">
  <a:themeElements>
    <a:clrScheme name="OMD Green">
      <a:dk1>
        <a:srgbClr val="2B2E2C"/>
      </a:dk1>
      <a:lt1>
        <a:srgbClr val="FFFFFF"/>
      </a:lt1>
      <a:dk2>
        <a:srgbClr val="1A2620"/>
      </a:dk2>
      <a:lt2>
        <a:srgbClr val="EBEEED"/>
      </a:lt2>
      <a:accent1>
        <a:srgbClr val="16A879"/>
      </a:accent1>
      <a:accent2>
        <a:srgbClr val="3BE29F"/>
      </a:accent2>
      <a:accent3>
        <a:srgbClr val="E2F5EF"/>
      </a:accent3>
      <a:accent4>
        <a:srgbClr val="6E7873"/>
      </a:accent4>
      <a:accent5>
        <a:srgbClr val="A7EAD7"/>
      </a:accent5>
      <a:accent6>
        <a:srgbClr val="C9D2CE"/>
      </a:accent6>
      <a:hlink>
        <a:srgbClr val="16A879"/>
      </a:hlink>
      <a:folHlink>
        <a:srgbClr val="16A87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2026-10-09T15:26:31Z</dcterms:created>
  <dc:creator>Online Marketing for Doctors</dc:creator>
</cp:coreProperties>
</file>